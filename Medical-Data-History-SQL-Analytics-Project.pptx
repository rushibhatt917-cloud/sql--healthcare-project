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notesSlides/notesSlide3.xml" ContentType="application/vnd.openxmlformats-officedocument.presentationml.notesSlide+xml"/>
  <Override PartName="/ppt/notesSlides/notesSlide4.xml" ContentType="application/vnd.openxmlformats-officedocument.presentationml.notesSlide+xml"/>
  <Override PartName="/ppt/ink/ink2.xml" ContentType="application/inkml+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814" r:id="rId1"/>
  </p:sldMasterIdLst>
  <p:notesMasterIdLst>
    <p:notesMasterId r:id="rId47"/>
  </p:notesMasterIdLst>
  <p:sldIdLst>
    <p:sldId id="256" r:id="rId2"/>
    <p:sldId id="257" r:id="rId3"/>
    <p:sldId id="266" r:id="rId4"/>
    <p:sldId id="258" r:id="rId5"/>
    <p:sldId id="259" r:id="rId6"/>
    <p:sldId id="260" r:id="rId7"/>
    <p:sldId id="261" r:id="rId8"/>
    <p:sldId id="262" r:id="rId9"/>
    <p:sldId id="263" r:id="rId10"/>
    <p:sldId id="264" r:id="rId11"/>
    <p:sldId id="265"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1" r:id="rId26"/>
    <p:sldId id="280"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sldSz cx="14630400" cy="8229600"/>
  <p:notesSz cx="8229600" cy="14630400"/>
  <p:embeddedFontLst>
    <p:embeddedFont>
      <p:font typeface="Host Grotesk Medium" panose="020B0604020202020204" charset="0"/>
      <p:regular r:id="rId48"/>
    </p:embeddedFont>
    <p:embeddedFont>
      <p:font typeface="Roboto" panose="02000000000000000000" pitchFamily="2" charset="0"/>
      <p:regular r:id="rId49"/>
      <p:bold r:id="rId5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10"/>
  </p:normalViewPr>
  <p:slideViewPr>
    <p:cSldViewPr snapToGrid="0" snapToObjects="1">
      <p:cViewPr varScale="1">
        <p:scale>
          <a:sx n="43" d="100"/>
          <a:sy n="43" d="100"/>
        </p:scale>
        <p:origin x="883" y="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font" Target="fonts/font3.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1.fntdata"/><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2.fntdata"/></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1-30T09:48:12.112"/>
    </inkml:context>
    <inkml:brush xml:id="br0">
      <inkml:brushProperty name="width" value="0.05" units="cm"/>
      <inkml:brushProperty name="height" value="0.3" units="cm"/>
      <inkml:brushProperty name="color" value="#849398"/>
      <inkml:brushProperty name="ignorePressure" value="1"/>
      <inkml:brushProperty name="inkEffects" value="pencil"/>
    </inkml:brush>
  </inkml:definitions>
  <inkml:trace contextRef="#ctx0" brushRef="#br0">0 1,'0'0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09:49:17.479"/>
    </inkml:context>
    <inkml:brush xml:id="br0">
      <inkml:brushProperty name="width" value="0.05" units="cm"/>
      <inkml:brushProperty name="height" value="0.05" units="cm"/>
      <inkml:brushProperty name="color" value="#AE198D"/>
      <inkml:brushProperty name="inkEffects" value="galaxy"/>
      <inkml:brushProperty name="anchorX" value="0"/>
      <inkml:brushProperty name="anchorY" value="0"/>
      <inkml:brushProperty name="scaleFactor" value="0.5"/>
    </inkml:brush>
  </inkml:definitions>
  <inkml:trace contextRef="#ctx0" brushRef="#br0">0 1 24575,'0'0'0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316715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3539D7-4800-70EB-08DB-C4721B2292D1}"/>
              </a:ext>
            </a:extLst>
          </p:cNvPr>
          <p:cNvSpPr>
            <a:spLocks noGrp="1"/>
          </p:cNvSpPr>
          <p:nvPr>
            <p:ph type="ctrTitle"/>
          </p:nvPr>
        </p:nvSpPr>
        <p:spPr>
          <a:xfrm>
            <a:off x="1828800" y="1346836"/>
            <a:ext cx="10972800" cy="2865120"/>
          </a:xfrm>
        </p:spPr>
        <p:txBody>
          <a:bodyPr anchor="b"/>
          <a:lstStyle>
            <a:lvl1pPr algn="ctr">
              <a:defRPr sz="7200"/>
            </a:lvl1pPr>
          </a:lstStyle>
          <a:p>
            <a:r>
              <a:rPr lang="en-US"/>
              <a:t>Click to edit Master title style</a:t>
            </a:r>
            <a:endParaRPr lang="en-IN"/>
          </a:p>
        </p:txBody>
      </p:sp>
      <p:sp>
        <p:nvSpPr>
          <p:cNvPr id="3" name="Subtitle 2">
            <a:extLst>
              <a:ext uri="{FF2B5EF4-FFF2-40B4-BE49-F238E27FC236}">
                <a16:creationId xmlns:a16="http://schemas.microsoft.com/office/drawing/2014/main" id="{6567DE99-61F4-890D-B4A8-4096E6643F06}"/>
              </a:ext>
            </a:extLst>
          </p:cNvPr>
          <p:cNvSpPr>
            <a:spLocks noGrp="1"/>
          </p:cNvSpPr>
          <p:nvPr>
            <p:ph type="subTitle" idx="1"/>
          </p:nvPr>
        </p:nvSpPr>
        <p:spPr>
          <a:xfrm>
            <a:off x="1828800" y="4322446"/>
            <a:ext cx="10972800" cy="1986914"/>
          </a:xfrm>
        </p:spPr>
        <p:txBody>
          <a:bodyPr/>
          <a:lstStyle>
            <a:lvl1pPr marL="0" indent="0" algn="ctr">
              <a:buNone/>
              <a:defRPr sz="2880"/>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441DEAF-98EF-FCBD-F4E0-4ACE24B56449}"/>
              </a:ext>
            </a:extLst>
          </p:cNvPr>
          <p:cNvSpPr>
            <a:spLocks noGrp="1"/>
          </p:cNvSpPr>
          <p:nvPr>
            <p:ph type="dt" sz="half" idx="10"/>
          </p:nvPr>
        </p:nvSpPr>
        <p:spPr/>
        <p:txBody>
          <a:bodyPr/>
          <a:lstStyle/>
          <a:p>
            <a:fld id="{6A684C46-A6E2-4753-8B47-EBAFD38DF0AD}" type="datetimeFigureOut">
              <a:rPr lang="en-IN" smtClean="0"/>
              <a:t>01-02-2026</a:t>
            </a:fld>
            <a:endParaRPr lang="en-IN"/>
          </a:p>
        </p:txBody>
      </p:sp>
      <p:sp>
        <p:nvSpPr>
          <p:cNvPr id="5" name="Footer Placeholder 4">
            <a:extLst>
              <a:ext uri="{FF2B5EF4-FFF2-40B4-BE49-F238E27FC236}">
                <a16:creationId xmlns:a16="http://schemas.microsoft.com/office/drawing/2014/main" id="{3F011168-EA0B-DBF4-A5BF-EDACD19B7D4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64DD9A3-24FD-B76B-DDC5-F94046772CC0}"/>
              </a:ext>
            </a:extLst>
          </p:cNvPr>
          <p:cNvSpPr>
            <a:spLocks noGrp="1"/>
          </p:cNvSpPr>
          <p:nvPr>
            <p:ph type="sldNum" sz="quarter" idx="12"/>
          </p:nvPr>
        </p:nvSpPr>
        <p:spPr/>
        <p:txBody>
          <a:bodyPr/>
          <a:lstStyle/>
          <a:p>
            <a:fld id="{A4E6B323-123C-4D9A-8893-01053C412127}" type="slidenum">
              <a:rPr lang="en-IN" smtClean="0"/>
              <a:t>‹#›</a:t>
            </a:fld>
            <a:endParaRPr lang="en-IN"/>
          </a:p>
        </p:txBody>
      </p:sp>
    </p:spTree>
    <p:extLst>
      <p:ext uri="{BB962C8B-B14F-4D97-AF65-F5344CB8AC3E}">
        <p14:creationId xmlns:p14="http://schemas.microsoft.com/office/powerpoint/2010/main" val="3286725889"/>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039844-2358-B9E0-6144-39EE2275997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E677DC7-472A-0A30-2122-2E7502186D7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E6052E7-9DAA-2271-727F-A97889F39724}"/>
              </a:ext>
            </a:extLst>
          </p:cNvPr>
          <p:cNvSpPr>
            <a:spLocks noGrp="1"/>
          </p:cNvSpPr>
          <p:nvPr>
            <p:ph type="dt" sz="half" idx="10"/>
          </p:nvPr>
        </p:nvSpPr>
        <p:spPr/>
        <p:txBody>
          <a:bodyPr/>
          <a:lstStyle/>
          <a:p>
            <a:fld id="{6A684C46-A6E2-4753-8B47-EBAFD38DF0AD}" type="datetimeFigureOut">
              <a:rPr lang="en-IN" smtClean="0"/>
              <a:t>01-02-2026</a:t>
            </a:fld>
            <a:endParaRPr lang="en-IN"/>
          </a:p>
        </p:txBody>
      </p:sp>
      <p:sp>
        <p:nvSpPr>
          <p:cNvPr id="5" name="Footer Placeholder 4">
            <a:extLst>
              <a:ext uri="{FF2B5EF4-FFF2-40B4-BE49-F238E27FC236}">
                <a16:creationId xmlns:a16="http://schemas.microsoft.com/office/drawing/2014/main" id="{3F999249-9AF4-96E8-76B2-F6C68206A6A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327C90C-9A9B-D269-6F04-13094A802276}"/>
              </a:ext>
            </a:extLst>
          </p:cNvPr>
          <p:cNvSpPr>
            <a:spLocks noGrp="1"/>
          </p:cNvSpPr>
          <p:nvPr>
            <p:ph type="sldNum" sz="quarter" idx="12"/>
          </p:nvPr>
        </p:nvSpPr>
        <p:spPr/>
        <p:txBody>
          <a:bodyPr/>
          <a:lstStyle/>
          <a:p>
            <a:fld id="{A4E6B323-123C-4D9A-8893-01053C412127}" type="slidenum">
              <a:rPr lang="en-IN" smtClean="0"/>
              <a:t>‹#›</a:t>
            </a:fld>
            <a:endParaRPr lang="en-IN"/>
          </a:p>
        </p:txBody>
      </p:sp>
    </p:spTree>
    <p:extLst>
      <p:ext uri="{BB962C8B-B14F-4D97-AF65-F5344CB8AC3E}">
        <p14:creationId xmlns:p14="http://schemas.microsoft.com/office/powerpoint/2010/main" val="322894561"/>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F21CF8-33DB-AD7E-16AC-91C94DA10C28}"/>
              </a:ext>
            </a:extLst>
          </p:cNvPr>
          <p:cNvSpPr>
            <a:spLocks noGrp="1"/>
          </p:cNvSpPr>
          <p:nvPr>
            <p:ph type="title"/>
          </p:nvPr>
        </p:nvSpPr>
        <p:spPr>
          <a:xfrm>
            <a:off x="998220" y="2051686"/>
            <a:ext cx="12618720" cy="3423284"/>
          </a:xfrm>
        </p:spPr>
        <p:txBody>
          <a:bodyPr anchor="b"/>
          <a:lstStyle>
            <a:lvl1pPr>
              <a:defRPr sz="72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37D913E-CBEC-4B78-2863-ABAD85B744A0}"/>
              </a:ext>
            </a:extLst>
          </p:cNvPr>
          <p:cNvSpPr>
            <a:spLocks noGrp="1"/>
          </p:cNvSpPr>
          <p:nvPr>
            <p:ph type="body" idx="1"/>
          </p:nvPr>
        </p:nvSpPr>
        <p:spPr>
          <a:xfrm>
            <a:off x="998220" y="5507356"/>
            <a:ext cx="12618720" cy="1800224"/>
          </a:xfrm>
        </p:spPr>
        <p:txBody>
          <a:bodyPr/>
          <a:lstStyle>
            <a:lvl1pPr marL="0" indent="0">
              <a:buNone/>
              <a:defRPr sz="2880">
                <a:solidFill>
                  <a:schemeClr val="tx1">
                    <a:tint val="75000"/>
                  </a:schemeClr>
                </a:solidFill>
              </a:defRPr>
            </a:lvl1pPr>
            <a:lvl2pPr marL="548640" indent="0">
              <a:buNone/>
              <a:defRPr sz="2400">
                <a:solidFill>
                  <a:schemeClr val="tx1">
                    <a:tint val="75000"/>
                  </a:schemeClr>
                </a:solidFill>
              </a:defRPr>
            </a:lvl2pPr>
            <a:lvl3pPr marL="1097280" indent="0">
              <a:buNone/>
              <a:defRPr sz="2160">
                <a:solidFill>
                  <a:schemeClr val="tx1">
                    <a:tint val="75000"/>
                  </a:schemeClr>
                </a:solidFill>
              </a:defRPr>
            </a:lvl3pPr>
            <a:lvl4pPr marL="1645920" indent="0">
              <a:buNone/>
              <a:defRPr sz="1920">
                <a:solidFill>
                  <a:schemeClr val="tx1">
                    <a:tint val="75000"/>
                  </a:schemeClr>
                </a:solidFill>
              </a:defRPr>
            </a:lvl4pPr>
            <a:lvl5pPr marL="2194560" indent="0">
              <a:buNone/>
              <a:defRPr sz="1920">
                <a:solidFill>
                  <a:schemeClr val="tx1">
                    <a:tint val="75000"/>
                  </a:schemeClr>
                </a:solidFill>
              </a:defRPr>
            </a:lvl5pPr>
            <a:lvl6pPr marL="2743200" indent="0">
              <a:buNone/>
              <a:defRPr sz="1920">
                <a:solidFill>
                  <a:schemeClr val="tx1">
                    <a:tint val="75000"/>
                  </a:schemeClr>
                </a:solidFill>
              </a:defRPr>
            </a:lvl6pPr>
            <a:lvl7pPr marL="3291840" indent="0">
              <a:buNone/>
              <a:defRPr sz="1920">
                <a:solidFill>
                  <a:schemeClr val="tx1">
                    <a:tint val="75000"/>
                  </a:schemeClr>
                </a:solidFill>
              </a:defRPr>
            </a:lvl7pPr>
            <a:lvl8pPr marL="3840480" indent="0">
              <a:buNone/>
              <a:defRPr sz="1920">
                <a:solidFill>
                  <a:schemeClr val="tx1">
                    <a:tint val="75000"/>
                  </a:schemeClr>
                </a:solidFill>
              </a:defRPr>
            </a:lvl8pPr>
            <a:lvl9pPr marL="4389120" indent="0">
              <a:buNone/>
              <a:defRPr sz="192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B785350-72A8-8CF3-D751-BEA54E85DC33}"/>
              </a:ext>
            </a:extLst>
          </p:cNvPr>
          <p:cNvSpPr>
            <a:spLocks noGrp="1"/>
          </p:cNvSpPr>
          <p:nvPr>
            <p:ph type="dt" sz="half" idx="10"/>
          </p:nvPr>
        </p:nvSpPr>
        <p:spPr/>
        <p:txBody>
          <a:bodyPr/>
          <a:lstStyle/>
          <a:p>
            <a:fld id="{6A684C46-A6E2-4753-8B47-EBAFD38DF0AD}" type="datetimeFigureOut">
              <a:rPr lang="en-IN" smtClean="0"/>
              <a:t>01-02-2026</a:t>
            </a:fld>
            <a:endParaRPr lang="en-IN"/>
          </a:p>
        </p:txBody>
      </p:sp>
      <p:sp>
        <p:nvSpPr>
          <p:cNvPr id="5" name="Footer Placeholder 4">
            <a:extLst>
              <a:ext uri="{FF2B5EF4-FFF2-40B4-BE49-F238E27FC236}">
                <a16:creationId xmlns:a16="http://schemas.microsoft.com/office/drawing/2014/main" id="{65D12E18-4E6D-9ADD-AF55-192909B1326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61DD3D6-24E8-093C-DAFD-B69434D4D117}"/>
              </a:ext>
            </a:extLst>
          </p:cNvPr>
          <p:cNvSpPr>
            <a:spLocks noGrp="1"/>
          </p:cNvSpPr>
          <p:nvPr>
            <p:ph type="sldNum" sz="quarter" idx="12"/>
          </p:nvPr>
        </p:nvSpPr>
        <p:spPr/>
        <p:txBody>
          <a:bodyPr/>
          <a:lstStyle/>
          <a:p>
            <a:fld id="{A4E6B323-123C-4D9A-8893-01053C412127}" type="slidenum">
              <a:rPr lang="en-IN" smtClean="0"/>
              <a:t>‹#›</a:t>
            </a:fld>
            <a:endParaRPr lang="en-IN"/>
          </a:p>
        </p:txBody>
      </p:sp>
    </p:spTree>
    <p:extLst>
      <p:ext uri="{BB962C8B-B14F-4D97-AF65-F5344CB8AC3E}">
        <p14:creationId xmlns:p14="http://schemas.microsoft.com/office/powerpoint/2010/main" val="3836332596"/>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1E20C-EC3B-C3DF-5473-7779A8DD16C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F7F816C-A682-BD1D-825E-10D7100A440B}"/>
              </a:ext>
            </a:extLst>
          </p:cNvPr>
          <p:cNvSpPr>
            <a:spLocks noGrp="1"/>
          </p:cNvSpPr>
          <p:nvPr>
            <p:ph sz="half" idx="1"/>
          </p:nvPr>
        </p:nvSpPr>
        <p:spPr>
          <a:xfrm>
            <a:off x="1005840" y="2190750"/>
            <a:ext cx="6217920" cy="52216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39C25A6-9E61-7B31-FD00-6F958A48BF82}"/>
              </a:ext>
            </a:extLst>
          </p:cNvPr>
          <p:cNvSpPr>
            <a:spLocks noGrp="1"/>
          </p:cNvSpPr>
          <p:nvPr>
            <p:ph sz="half" idx="2"/>
          </p:nvPr>
        </p:nvSpPr>
        <p:spPr>
          <a:xfrm>
            <a:off x="7406640" y="2190750"/>
            <a:ext cx="6217920" cy="52216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DE1D3EB-A6AD-DF7D-2BAE-A2816CC1DAFC}"/>
              </a:ext>
            </a:extLst>
          </p:cNvPr>
          <p:cNvSpPr>
            <a:spLocks noGrp="1"/>
          </p:cNvSpPr>
          <p:nvPr>
            <p:ph type="dt" sz="half" idx="10"/>
          </p:nvPr>
        </p:nvSpPr>
        <p:spPr/>
        <p:txBody>
          <a:bodyPr/>
          <a:lstStyle/>
          <a:p>
            <a:fld id="{6A684C46-A6E2-4753-8B47-EBAFD38DF0AD}" type="datetimeFigureOut">
              <a:rPr lang="en-IN" smtClean="0"/>
              <a:t>01-02-2026</a:t>
            </a:fld>
            <a:endParaRPr lang="en-IN"/>
          </a:p>
        </p:txBody>
      </p:sp>
      <p:sp>
        <p:nvSpPr>
          <p:cNvPr id="6" name="Footer Placeholder 5">
            <a:extLst>
              <a:ext uri="{FF2B5EF4-FFF2-40B4-BE49-F238E27FC236}">
                <a16:creationId xmlns:a16="http://schemas.microsoft.com/office/drawing/2014/main" id="{E0945E92-AE98-C42B-5F7C-7238894B282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8064258-9AF8-9962-A338-219C16F9BB45}"/>
              </a:ext>
            </a:extLst>
          </p:cNvPr>
          <p:cNvSpPr>
            <a:spLocks noGrp="1"/>
          </p:cNvSpPr>
          <p:nvPr>
            <p:ph type="sldNum" sz="quarter" idx="12"/>
          </p:nvPr>
        </p:nvSpPr>
        <p:spPr/>
        <p:txBody>
          <a:bodyPr/>
          <a:lstStyle/>
          <a:p>
            <a:fld id="{A4E6B323-123C-4D9A-8893-01053C412127}" type="slidenum">
              <a:rPr lang="en-IN" smtClean="0"/>
              <a:t>‹#›</a:t>
            </a:fld>
            <a:endParaRPr lang="en-IN"/>
          </a:p>
        </p:txBody>
      </p:sp>
    </p:spTree>
    <p:extLst>
      <p:ext uri="{BB962C8B-B14F-4D97-AF65-F5344CB8AC3E}">
        <p14:creationId xmlns:p14="http://schemas.microsoft.com/office/powerpoint/2010/main" val="1167282755"/>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F25C05-D1AF-FDA6-FE00-BD4B3BA23B6A}"/>
              </a:ext>
            </a:extLst>
          </p:cNvPr>
          <p:cNvSpPr>
            <a:spLocks noGrp="1"/>
          </p:cNvSpPr>
          <p:nvPr>
            <p:ph type="title"/>
          </p:nvPr>
        </p:nvSpPr>
        <p:spPr>
          <a:xfrm>
            <a:off x="1007746" y="438150"/>
            <a:ext cx="12618720" cy="1590676"/>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0F59183-A838-F033-AC33-756A74797C0B}"/>
              </a:ext>
            </a:extLst>
          </p:cNvPr>
          <p:cNvSpPr>
            <a:spLocks noGrp="1"/>
          </p:cNvSpPr>
          <p:nvPr>
            <p:ph type="body" idx="1"/>
          </p:nvPr>
        </p:nvSpPr>
        <p:spPr>
          <a:xfrm>
            <a:off x="1007746" y="2017396"/>
            <a:ext cx="6189344"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4" name="Content Placeholder 3">
            <a:extLst>
              <a:ext uri="{FF2B5EF4-FFF2-40B4-BE49-F238E27FC236}">
                <a16:creationId xmlns:a16="http://schemas.microsoft.com/office/drawing/2014/main" id="{2F70740F-9E6F-CC6D-F357-2F67C6DBB9A3}"/>
              </a:ext>
            </a:extLst>
          </p:cNvPr>
          <p:cNvSpPr>
            <a:spLocks noGrp="1"/>
          </p:cNvSpPr>
          <p:nvPr>
            <p:ph sz="half" idx="2"/>
          </p:nvPr>
        </p:nvSpPr>
        <p:spPr>
          <a:xfrm>
            <a:off x="1007746" y="3006090"/>
            <a:ext cx="6189344" cy="44215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D4D1375-30BA-751A-6E4A-1BA23AE8027F}"/>
              </a:ext>
            </a:extLst>
          </p:cNvPr>
          <p:cNvSpPr>
            <a:spLocks noGrp="1"/>
          </p:cNvSpPr>
          <p:nvPr>
            <p:ph type="body" sz="quarter" idx="3"/>
          </p:nvPr>
        </p:nvSpPr>
        <p:spPr>
          <a:xfrm>
            <a:off x="7406640" y="2017396"/>
            <a:ext cx="6219826"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6" name="Content Placeholder 5">
            <a:extLst>
              <a:ext uri="{FF2B5EF4-FFF2-40B4-BE49-F238E27FC236}">
                <a16:creationId xmlns:a16="http://schemas.microsoft.com/office/drawing/2014/main" id="{2AAB28D2-D953-894E-48AD-DED4A78E3565}"/>
              </a:ext>
            </a:extLst>
          </p:cNvPr>
          <p:cNvSpPr>
            <a:spLocks noGrp="1"/>
          </p:cNvSpPr>
          <p:nvPr>
            <p:ph sz="quarter" idx="4"/>
          </p:nvPr>
        </p:nvSpPr>
        <p:spPr>
          <a:xfrm>
            <a:off x="7406640" y="3006090"/>
            <a:ext cx="6219826" cy="44215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E719E8D-09C0-B13F-1A06-B4D23A5E0A76}"/>
              </a:ext>
            </a:extLst>
          </p:cNvPr>
          <p:cNvSpPr>
            <a:spLocks noGrp="1"/>
          </p:cNvSpPr>
          <p:nvPr>
            <p:ph type="dt" sz="half" idx="10"/>
          </p:nvPr>
        </p:nvSpPr>
        <p:spPr/>
        <p:txBody>
          <a:bodyPr/>
          <a:lstStyle/>
          <a:p>
            <a:fld id="{6A684C46-A6E2-4753-8B47-EBAFD38DF0AD}" type="datetimeFigureOut">
              <a:rPr lang="en-IN" smtClean="0"/>
              <a:t>01-02-2026</a:t>
            </a:fld>
            <a:endParaRPr lang="en-IN"/>
          </a:p>
        </p:txBody>
      </p:sp>
      <p:sp>
        <p:nvSpPr>
          <p:cNvPr id="8" name="Footer Placeholder 7">
            <a:extLst>
              <a:ext uri="{FF2B5EF4-FFF2-40B4-BE49-F238E27FC236}">
                <a16:creationId xmlns:a16="http://schemas.microsoft.com/office/drawing/2014/main" id="{70B260D7-199D-615D-C9EA-58660D0E3BF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BF8D98B-1F8E-AE86-8779-AB725B026BEE}"/>
              </a:ext>
            </a:extLst>
          </p:cNvPr>
          <p:cNvSpPr>
            <a:spLocks noGrp="1"/>
          </p:cNvSpPr>
          <p:nvPr>
            <p:ph type="sldNum" sz="quarter" idx="12"/>
          </p:nvPr>
        </p:nvSpPr>
        <p:spPr/>
        <p:txBody>
          <a:bodyPr/>
          <a:lstStyle/>
          <a:p>
            <a:fld id="{A4E6B323-123C-4D9A-8893-01053C412127}" type="slidenum">
              <a:rPr lang="en-IN" smtClean="0"/>
              <a:t>‹#›</a:t>
            </a:fld>
            <a:endParaRPr lang="en-IN"/>
          </a:p>
        </p:txBody>
      </p:sp>
    </p:spTree>
    <p:extLst>
      <p:ext uri="{BB962C8B-B14F-4D97-AF65-F5344CB8AC3E}">
        <p14:creationId xmlns:p14="http://schemas.microsoft.com/office/powerpoint/2010/main" val="1411250365"/>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6964BB-533C-888D-71C4-2D49AC445ED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C096021-76AC-2A84-074E-84694D3CAC3B}"/>
              </a:ext>
            </a:extLst>
          </p:cNvPr>
          <p:cNvSpPr>
            <a:spLocks noGrp="1"/>
          </p:cNvSpPr>
          <p:nvPr>
            <p:ph type="dt" sz="half" idx="10"/>
          </p:nvPr>
        </p:nvSpPr>
        <p:spPr/>
        <p:txBody>
          <a:bodyPr/>
          <a:lstStyle/>
          <a:p>
            <a:fld id="{6A684C46-A6E2-4753-8B47-EBAFD38DF0AD}" type="datetimeFigureOut">
              <a:rPr lang="en-IN" smtClean="0"/>
              <a:t>01-02-2026</a:t>
            </a:fld>
            <a:endParaRPr lang="en-IN"/>
          </a:p>
        </p:txBody>
      </p:sp>
      <p:sp>
        <p:nvSpPr>
          <p:cNvPr id="4" name="Footer Placeholder 3">
            <a:extLst>
              <a:ext uri="{FF2B5EF4-FFF2-40B4-BE49-F238E27FC236}">
                <a16:creationId xmlns:a16="http://schemas.microsoft.com/office/drawing/2014/main" id="{21804FF1-4F30-D4CE-444B-A8AF5F0156A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AAAFED3-0170-28E8-AEC2-A2965C924C89}"/>
              </a:ext>
            </a:extLst>
          </p:cNvPr>
          <p:cNvSpPr>
            <a:spLocks noGrp="1"/>
          </p:cNvSpPr>
          <p:nvPr>
            <p:ph type="sldNum" sz="quarter" idx="12"/>
          </p:nvPr>
        </p:nvSpPr>
        <p:spPr/>
        <p:txBody>
          <a:bodyPr/>
          <a:lstStyle/>
          <a:p>
            <a:fld id="{A4E6B323-123C-4D9A-8893-01053C412127}" type="slidenum">
              <a:rPr lang="en-IN" smtClean="0"/>
              <a:t>‹#›</a:t>
            </a:fld>
            <a:endParaRPr lang="en-IN"/>
          </a:p>
        </p:txBody>
      </p:sp>
    </p:spTree>
    <p:extLst>
      <p:ext uri="{BB962C8B-B14F-4D97-AF65-F5344CB8AC3E}">
        <p14:creationId xmlns:p14="http://schemas.microsoft.com/office/powerpoint/2010/main" val="3486854614"/>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4DA8116-0667-AA12-7DC7-8A79983A6D96}"/>
              </a:ext>
            </a:extLst>
          </p:cNvPr>
          <p:cNvSpPr>
            <a:spLocks noGrp="1"/>
          </p:cNvSpPr>
          <p:nvPr>
            <p:ph type="dt" sz="half" idx="10"/>
          </p:nvPr>
        </p:nvSpPr>
        <p:spPr/>
        <p:txBody>
          <a:bodyPr/>
          <a:lstStyle/>
          <a:p>
            <a:fld id="{6A684C46-A6E2-4753-8B47-EBAFD38DF0AD}" type="datetimeFigureOut">
              <a:rPr lang="en-IN" smtClean="0"/>
              <a:t>01-02-2026</a:t>
            </a:fld>
            <a:endParaRPr lang="en-IN"/>
          </a:p>
        </p:txBody>
      </p:sp>
      <p:sp>
        <p:nvSpPr>
          <p:cNvPr id="3" name="Footer Placeholder 2">
            <a:extLst>
              <a:ext uri="{FF2B5EF4-FFF2-40B4-BE49-F238E27FC236}">
                <a16:creationId xmlns:a16="http://schemas.microsoft.com/office/drawing/2014/main" id="{6951CE96-F1EE-3198-9E30-091C752DA1E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7C5629E-47DD-CA63-370E-6C747899475B}"/>
              </a:ext>
            </a:extLst>
          </p:cNvPr>
          <p:cNvSpPr>
            <a:spLocks noGrp="1"/>
          </p:cNvSpPr>
          <p:nvPr>
            <p:ph type="sldNum" sz="quarter" idx="12"/>
          </p:nvPr>
        </p:nvSpPr>
        <p:spPr/>
        <p:txBody>
          <a:bodyPr/>
          <a:lstStyle/>
          <a:p>
            <a:fld id="{A4E6B323-123C-4D9A-8893-01053C412127}" type="slidenum">
              <a:rPr lang="en-IN" smtClean="0"/>
              <a:t>‹#›</a:t>
            </a:fld>
            <a:endParaRPr lang="en-IN"/>
          </a:p>
        </p:txBody>
      </p:sp>
    </p:spTree>
    <p:extLst>
      <p:ext uri="{BB962C8B-B14F-4D97-AF65-F5344CB8AC3E}">
        <p14:creationId xmlns:p14="http://schemas.microsoft.com/office/powerpoint/2010/main" val="3153474506"/>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C73D1-D502-4B35-AA2F-5EFB7D1B54BC}"/>
              </a:ext>
            </a:extLst>
          </p:cNvPr>
          <p:cNvSpPr>
            <a:spLocks noGrp="1"/>
          </p:cNvSpPr>
          <p:nvPr>
            <p:ph type="title"/>
          </p:nvPr>
        </p:nvSpPr>
        <p:spPr>
          <a:xfrm>
            <a:off x="1007746" y="548640"/>
            <a:ext cx="4718684" cy="1920240"/>
          </a:xfrm>
        </p:spPr>
        <p:txBody>
          <a:bodyPr anchor="b"/>
          <a:lstStyle>
            <a:lvl1pPr>
              <a:defRPr sz="384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3C3346A-2A16-A45F-34A6-1C558A104F87}"/>
              </a:ext>
            </a:extLst>
          </p:cNvPr>
          <p:cNvSpPr>
            <a:spLocks noGrp="1"/>
          </p:cNvSpPr>
          <p:nvPr>
            <p:ph idx="1"/>
          </p:nvPr>
        </p:nvSpPr>
        <p:spPr>
          <a:xfrm>
            <a:off x="6219826" y="1184911"/>
            <a:ext cx="7406640" cy="5848350"/>
          </a:xfrm>
        </p:spPr>
        <p:txBody>
          <a:bodyPr/>
          <a:lstStyle>
            <a:lvl1pPr>
              <a:defRPr sz="3840"/>
            </a:lvl1pPr>
            <a:lvl2pPr>
              <a:defRPr sz="3360"/>
            </a:lvl2pPr>
            <a:lvl3pPr>
              <a:defRPr sz="288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8194158-E829-10F2-EBC7-77A873179563}"/>
              </a:ext>
            </a:extLst>
          </p:cNvPr>
          <p:cNvSpPr>
            <a:spLocks noGrp="1"/>
          </p:cNvSpPr>
          <p:nvPr>
            <p:ph type="body" sz="half" idx="2"/>
          </p:nvPr>
        </p:nvSpPr>
        <p:spPr>
          <a:xfrm>
            <a:off x="1007746" y="2468880"/>
            <a:ext cx="471868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a:extLst>
              <a:ext uri="{FF2B5EF4-FFF2-40B4-BE49-F238E27FC236}">
                <a16:creationId xmlns:a16="http://schemas.microsoft.com/office/drawing/2014/main" id="{D59238FA-333C-DF27-2D40-70CDF6093E2F}"/>
              </a:ext>
            </a:extLst>
          </p:cNvPr>
          <p:cNvSpPr>
            <a:spLocks noGrp="1"/>
          </p:cNvSpPr>
          <p:nvPr>
            <p:ph type="dt" sz="half" idx="10"/>
          </p:nvPr>
        </p:nvSpPr>
        <p:spPr/>
        <p:txBody>
          <a:bodyPr/>
          <a:lstStyle/>
          <a:p>
            <a:fld id="{6A684C46-A6E2-4753-8B47-EBAFD38DF0AD}" type="datetimeFigureOut">
              <a:rPr lang="en-IN" smtClean="0"/>
              <a:t>01-02-2026</a:t>
            </a:fld>
            <a:endParaRPr lang="en-IN"/>
          </a:p>
        </p:txBody>
      </p:sp>
      <p:sp>
        <p:nvSpPr>
          <p:cNvPr id="6" name="Footer Placeholder 5">
            <a:extLst>
              <a:ext uri="{FF2B5EF4-FFF2-40B4-BE49-F238E27FC236}">
                <a16:creationId xmlns:a16="http://schemas.microsoft.com/office/drawing/2014/main" id="{0785EDFB-F03D-BA8E-6F58-7B12006F498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66A9188-8D5B-6522-717C-DF00FF6D35D0}"/>
              </a:ext>
            </a:extLst>
          </p:cNvPr>
          <p:cNvSpPr>
            <a:spLocks noGrp="1"/>
          </p:cNvSpPr>
          <p:nvPr>
            <p:ph type="sldNum" sz="quarter" idx="12"/>
          </p:nvPr>
        </p:nvSpPr>
        <p:spPr/>
        <p:txBody>
          <a:bodyPr/>
          <a:lstStyle/>
          <a:p>
            <a:fld id="{A4E6B323-123C-4D9A-8893-01053C412127}" type="slidenum">
              <a:rPr lang="en-IN" smtClean="0"/>
              <a:t>‹#›</a:t>
            </a:fld>
            <a:endParaRPr lang="en-IN"/>
          </a:p>
        </p:txBody>
      </p:sp>
    </p:spTree>
    <p:extLst>
      <p:ext uri="{BB962C8B-B14F-4D97-AF65-F5344CB8AC3E}">
        <p14:creationId xmlns:p14="http://schemas.microsoft.com/office/powerpoint/2010/main" val="2730109679"/>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63D7CF-7270-1B31-7377-2B8E08FA19E9}"/>
              </a:ext>
            </a:extLst>
          </p:cNvPr>
          <p:cNvSpPr>
            <a:spLocks noGrp="1"/>
          </p:cNvSpPr>
          <p:nvPr>
            <p:ph type="title"/>
          </p:nvPr>
        </p:nvSpPr>
        <p:spPr>
          <a:xfrm>
            <a:off x="1007746" y="548640"/>
            <a:ext cx="4718684" cy="1920240"/>
          </a:xfrm>
        </p:spPr>
        <p:txBody>
          <a:bodyPr anchor="b"/>
          <a:lstStyle>
            <a:lvl1pPr>
              <a:defRPr sz="384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6594A9E-BFFB-39C6-3213-08535505B011}"/>
              </a:ext>
            </a:extLst>
          </p:cNvPr>
          <p:cNvSpPr>
            <a:spLocks noGrp="1"/>
          </p:cNvSpPr>
          <p:nvPr>
            <p:ph type="pic" idx="1"/>
          </p:nvPr>
        </p:nvSpPr>
        <p:spPr>
          <a:xfrm>
            <a:off x="6219826" y="1184911"/>
            <a:ext cx="7406640" cy="5848350"/>
          </a:xfrm>
        </p:spPr>
        <p:txBody>
          <a:bodyPr/>
          <a:lstStyle>
            <a:lvl1pPr marL="0" indent="0">
              <a:buNone/>
              <a:defRPr sz="384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endParaRPr lang="en-IN"/>
          </a:p>
        </p:txBody>
      </p:sp>
      <p:sp>
        <p:nvSpPr>
          <p:cNvPr id="4" name="Text Placeholder 3">
            <a:extLst>
              <a:ext uri="{FF2B5EF4-FFF2-40B4-BE49-F238E27FC236}">
                <a16:creationId xmlns:a16="http://schemas.microsoft.com/office/drawing/2014/main" id="{F3E86079-243F-354F-587A-3E420F9042C6}"/>
              </a:ext>
            </a:extLst>
          </p:cNvPr>
          <p:cNvSpPr>
            <a:spLocks noGrp="1"/>
          </p:cNvSpPr>
          <p:nvPr>
            <p:ph type="body" sz="half" idx="2"/>
          </p:nvPr>
        </p:nvSpPr>
        <p:spPr>
          <a:xfrm>
            <a:off x="1007746" y="2468880"/>
            <a:ext cx="471868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a:extLst>
              <a:ext uri="{FF2B5EF4-FFF2-40B4-BE49-F238E27FC236}">
                <a16:creationId xmlns:a16="http://schemas.microsoft.com/office/drawing/2014/main" id="{6520F35B-E124-5982-E8AD-83AF7E796BF5}"/>
              </a:ext>
            </a:extLst>
          </p:cNvPr>
          <p:cNvSpPr>
            <a:spLocks noGrp="1"/>
          </p:cNvSpPr>
          <p:nvPr>
            <p:ph type="dt" sz="half" idx="10"/>
          </p:nvPr>
        </p:nvSpPr>
        <p:spPr/>
        <p:txBody>
          <a:bodyPr/>
          <a:lstStyle/>
          <a:p>
            <a:fld id="{6A684C46-A6E2-4753-8B47-EBAFD38DF0AD}" type="datetimeFigureOut">
              <a:rPr lang="en-IN" smtClean="0"/>
              <a:t>01-02-2026</a:t>
            </a:fld>
            <a:endParaRPr lang="en-IN"/>
          </a:p>
        </p:txBody>
      </p:sp>
      <p:sp>
        <p:nvSpPr>
          <p:cNvPr id="6" name="Footer Placeholder 5">
            <a:extLst>
              <a:ext uri="{FF2B5EF4-FFF2-40B4-BE49-F238E27FC236}">
                <a16:creationId xmlns:a16="http://schemas.microsoft.com/office/drawing/2014/main" id="{50929F17-0B70-3FF1-5F30-5AA0F438D6A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A64CD55-0F56-153B-7D2A-9221F07B0C48}"/>
              </a:ext>
            </a:extLst>
          </p:cNvPr>
          <p:cNvSpPr>
            <a:spLocks noGrp="1"/>
          </p:cNvSpPr>
          <p:nvPr>
            <p:ph type="sldNum" sz="quarter" idx="12"/>
          </p:nvPr>
        </p:nvSpPr>
        <p:spPr/>
        <p:txBody>
          <a:bodyPr/>
          <a:lstStyle/>
          <a:p>
            <a:fld id="{A4E6B323-123C-4D9A-8893-01053C412127}" type="slidenum">
              <a:rPr lang="en-IN" smtClean="0"/>
              <a:t>‹#›</a:t>
            </a:fld>
            <a:endParaRPr lang="en-IN"/>
          </a:p>
        </p:txBody>
      </p:sp>
    </p:spTree>
    <p:extLst>
      <p:ext uri="{BB962C8B-B14F-4D97-AF65-F5344CB8AC3E}">
        <p14:creationId xmlns:p14="http://schemas.microsoft.com/office/powerpoint/2010/main" val="1224240613"/>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38DCF4-1653-A544-B140-5748133EFC1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625C1C9-1285-29E9-743B-653F451243E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03FE96D-5140-6C55-08B3-1D22251B8E32}"/>
              </a:ext>
            </a:extLst>
          </p:cNvPr>
          <p:cNvSpPr>
            <a:spLocks noGrp="1"/>
          </p:cNvSpPr>
          <p:nvPr>
            <p:ph type="dt" sz="half" idx="10"/>
          </p:nvPr>
        </p:nvSpPr>
        <p:spPr/>
        <p:txBody>
          <a:bodyPr/>
          <a:lstStyle/>
          <a:p>
            <a:fld id="{6A684C46-A6E2-4753-8B47-EBAFD38DF0AD}" type="datetimeFigureOut">
              <a:rPr lang="en-IN" smtClean="0"/>
              <a:t>01-02-2026</a:t>
            </a:fld>
            <a:endParaRPr lang="en-IN"/>
          </a:p>
        </p:txBody>
      </p:sp>
      <p:sp>
        <p:nvSpPr>
          <p:cNvPr id="5" name="Footer Placeholder 4">
            <a:extLst>
              <a:ext uri="{FF2B5EF4-FFF2-40B4-BE49-F238E27FC236}">
                <a16:creationId xmlns:a16="http://schemas.microsoft.com/office/drawing/2014/main" id="{019F2DFD-5CB6-3FFA-CA7A-3E335FC4C1E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1854845-7A6B-D3FE-9A56-6DF1F86AE4FE}"/>
              </a:ext>
            </a:extLst>
          </p:cNvPr>
          <p:cNvSpPr>
            <a:spLocks noGrp="1"/>
          </p:cNvSpPr>
          <p:nvPr>
            <p:ph type="sldNum" sz="quarter" idx="12"/>
          </p:nvPr>
        </p:nvSpPr>
        <p:spPr/>
        <p:txBody>
          <a:bodyPr/>
          <a:lstStyle/>
          <a:p>
            <a:fld id="{A4E6B323-123C-4D9A-8893-01053C412127}" type="slidenum">
              <a:rPr lang="en-IN" smtClean="0"/>
              <a:t>‹#›</a:t>
            </a:fld>
            <a:endParaRPr lang="en-IN"/>
          </a:p>
        </p:txBody>
      </p:sp>
    </p:spTree>
    <p:extLst>
      <p:ext uri="{BB962C8B-B14F-4D97-AF65-F5344CB8AC3E}">
        <p14:creationId xmlns:p14="http://schemas.microsoft.com/office/powerpoint/2010/main" val="2166873417"/>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BCD1227-8D31-7DC8-FDF5-388B5786D61B}"/>
              </a:ext>
            </a:extLst>
          </p:cNvPr>
          <p:cNvSpPr>
            <a:spLocks noGrp="1"/>
          </p:cNvSpPr>
          <p:nvPr>
            <p:ph type="title" orient="vert"/>
          </p:nvPr>
        </p:nvSpPr>
        <p:spPr>
          <a:xfrm>
            <a:off x="10469880" y="438150"/>
            <a:ext cx="3154680" cy="6974206"/>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51DA00B-53E5-D03E-1053-BC4306EAC643}"/>
              </a:ext>
            </a:extLst>
          </p:cNvPr>
          <p:cNvSpPr>
            <a:spLocks noGrp="1"/>
          </p:cNvSpPr>
          <p:nvPr>
            <p:ph type="body" orient="vert" idx="1"/>
          </p:nvPr>
        </p:nvSpPr>
        <p:spPr>
          <a:xfrm>
            <a:off x="1005840" y="438150"/>
            <a:ext cx="9281160" cy="697420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BB99C0B-44B9-8698-3D33-BD7622AFF7DD}"/>
              </a:ext>
            </a:extLst>
          </p:cNvPr>
          <p:cNvSpPr>
            <a:spLocks noGrp="1"/>
          </p:cNvSpPr>
          <p:nvPr>
            <p:ph type="dt" sz="half" idx="10"/>
          </p:nvPr>
        </p:nvSpPr>
        <p:spPr/>
        <p:txBody>
          <a:bodyPr/>
          <a:lstStyle/>
          <a:p>
            <a:fld id="{6A684C46-A6E2-4753-8B47-EBAFD38DF0AD}" type="datetimeFigureOut">
              <a:rPr lang="en-IN" smtClean="0"/>
              <a:t>01-02-2026</a:t>
            </a:fld>
            <a:endParaRPr lang="en-IN"/>
          </a:p>
        </p:txBody>
      </p:sp>
      <p:sp>
        <p:nvSpPr>
          <p:cNvPr id="5" name="Footer Placeholder 4">
            <a:extLst>
              <a:ext uri="{FF2B5EF4-FFF2-40B4-BE49-F238E27FC236}">
                <a16:creationId xmlns:a16="http://schemas.microsoft.com/office/drawing/2014/main" id="{13E048CA-B4F5-D88B-7BE8-5ED9410FE42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8AD1EE4-8DE4-95DB-A83D-D20224CCAA59}"/>
              </a:ext>
            </a:extLst>
          </p:cNvPr>
          <p:cNvSpPr>
            <a:spLocks noGrp="1"/>
          </p:cNvSpPr>
          <p:nvPr>
            <p:ph type="sldNum" sz="quarter" idx="12"/>
          </p:nvPr>
        </p:nvSpPr>
        <p:spPr/>
        <p:txBody>
          <a:bodyPr/>
          <a:lstStyle/>
          <a:p>
            <a:fld id="{A4E6B323-123C-4D9A-8893-01053C412127}" type="slidenum">
              <a:rPr lang="en-IN" smtClean="0"/>
              <a:t>‹#›</a:t>
            </a:fld>
            <a:endParaRPr lang="en-IN"/>
          </a:p>
        </p:txBody>
      </p:sp>
    </p:spTree>
    <p:extLst>
      <p:ext uri="{BB962C8B-B14F-4D97-AF65-F5344CB8AC3E}">
        <p14:creationId xmlns:p14="http://schemas.microsoft.com/office/powerpoint/2010/main" val="1043066716"/>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1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69059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9245689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lide 3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93867698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Slide 4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6329111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Slide 5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40546236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Slide 6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92510754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lide 7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54794685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Slide 8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20926871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Slide 9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70272935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Slide 10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7683561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38CC083-83AE-AD31-97DF-F53029AB9969}"/>
              </a:ext>
            </a:extLst>
          </p:cNvPr>
          <p:cNvSpPr>
            <a:spLocks noGrp="1"/>
          </p:cNvSpPr>
          <p:nvPr>
            <p:ph type="title"/>
          </p:nvPr>
        </p:nvSpPr>
        <p:spPr>
          <a:xfrm>
            <a:off x="1005840" y="438150"/>
            <a:ext cx="12618720" cy="1590676"/>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FD4AD7B-E382-AD91-FF51-18447C63C10B}"/>
              </a:ext>
            </a:extLst>
          </p:cNvPr>
          <p:cNvSpPr>
            <a:spLocks noGrp="1"/>
          </p:cNvSpPr>
          <p:nvPr>
            <p:ph type="body" idx="1"/>
          </p:nvPr>
        </p:nvSpPr>
        <p:spPr>
          <a:xfrm>
            <a:off x="1005840" y="2190750"/>
            <a:ext cx="12618720" cy="522160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1008BC7-F685-22F6-43E3-9D2AAB45154C}"/>
              </a:ext>
            </a:extLst>
          </p:cNvPr>
          <p:cNvSpPr>
            <a:spLocks noGrp="1"/>
          </p:cNvSpPr>
          <p:nvPr>
            <p:ph type="dt" sz="half" idx="2"/>
          </p:nvPr>
        </p:nvSpPr>
        <p:spPr>
          <a:xfrm>
            <a:off x="1005840" y="7627621"/>
            <a:ext cx="3291840" cy="438150"/>
          </a:xfrm>
          <a:prstGeom prst="rect">
            <a:avLst/>
          </a:prstGeom>
        </p:spPr>
        <p:txBody>
          <a:bodyPr vert="horz" lIns="91440" tIns="45720" rIns="91440" bIns="45720" rtlCol="0" anchor="ctr"/>
          <a:lstStyle>
            <a:lvl1pPr algn="l">
              <a:defRPr sz="1440">
                <a:solidFill>
                  <a:schemeClr val="tx1">
                    <a:tint val="75000"/>
                  </a:schemeClr>
                </a:solidFill>
              </a:defRPr>
            </a:lvl1pPr>
          </a:lstStyle>
          <a:p>
            <a:fld id="{6A684C46-A6E2-4753-8B47-EBAFD38DF0AD}" type="datetimeFigureOut">
              <a:rPr lang="en-IN" smtClean="0"/>
              <a:t>01-02-2026</a:t>
            </a:fld>
            <a:endParaRPr lang="en-IN"/>
          </a:p>
        </p:txBody>
      </p:sp>
      <p:sp>
        <p:nvSpPr>
          <p:cNvPr id="5" name="Footer Placeholder 4">
            <a:extLst>
              <a:ext uri="{FF2B5EF4-FFF2-40B4-BE49-F238E27FC236}">
                <a16:creationId xmlns:a16="http://schemas.microsoft.com/office/drawing/2014/main" id="{B0161B12-61E1-BC30-CA78-C17C31F89359}"/>
              </a:ext>
            </a:extLst>
          </p:cNvPr>
          <p:cNvSpPr>
            <a:spLocks noGrp="1"/>
          </p:cNvSpPr>
          <p:nvPr>
            <p:ph type="ftr" sz="quarter" idx="3"/>
          </p:nvPr>
        </p:nvSpPr>
        <p:spPr>
          <a:xfrm>
            <a:off x="4846320" y="7627621"/>
            <a:ext cx="4937760" cy="438150"/>
          </a:xfrm>
          <a:prstGeom prst="rect">
            <a:avLst/>
          </a:prstGeom>
        </p:spPr>
        <p:txBody>
          <a:bodyPr vert="horz" lIns="91440" tIns="45720" rIns="91440" bIns="45720" rtlCol="0" anchor="ctr"/>
          <a:lstStyle>
            <a:lvl1pPr algn="ctr">
              <a:defRPr sz="144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C4AE5B1-A9E8-4DAE-92BD-85AF89EC0FFC}"/>
              </a:ext>
            </a:extLst>
          </p:cNvPr>
          <p:cNvSpPr>
            <a:spLocks noGrp="1"/>
          </p:cNvSpPr>
          <p:nvPr>
            <p:ph type="sldNum" sz="quarter" idx="4"/>
          </p:nvPr>
        </p:nvSpPr>
        <p:spPr>
          <a:xfrm>
            <a:off x="10332720" y="7627621"/>
            <a:ext cx="3291840" cy="438150"/>
          </a:xfrm>
          <a:prstGeom prst="rect">
            <a:avLst/>
          </a:prstGeom>
        </p:spPr>
        <p:txBody>
          <a:bodyPr vert="horz" lIns="91440" tIns="45720" rIns="91440" bIns="45720" rtlCol="0" anchor="ctr"/>
          <a:lstStyle>
            <a:lvl1pPr algn="r">
              <a:defRPr sz="1440">
                <a:solidFill>
                  <a:schemeClr val="tx1">
                    <a:tint val="75000"/>
                  </a:schemeClr>
                </a:solidFill>
              </a:defRPr>
            </a:lvl1pPr>
          </a:lstStyle>
          <a:p>
            <a:fld id="{A4E6B323-123C-4D9A-8893-01053C412127}" type="slidenum">
              <a:rPr lang="en-IN" smtClean="0"/>
              <a:t>‹#›</a:t>
            </a:fld>
            <a:endParaRPr lang="en-IN"/>
          </a:p>
        </p:txBody>
      </p:sp>
    </p:spTree>
    <p:extLst>
      <p:ext uri="{BB962C8B-B14F-4D97-AF65-F5344CB8AC3E}">
        <p14:creationId xmlns:p14="http://schemas.microsoft.com/office/powerpoint/2010/main" val="3553161516"/>
      </p:ext>
    </p:extLst>
  </p:cSld>
  <p:clrMap bg1="lt1" tx1="dk1" bg2="lt2" tx2="dk2" accent1="accent1" accent2="accent2" accent3="accent3" accent4="accent4" accent5="accent5" accent6="accent6" hlink="hlink" folHlink="folHlink"/>
  <p:sldLayoutIdLst>
    <p:sldLayoutId id="2147483815" r:id="rId1"/>
    <p:sldLayoutId id="2147483816" r:id="rId2"/>
    <p:sldLayoutId id="2147483817" r:id="rId3"/>
    <p:sldLayoutId id="2147483818" r:id="rId4"/>
    <p:sldLayoutId id="2147483819" r:id="rId5"/>
    <p:sldLayoutId id="2147483820" r:id="rId6"/>
    <p:sldLayoutId id="2147483821" r:id="rId7"/>
    <p:sldLayoutId id="2147483822" r:id="rId8"/>
    <p:sldLayoutId id="2147483823" r:id="rId9"/>
    <p:sldLayoutId id="2147483824" r:id="rId10"/>
    <p:sldLayoutId id="2147483825" r:id="rId11"/>
    <p:sldLayoutId id="2147483826" r:id="rId12"/>
    <p:sldLayoutId id="2147483827" r:id="rId13"/>
    <p:sldLayoutId id="2147483828" r:id="rId14"/>
    <p:sldLayoutId id="2147483829" r:id="rId15"/>
    <p:sldLayoutId id="2147483830" r:id="rId16"/>
    <p:sldLayoutId id="2147483831" r:id="rId17"/>
    <p:sldLayoutId id="2147483832" r:id="rId18"/>
    <p:sldLayoutId id="2147483833" r:id="rId19"/>
    <p:sldLayoutId id="2147483834" r:id="rId20"/>
    <p:sldLayoutId id="2147483835" r:id="rId21"/>
  </p:sldLayoutIdLst>
  <p:hf sldNum="0" hdr="0" ftr="0" dt="0"/>
  <p:txStyles>
    <p:title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sv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image" Target="../media/image3.svg"/><Relationship Id="rId4" Type="http://schemas.openxmlformats.org/officeDocument/2006/relationships/image" Target="../media/image2.png"/><Relationship Id="rId9" Type="http://schemas.openxmlformats.org/officeDocument/2006/relationships/image" Target="../media/image7.sv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customXml" Target="../ink/ink1.xml"/><Relationship Id="rId1" Type="http://schemas.openxmlformats.org/officeDocument/2006/relationships/slideLayout" Target="../slideLayouts/slideLayout12.xml"/><Relationship Id="rId5" Type="http://schemas.openxmlformats.org/officeDocument/2006/relationships/image" Target="../media/image9.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5.xml"/><Relationship Id="rId5" Type="http://schemas.openxmlformats.org/officeDocument/2006/relationships/image" Target="../media/image12.png"/><Relationship Id="rId4" Type="http://schemas.openxmlformats.org/officeDocument/2006/relationships/customXml" Target="../ink/ink2.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16.xml"/><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18.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20.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21.xml"/><Relationship Id="rId5" Type="http://schemas.openxmlformats.org/officeDocument/2006/relationships/image" Target="../media/image23.png"/><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1.xml"/></Relationships>
</file>

<file path=ppt/slides/_rels/slide1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1.xml"/></Relationships>
</file>

<file path=ppt/slides/_rels/slide1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1.xml"/></Relationships>
</file>

<file path=ppt/slides/_rels/slide1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1.xml"/></Relationships>
</file>

<file path=ppt/slides/_rels/slide1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1.xml"/></Relationships>
</file>

<file path=ppt/slides/_rels/slide1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1.xml"/></Relationships>
</file>

<file path=ppt/slides/_rels/slide1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1.xml"/></Relationships>
</file>

<file path=ppt/slides/_rels/slide1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1.xml"/></Relationships>
</file>

<file path=ppt/slides/_rels/slide2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1.xml"/></Relationships>
</file>

<file path=ppt/slides/_rels/slide2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1.xml"/></Relationships>
</file>

<file path=ppt/slides/_rels/slide2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1.xml"/></Relationships>
</file>

<file path=ppt/slides/_rels/slide2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1.xml"/></Relationships>
</file>

<file path=ppt/slides/_rels/slide2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1.xml"/></Relationships>
</file>

<file path=ppt/slides/_rels/slide2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1.xml"/></Relationships>
</file>

<file path=ppt/slides/_rels/slide2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1.xml"/></Relationships>
</file>

<file path=ppt/slides/_rels/slide2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1.xml"/></Relationships>
</file>

<file path=ppt/slides/_rels/slide2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1.xml"/></Relationships>
</file>

<file path=ppt/slides/_rels/slide2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1.xml"/></Relationships>
</file>

<file path=ppt/slides/_rels/slide3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1.xml"/></Relationships>
</file>

<file path=ppt/slides/_rels/slide3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1.xml"/></Relationships>
</file>

<file path=ppt/slides/_rels/slide3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1.xml"/></Relationships>
</file>

<file path=ppt/slides/_rels/slide3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1.xml"/></Relationships>
</file>

<file path=ppt/slides/_rels/slide3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1.xml"/></Relationships>
</file>

<file path=ppt/slides/_rels/slide3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1.xml"/></Relationships>
</file>

<file path=ppt/slides/_rels/slide36.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1.xml"/></Relationships>
</file>

<file path=ppt/slides/_rels/slide37.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1.xml"/></Relationships>
</file>

<file path=ppt/slides/_rels/slide38.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1.xml"/></Relationships>
</file>

<file path=ppt/slides/_rels/slide39.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1.xml"/></Relationships>
</file>

<file path=ppt/slides/_rels/slide40.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1.xml"/></Relationships>
</file>

<file path=ppt/slides/_rels/slide41.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1.xml"/></Relationships>
</file>

<file path=ppt/slides/_rels/slide42.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1.xml"/></Relationships>
</file>

<file path=ppt/slides/_rels/slide43.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1.xml"/></Relationships>
</file>

<file path=ppt/slides/_rels/slide44.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1.xml"/></Relationships>
</file>

<file path=ppt/slides/_rels/slide45.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760720" cy="8229600"/>
          </a:xfrm>
          <a:prstGeom prst="rect">
            <a:avLst/>
          </a:prstGeom>
        </p:spPr>
      </p:pic>
      <p:sp>
        <p:nvSpPr>
          <p:cNvPr id="3" name="Text 0"/>
          <p:cNvSpPr/>
          <p:nvPr/>
        </p:nvSpPr>
        <p:spPr>
          <a:xfrm>
            <a:off x="6280190" y="2192179"/>
            <a:ext cx="7556421" cy="1240155"/>
          </a:xfrm>
          <a:prstGeom prst="rect">
            <a:avLst/>
          </a:prstGeom>
          <a:noFill/>
          <a:ln/>
        </p:spPr>
        <p:txBody>
          <a:bodyPr wrap="square" lIns="0" tIns="0" rIns="0" bIns="0" rtlCol="0" anchor="t"/>
          <a:lstStyle/>
          <a:p>
            <a:pPr marL="0" indent="0" algn="l">
              <a:lnSpc>
                <a:spcPts val="4850"/>
              </a:lnSpc>
              <a:buNone/>
            </a:pPr>
            <a:r>
              <a:rPr lang="en-US" sz="3900" dirty="0">
                <a:solidFill>
                  <a:srgbClr val="2E3C4E"/>
                </a:solidFill>
                <a:latin typeface="Host Grotesk Medium" pitchFamily="34" charset="0"/>
                <a:ea typeface="Host Grotesk Medium" pitchFamily="34" charset="-122"/>
                <a:cs typeface="Host Grotesk Medium" pitchFamily="34" charset="-120"/>
              </a:rPr>
              <a:t>Medical Data History: SQL Analytics Project</a:t>
            </a:r>
            <a:endParaRPr lang="en-US" sz="3900" dirty="0"/>
          </a:p>
        </p:txBody>
      </p:sp>
      <p:sp>
        <p:nvSpPr>
          <p:cNvPr id="4" name="Text 1"/>
          <p:cNvSpPr/>
          <p:nvPr/>
        </p:nvSpPr>
        <p:spPr>
          <a:xfrm>
            <a:off x="6280190" y="3729990"/>
            <a:ext cx="7556421" cy="1190625"/>
          </a:xfrm>
          <a:prstGeom prst="rect">
            <a:avLst/>
          </a:prstGeom>
          <a:noFill/>
          <a:ln/>
        </p:spPr>
        <p:txBody>
          <a:bodyPr wrap="square" lIns="0" tIns="0" rIns="0" bIns="0" rtlCol="0" anchor="t"/>
          <a:lstStyle/>
          <a:p>
            <a:pPr marL="0" indent="0" algn="l">
              <a:lnSpc>
                <a:spcPts val="2300"/>
              </a:lnSpc>
              <a:buNone/>
            </a:pPr>
            <a:r>
              <a:rPr lang="en-US" sz="1550" dirty="0">
                <a:solidFill>
                  <a:srgbClr val="384653"/>
                </a:solidFill>
                <a:latin typeface="Roboto" pitchFamily="34" charset="0"/>
                <a:ea typeface="Roboto" pitchFamily="34" charset="-122"/>
                <a:cs typeface="Roboto" pitchFamily="34" charset="-120"/>
              </a:rPr>
              <a:t>A comprehensive analysis of healthcare patterns, patient demographics, and operational efficiency using advanced SQL techniques and Power BI visualization. This project transforms raw medical data into actionable insights that drive strategic decision-making for hospital administrators and healthcare data teams.</a:t>
            </a:r>
            <a:endParaRPr lang="en-US" sz="1550" dirty="0"/>
          </a:p>
        </p:txBody>
      </p:sp>
      <p:sp>
        <p:nvSpPr>
          <p:cNvPr id="5" name="Shape 2"/>
          <p:cNvSpPr/>
          <p:nvPr/>
        </p:nvSpPr>
        <p:spPr>
          <a:xfrm>
            <a:off x="6280190" y="5151477"/>
            <a:ext cx="1625084" cy="357307"/>
          </a:xfrm>
          <a:prstGeom prst="roundRect">
            <a:avLst>
              <a:gd name="adj" fmla="val 18664"/>
            </a:avLst>
          </a:prstGeom>
          <a:solidFill>
            <a:srgbClr val="D9EDF2"/>
          </a:solidFill>
          <a:ln/>
        </p:spPr>
      </p:sp>
      <p:pic>
        <p:nvPicPr>
          <p:cNvPr id="6"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399252" y="5250775"/>
            <a:ext cx="158710" cy="158710"/>
          </a:xfrm>
          <a:prstGeom prst="rect">
            <a:avLst/>
          </a:prstGeom>
        </p:spPr>
      </p:pic>
      <p:sp>
        <p:nvSpPr>
          <p:cNvPr id="7" name="Text 3"/>
          <p:cNvSpPr/>
          <p:nvPr/>
        </p:nvSpPr>
        <p:spPr>
          <a:xfrm>
            <a:off x="6637258" y="5211008"/>
            <a:ext cx="1148953" cy="238244"/>
          </a:xfrm>
          <a:prstGeom prst="rect">
            <a:avLst/>
          </a:prstGeom>
          <a:noFill/>
          <a:ln/>
        </p:spPr>
        <p:txBody>
          <a:bodyPr wrap="none" lIns="0" tIns="0" rIns="0" bIns="0" rtlCol="0" anchor="t"/>
          <a:lstStyle/>
          <a:p>
            <a:pPr marL="0" indent="0" algn="l">
              <a:lnSpc>
                <a:spcPts val="1850"/>
              </a:lnSpc>
              <a:buNone/>
            </a:pPr>
            <a:r>
              <a:rPr lang="en-US" sz="1250" dirty="0">
                <a:solidFill>
                  <a:srgbClr val="384653"/>
                </a:solidFill>
                <a:latin typeface="Roboto" pitchFamily="34" charset="0"/>
                <a:ea typeface="Roboto" pitchFamily="34" charset="-122"/>
                <a:cs typeface="Roboto" pitchFamily="34" charset="-120"/>
              </a:rPr>
              <a:t>SQL ANALYTICS</a:t>
            </a:r>
            <a:endParaRPr lang="en-US" sz="1250" dirty="0"/>
          </a:p>
        </p:txBody>
      </p:sp>
      <p:sp>
        <p:nvSpPr>
          <p:cNvPr id="8" name="Shape 4"/>
          <p:cNvSpPr/>
          <p:nvPr/>
        </p:nvSpPr>
        <p:spPr>
          <a:xfrm>
            <a:off x="8004453" y="5143857"/>
            <a:ext cx="1892856" cy="372547"/>
          </a:xfrm>
          <a:prstGeom prst="roundRect">
            <a:avLst>
              <a:gd name="adj" fmla="val 17900"/>
            </a:avLst>
          </a:prstGeom>
          <a:noFill/>
          <a:ln w="7620">
            <a:solidFill>
              <a:srgbClr val="95CCDA"/>
            </a:solidFill>
            <a:prstDash val="solid"/>
          </a:ln>
        </p:spPr>
      </p:sp>
      <p:pic>
        <p:nvPicPr>
          <p:cNvPr id="9" name="Image 2"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131135" y="5250775"/>
            <a:ext cx="158710" cy="158710"/>
          </a:xfrm>
          <a:prstGeom prst="rect">
            <a:avLst/>
          </a:prstGeom>
        </p:spPr>
      </p:pic>
      <p:sp>
        <p:nvSpPr>
          <p:cNvPr id="10" name="Text 5"/>
          <p:cNvSpPr/>
          <p:nvPr/>
        </p:nvSpPr>
        <p:spPr>
          <a:xfrm>
            <a:off x="8369141" y="5211008"/>
            <a:ext cx="1401485" cy="238244"/>
          </a:xfrm>
          <a:prstGeom prst="rect">
            <a:avLst/>
          </a:prstGeom>
          <a:noFill/>
          <a:ln/>
        </p:spPr>
        <p:txBody>
          <a:bodyPr wrap="none" lIns="0" tIns="0" rIns="0" bIns="0" rtlCol="0" anchor="t"/>
          <a:lstStyle/>
          <a:p>
            <a:pPr marL="0" indent="0" algn="l">
              <a:lnSpc>
                <a:spcPts val="1850"/>
              </a:lnSpc>
              <a:buNone/>
            </a:pPr>
            <a:r>
              <a:rPr lang="en-US" sz="1250" dirty="0">
                <a:solidFill>
                  <a:srgbClr val="95CCDA"/>
                </a:solidFill>
                <a:latin typeface="Roboto" pitchFamily="34" charset="0"/>
                <a:ea typeface="Roboto" pitchFamily="34" charset="-122"/>
                <a:cs typeface="Roboto" pitchFamily="34" charset="-120"/>
              </a:rPr>
              <a:t>HEALTHCARE DATA</a:t>
            </a:r>
            <a:endParaRPr lang="en-US" sz="1250" dirty="0"/>
          </a:p>
        </p:txBody>
      </p:sp>
      <p:sp>
        <p:nvSpPr>
          <p:cNvPr id="11" name="Shape 6"/>
          <p:cNvSpPr/>
          <p:nvPr/>
        </p:nvSpPr>
        <p:spPr>
          <a:xfrm>
            <a:off x="9996488" y="5143857"/>
            <a:ext cx="2040731" cy="372547"/>
          </a:xfrm>
          <a:prstGeom prst="roundRect">
            <a:avLst>
              <a:gd name="adj" fmla="val 17900"/>
            </a:avLst>
          </a:prstGeom>
          <a:noFill/>
          <a:ln w="7620">
            <a:solidFill>
              <a:srgbClr val="95CCDA"/>
            </a:solidFill>
            <a:prstDash val="solid"/>
          </a:ln>
        </p:spPr>
      </p:sp>
      <p:pic>
        <p:nvPicPr>
          <p:cNvPr id="12" name="Image 3"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123170" y="5250775"/>
            <a:ext cx="158710" cy="158710"/>
          </a:xfrm>
          <a:prstGeom prst="rect">
            <a:avLst/>
          </a:prstGeom>
        </p:spPr>
      </p:pic>
      <p:sp>
        <p:nvSpPr>
          <p:cNvPr id="13" name="Text 7"/>
          <p:cNvSpPr/>
          <p:nvPr/>
        </p:nvSpPr>
        <p:spPr>
          <a:xfrm>
            <a:off x="10361176" y="5211008"/>
            <a:ext cx="1549360" cy="238244"/>
          </a:xfrm>
          <a:prstGeom prst="rect">
            <a:avLst/>
          </a:prstGeom>
          <a:noFill/>
          <a:ln/>
        </p:spPr>
        <p:txBody>
          <a:bodyPr wrap="none" lIns="0" tIns="0" rIns="0" bIns="0" rtlCol="0" anchor="t"/>
          <a:lstStyle/>
          <a:p>
            <a:pPr marL="0" indent="0" algn="l">
              <a:lnSpc>
                <a:spcPts val="1850"/>
              </a:lnSpc>
              <a:buNone/>
            </a:pPr>
            <a:r>
              <a:rPr lang="en-US" sz="1250" dirty="0">
                <a:solidFill>
                  <a:srgbClr val="95CCDA"/>
                </a:solidFill>
                <a:latin typeface="Roboto" pitchFamily="34" charset="0"/>
                <a:ea typeface="Roboto" pitchFamily="34" charset="-122"/>
                <a:cs typeface="Roboto" pitchFamily="34" charset="-120"/>
              </a:rPr>
              <a:t>DATA VISUALIZATION</a:t>
            </a:r>
            <a:endParaRPr lang="en-US" sz="1250" dirty="0"/>
          </a:p>
        </p:txBody>
      </p:sp>
      <p:sp>
        <p:nvSpPr>
          <p:cNvPr id="14" name="Text 8"/>
          <p:cNvSpPr/>
          <p:nvPr/>
        </p:nvSpPr>
        <p:spPr>
          <a:xfrm>
            <a:off x="6280190" y="5739646"/>
            <a:ext cx="7556421" cy="297656"/>
          </a:xfrm>
          <a:prstGeom prst="rect">
            <a:avLst/>
          </a:prstGeom>
          <a:noFill/>
          <a:ln/>
        </p:spPr>
        <p:txBody>
          <a:bodyPr wrap="none" lIns="0" tIns="0" rIns="0" bIns="0" rtlCol="0" anchor="t"/>
          <a:lstStyle/>
          <a:p>
            <a:pPr marL="0" indent="0" algn="l">
              <a:lnSpc>
                <a:spcPts val="2300"/>
              </a:lnSpc>
              <a:buNone/>
            </a:pPr>
            <a:endParaRPr lang="en-US" sz="1550" dirty="0"/>
          </a:p>
          <a:p>
            <a:pPr marL="0" indent="0" algn="l">
              <a:lnSpc>
                <a:spcPts val="2300"/>
              </a:lnSpc>
              <a:buNone/>
            </a:pP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596741"/>
            <a:ext cx="4217551" cy="527090"/>
          </a:xfrm>
          <a:prstGeom prst="rect">
            <a:avLst/>
          </a:prstGeom>
          <a:noFill/>
          <a:ln/>
        </p:spPr>
        <p:txBody>
          <a:bodyPr wrap="none" lIns="0" tIns="0" rIns="0" bIns="0" rtlCol="0" anchor="t"/>
          <a:lstStyle/>
          <a:p>
            <a:pPr marL="0" indent="0" algn="l">
              <a:lnSpc>
                <a:spcPts val="4150"/>
              </a:lnSpc>
              <a:buNone/>
            </a:pPr>
            <a:r>
              <a:rPr lang="en-US" sz="3300" dirty="0">
                <a:solidFill>
                  <a:srgbClr val="2E3C4E"/>
                </a:solidFill>
                <a:latin typeface="Host Grotesk Medium" pitchFamily="34" charset="0"/>
                <a:ea typeface="Host Grotesk Medium" pitchFamily="34" charset="-122"/>
                <a:cs typeface="Host Grotesk Medium" pitchFamily="34" charset="-120"/>
              </a:rPr>
              <a:t>Project Objective</a:t>
            </a:r>
            <a:endParaRPr lang="en-US" sz="3300" dirty="0"/>
          </a:p>
        </p:txBody>
      </p:sp>
      <p:pic>
        <p:nvPicPr>
          <p:cNvPr id="3" name="Image 0" descr="preencoded.png"/>
          <p:cNvPicPr>
            <a:picLocks noChangeAspect="1"/>
          </p:cNvPicPr>
          <p:nvPr/>
        </p:nvPicPr>
        <p:blipFill>
          <a:blip r:embed="rId3"/>
          <a:stretch>
            <a:fillRect/>
          </a:stretch>
        </p:blipFill>
        <p:spPr>
          <a:xfrm>
            <a:off x="1206937" y="3081218"/>
            <a:ext cx="4682014" cy="2809161"/>
          </a:xfrm>
          <a:prstGeom prst="rect">
            <a:avLst/>
          </a:prstGeom>
        </p:spPr>
      </p:pic>
      <p:sp>
        <p:nvSpPr>
          <p:cNvPr id="4" name="Text 1"/>
          <p:cNvSpPr/>
          <p:nvPr/>
        </p:nvSpPr>
        <p:spPr>
          <a:xfrm>
            <a:off x="6721197" y="1482209"/>
            <a:ext cx="7122914" cy="843439"/>
          </a:xfrm>
          <a:prstGeom prst="rect">
            <a:avLst/>
          </a:prstGeom>
          <a:noFill/>
          <a:ln/>
        </p:spPr>
        <p:txBody>
          <a:bodyPr wrap="square" lIns="0" tIns="0" rIns="0" bIns="0" rtlCol="0" anchor="t"/>
          <a:lstStyle/>
          <a:p>
            <a:pPr marL="0" indent="0" algn="l">
              <a:lnSpc>
                <a:spcPts val="3300"/>
              </a:lnSpc>
              <a:buNone/>
            </a:pPr>
            <a:r>
              <a:rPr lang="en-US" sz="2650" dirty="0">
                <a:solidFill>
                  <a:srgbClr val="2E3C4E"/>
                </a:solidFill>
                <a:latin typeface="Host Grotesk Medium" pitchFamily="34" charset="0"/>
                <a:ea typeface="Host Grotesk Medium" pitchFamily="34" charset="-122"/>
                <a:cs typeface="Host Grotesk Medium" pitchFamily="34" charset="-120"/>
              </a:rPr>
              <a:t>Transforming Medical Data into Strategic Intelligence</a:t>
            </a:r>
            <a:endParaRPr lang="en-US" sz="2650" dirty="0"/>
          </a:p>
        </p:txBody>
      </p:sp>
      <p:sp>
        <p:nvSpPr>
          <p:cNvPr id="5" name="Text 2"/>
          <p:cNvSpPr/>
          <p:nvPr/>
        </p:nvSpPr>
        <p:spPr>
          <a:xfrm>
            <a:off x="6721197" y="2468999"/>
            <a:ext cx="7122914" cy="1170384"/>
          </a:xfrm>
          <a:prstGeom prst="rect">
            <a:avLst/>
          </a:prstGeom>
          <a:noFill/>
          <a:ln/>
        </p:spPr>
        <p:txBody>
          <a:bodyPr wrap="square" lIns="0" tIns="0" rIns="0" bIns="0" rtlCol="0" anchor="t"/>
          <a:lstStyle/>
          <a:p>
            <a:pPr marL="0" indent="0" algn="l">
              <a:lnSpc>
                <a:spcPts val="1800"/>
              </a:lnSpc>
              <a:buNone/>
            </a:pPr>
            <a:r>
              <a:rPr lang="en-US" sz="1300" dirty="0">
                <a:solidFill>
                  <a:srgbClr val="384653"/>
                </a:solidFill>
                <a:latin typeface="Roboto" pitchFamily="34" charset="0"/>
                <a:ea typeface="Roboto" pitchFamily="34" charset="-122"/>
                <a:cs typeface="Roboto" pitchFamily="34" charset="-120"/>
              </a:rPr>
              <a:t>This comprehensive SQL analytics project was designed to extract meaningful patterns from complex healthcare datasets and translate them into actionable intelligence for hospital administrators. By leveraging advanced SQL querying techniques and Power BI visualization capabilities, we aimed to uncover critical insights that could inform strategic planning, resource allocation, and patient care optimization.</a:t>
            </a:r>
            <a:endParaRPr lang="en-US" sz="1300" dirty="0"/>
          </a:p>
        </p:txBody>
      </p:sp>
      <p:sp>
        <p:nvSpPr>
          <p:cNvPr id="6" name="Text 3"/>
          <p:cNvSpPr/>
          <p:nvPr/>
        </p:nvSpPr>
        <p:spPr>
          <a:xfrm>
            <a:off x="6721197" y="3768328"/>
            <a:ext cx="7122914" cy="234077"/>
          </a:xfrm>
          <a:prstGeom prst="rect">
            <a:avLst/>
          </a:prstGeom>
          <a:noFill/>
          <a:ln/>
        </p:spPr>
        <p:txBody>
          <a:bodyPr wrap="none" lIns="0" tIns="0" rIns="0" bIns="0" rtlCol="0" anchor="t"/>
          <a:lstStyle/>
          <a:p>
            <a:pPr marL="0" indent="0" algn="l">
              <a:lnSpc>
                <a:spcPts val="1800"/>
              </a:lnSpc>
              <a:buNone/>
            </a:pPr>
            <a:r>
              <a:rPr lang="en-US" sz="1300" b="1" dirty="0">
                <a:solidFill>
                  <a:srgbClr val="384653"/>
                </a:solidFill>
                <a:latin typeface="Roboto" pitchFamily="34" charset="0"/>
                <a:ea typeface="Roboto" pitchFamily="34" charset="-122"/>
                <a:cs typeface="Roboto" pitchFamily="34" charset="-120"/>
              </a:rPr>
              <a:t>Core Analysis Objectives:</a:t>
            </a:r>
            <a:endParaRPr lang="en-US" sz="1300" dirty="0"/>
          </a:p>
        </p:txBody>
      </p:sp>
      <p:sp>
        <p:nvSpPr>
          <p:cNvPr id="7" name="Text 4"/>
          <p:cNvSpPr/>
          <p:nvPr/>
        </p:nvSpPr>
        <p:spPr>
          <a:xfrm>
            <a:off x="6721197" y="4131350"/>
            <a:ext cx="7122914" cy="2340757"/>
          </a:xfrm>
          <a:prstGeom prst="rect">
            <a:avLst/>
          </a:prstGeom>
          <a:noFill/>
          <a:ln/>
        </p:spPr>
        <p:txBody>
          <a:bodyPr wrap="square" lIns="0" tIns="0" rIns="0" bIns="0" rtlCol="0" anchor="t"/>
          <a:lstStyle/>
          <a:p>
            <a:pPr marL="342900" indent="-342900" algn="l">
              <a:lnSpc>
                <a:spcPts val="1800"/>
              </a:lnSpc>
              <a:buSzPct val="100000"/>
              <a:buChar char="•"/>
            </a:pPr>
            <a:r>
              <a:rPr lang="en-US" sz="1300" b="1" dirty="0">
                <a:solidFill>
                  <a:srgbClr val="384653"/>
                </a:solidFill>
                <a:latin typeface="Roboto" pitchFamily="34" charset="0"/>
                <a:ea typeface="Roboto" pitchFamily="34" charset="-122"/>
                <a:cs typeface="Roboto" pitchFamily="34" charset="-120"/>
              </a:rPr>
              <a:t>Patient Demographics Analysis:</a:t>
            </a:r>
            <a:r>
              <a:rPr lang="en-US" sz="1300" dirty="0">
                <a:solidFill>
                  <a:srgbClr val="384653"/>
                </a:solidFill>
                <a:latin typeface="Roboto" pitchFamily="34" charset="0"/>
                <a:ea typeface="Roboto" pitchFamily="34" charset="-122"/>
                <a:cs typeface="Roboto" pitchFamily="34" charset="-120"/>
              </a:rPr>
              <a:t> Examine patient population characteristics, age distributions, and health indicators to identify at-risk cohorts and demographic trends</a:t>
            </a:r>
            <a:endParaRPr lang="en-US" sz="1300" dirty="0"/>
          </a:p>
          <a:p>
            <a:pPr marL="342900" indent="-342900" algn="l">
              <a:lnSpc>
                <a:spcPts val="1800"/>
              </a:lnSpc>
              <a:buSzPct val="100000"/>
              <a:buChar char="•"/>
            </a:pPr>
            <a:r>
              <a:rPr lang="en-US" sz="1300" b="1" dirty="0">
                <a:solidFill>
                  <a:srgbClr val="384653"/>
                </a:solidFill>
                <a:latin typeface="Roboto" pitchFamily="34" charset="0"/>
                <a:ea typeface="Roboto" pitchFamily="34" charset="-122"/>
                <a:cs typeface="Roboto" pitchFamily="34" charset="-120"/>
              </a:rPr>
              <a:t>BMI &amp; Health Risk Assessment:</a:t>
            </a:r>
            <a:r>
              <a:rPr lang="en-US" sz="1300" dirty="0">
                <a:solidFill>
                  <a:srgbClr val="384653"/>
                </a:solidFill>
                <a:latin typeface="Roboto" pitchFamily="34" charset="0"/>
                <a:ea typeface="Roboto" pitchFamily="34" charset="-122"/>
                <a:cs typeface="Roboto" pitchFamily="34" charset="-120"/>
              </a:rPr>
              <a:t> Investigate body mass index patterns across the patient population to identify obesity prevalence and lifestyle-related health risks</a:t>
            </a:r>
            <a:endParaRPr lang="en-US" sz="1300" dirty="0"/>
          </a:p>
          <a:p>
            <a:pPr marL="342900" indent="-342900" algn="l">
              <a:lnSpc>
                <a:spcPts val="1800"/>
              </a:lnSpc>
              <a:buSzPct val="100000"/>
              <a:buChar char="•"/>
            </a:pPr>
            <a:r>
              <a:rPr lang="en-US" sz="1300" b="1" dirty="0">
                <a:solidFill>
                  <a:srgbClr val="384653"/>
                </a:solidFill>
                <a:latin typeface="Roboto" pitchFamily="34" charset="0"/>
                <a:ea typeface="Roboto" pitchFamily="34" charset="-122"/>
                <a:cs typeface="Roboto" pitchFamily="34" charset="-120"/>
              </a:rPr>
              <a:t>Admission Pattern Recognition:</a:t>
            </a:r>
            <a:r>
              <a:rPr lang="en-US" sz="1300" dirty="0">
                <a:solidFill>
                  <a:srgbClr val="384653"/>
                </a:solidFill>
                <a:latin typeface="Roboto" pitchFamily="34" charset="0"/>
                <a:ea typeface="Roboto" pitchFamily="34" charset="-122"/>
                <a:cs typeface="Roboto" pitchFamily="34" charset="-120"/>
              </a:rPr>
              <a:t> Track hospital admission trends across time periods, diagnoses, and geographic locations to optimize capacity planning</a:t>
            </a:r>
            <a:endParaRPr lang="en-US" sz="1300" dirty="0"/>
          </a:p>
          <a:p>
            <a:pPr marL="342900" indent="-342900" algn="l">
              <a:lnSpc>
                <a:spcPts val="1800"/>
              </a:lnSpc>
              <a:buSzPct val="100000"/>
              <a:buChar char="•"/>
            </a:pPr>
            <a:r>
              <a:rPr lang="en-US" sz="1300" b="1" dirty="0">
                <a:solidFill>
                  <a:srgbClr val="384653"/>
                </a:solidFill>
                <a:latin typeface="Roboto" pitchFamily="34" charset="0"/>
                <a:ea typeface="Roboto" pitchFamily="34" charset="-122"/>
                <a:cs typeface="Roboto" pitchFamily="34" charset="-120"/>
              </a:rPr>
              <a:t>Resource Utilization Metrics:</a:t>
            </a:r>
            <a:r>
              <a:rPr lang="en-US" sz="1300" dirty="0">
                <a:solidFill>
                  <a:srgbClr val="384653"/>
                </a:solidFill>
                <a:latin typeface="Roboto" pitchFamily="34" charset="0"/>
                <a:ea typeface="Roboto" pitchFamily="34" charset="-122"/>
                <a:cs typeface="Roboto" pitchFamily="34" charset="-120"/>
              </a:rPr>
              <a:t> Analyze doctor workload distribution and identify operational inefficiencies in patient assignment and care delivery</a:t>
            </a:r>
            <a:endParaRPr lang="en-US" sz="1300" dirty="0"/>
          </a:p>
          <a:p>
            <a:pPr marL="342900" indent="-342900" algn="l">
              <a:lnSpc>
                <a:spcPts val="1800"/>
              </a:lnSpc>
              <a:buSzPct val="100000"/>
              <a:buChar char="•"/>
            </a:pPr>
            <a:r>
              <a:rPr lang="en-US" sz="1300" b="1" dirty="0">
                <a:solidFill>
                  <a:srgbClr val="384653"/>
                </a:solidFill>
                <a:latin typeface="Roboto" pitchFamily="34" charset="0"/>
                <a:ea typeface="Roboto" pitchFamily="34" charset="-122"/>
                <a:cs typeface="Roboto" pitchFamily="34" charset="-120"/>
              </a:rPr>
              <a:t>Actionable Insight Generation:</a:t>
            </a:r>
            <a:r>
              <a:rPr lang="en-US" sz="1300" dirty="0">
                <a:solidFill>
                  <a:srgbClr val="384653"/>
                </a:solidFill>
                <a:latin typeface="Roboto" pitchFamily="34" charset="0"/>
                <a:ea typeface="Roboto" pitchFamily="34" charset="-122"/>
                <a:cs typeface="Roboto" pitchFamily="34" charset="-120"/>
              </a:rPr>
              <a:t> Convert raw statistical findings into concrete recommendations that drive improved patient outcomes and operational efficiency</a:t>
            </a:r>
            <a:endParaRPr lang="en-US" sz="1300" dirty="0"/>
          </a:p>
        </p:txBody>
      </p:sp>
      <p:sp>
        <p:nvSpPr>
          <p:cNvPr id="8" name="Text 5"/>
          <p:cNvSpPr/>
          <p:nvPr/>
        </p:nvSpPr>
        <p:spPr>
          <a:xfrm>
            <a:off x="6721197" y="6601052"/>
            <a:ext cx="7122914" cy="702231"/>
          </a:xfrm>
          <a:prstGeom prst="rect">
            <a:avLst/>
          </a:prstGeom>
          <a:noFill/>
          <a:ln/>
        </p:spPr>
        <p:txBody>
          <a:bodyPr wrap="square" lIns="0" tIns="0" rIns="0" bIns="0" rtlCol="0" anchor="t"/>
          <a:lstStyle/>
          <a:p>
            <a:pPr marL="0" indent="0" algn="l">
              <a:lnSpc>
                <a:spcPts val="1800"/>
              </a:lnSpc>
              <a:buNone/>
            </a:pPr>
            <a:r>
              <a:rPr lang="en-US" sz="1300" dirty="0">
                <a:solidFill>
                  <a:srgbClr val="384653"/>
                </a:solidFill>
                <a:latin typeface="Roboto" pitchFamily="34" charset="0"/>
                <a:ea typeface="Roboto" pitchFamily="34" charset="-122"/>
                <a:cs typeface="Roboto" pitchFamily="34" charset="-120"/>
              </a:rPr>
              <a:t>The project demonstrates proficiency in complex SQL operations including multi-table joins, aggregation functions, conditional logic with CASE statements, and temporal analysis using date filters—skills essential for modern healthcare analytics.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xmlns:aink="http://schemas.microsoft.com/office/drawing/2016/ink">
        <mc:Choice Requires="p14 aink">
          <p:contentPart p14:bwMode="auto" r:id="rId2">
            <p14:nvContentPartPr>
              <p14:cNvPr id="7" name="Ink 6">
                <a:extLst>
                  <a:ext uri="{FF2B5EF4-FFF2-40B4-BE49-F238E27FC236}">
                    <a16:creationId xmlns:a16="http://schemas.microsoft.com/office/drawing/2014/main" id="{72489813-AD1C-C7A1-1A96-59949C5BB66E}"/>
                  </a:ext>
                </a:extLst>
              </p14:cNvPr>
              <p14:cNvContentPartPr/>
              <p14:nvPr/>
            </p14:nvContentPartPr>
            <p14:xfrm>
              <a:off x="-879332" y="492000"/>
              <a:ext cx="360" cy="360"/>
            </p14:xfrm>
          </p:contentPart>
        </mc:Choice>
        <mc:Fallback xmlns="">
          <p:pic>
            <p:nvPicPr>
              <p:cNvPr id="7" name="Ink 6">
                <a:extLst>
                  <a:ext uri="{FF2B5EF4-FFF2-40B4-BE49-F238E27FC236}">
                    <a16:creationId xmlns:a16="http://schemas.microsoft.com/office/drawing/2014/main" id="{72489813-AD1C-C7A1-1A96-59949C5BB66E}"/>
                  </a:ext>
                </a:extLst>
              </p:cNvPr>
              <p:cNvPicPr/>
              <p:nvPr/>
            </p:nvPicPr>
            <p:blipFill>
              <a:blip r:embed="rId4"/>
              <a:stretch>
                <a:fillRect/>
              </a:stretch>
            </p:blipFill>
            <p:spPr>
              <a:xfrm>
                <a:off x="-888332" y="438360"/>
                <a:ext cx="18000" cy="108000"/>
              </a:xfrm>
              <a:prstGeom prst="rect">
                <a:avLst/>
              </a:prstGeom>
            </p:spPr>
          </p:pic>
        </mc:Fallback>
      </mc:AlternateContent>
      <p:pic>
        <p:nvPicPr>
          <p:cNvPr id="4" name="Picture 3">
            <a:extLst>
              <a:ext uri="{FF2B5EF4-FFF2-40B4-BE49-F238E27FC236}">
                <a16:creationId xmlns:a16="http://schemas.microsoft.com/office/drawing/2014/main" id="{77B83F29-A339-79C9-C03C-FB116782EC6C}"/>
              </a:ext>
            </a:extLst>
          </p:cNvPr>
          <p:cNvPicPr>
            <a:picLocks noChangeAspect="1"/>
          </p:cNvPicPr>
          <p:nvPr/>
        </p:nvPicPr>
        <p:blipFill>
          <a:blip r:embed="rId5"/>
          <a:stretch>
            <a:fillRect/>
          </a:stretch>
        </p:blipFill>
        <p:spPr>
          <a:xfrm>
            <a:off x="2328166" y="647216"/>
            <a:ext cx="9974067" cy="6935168"/>
          </a:xfrm>
          <a:prstGeom prst="rect">
            <a:avLst/>
          </a:prstGeom>
        </p:spPr>
      </p:pic>
    </p:spTree>
    <p:extLst>
      <p:ext uri="{BB962C8B-B14F-4D97-AF65-F5344CB8AC3E}">
        <p14:creationId xmlns:p14="http://schemas.microsoft.com/office/powerpoint/2010/main" val="26374316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name="Slide 3">
    <p:spTree>
      <p:nvGrpSpPr>
        <p:cNvPr id="1" name=""/>
        <p:cNvGrpSpPr/>
        <p:nvPr/>
      </p:nvGrpSpPr>
      <p:grpSpPr>
        <a:xfrm>
          <a:off x="0" y="0"/>
          <a:ext cx="0" cy="0"/>
          <a:chOff x="0" y="0"/>
          <a:chExt cx="0" cy="0"/>
        </a:xfrm>
      </p:grpSpPr>
      <p:sp>
        <p:nvSpPr>
          <p:cNvPr id="2" name="Text 0"/>
          <p:cNvSpPr/>
          <p:nvPr/>
        </p:nvSpPr>
        <p:spPr>
          <a:xfrm>
            <a:off x="793790" y="736044"/>
            <a:ext cx="4217551" cy="527090"/>
          </a:xfrm>
          <a:prstGeom prst="rect">
            <a:avLst/>
          </a:prstGeom>
          <a:noFill/>
          <a:ln/>
        </p:spPr>
        <p:txBody>
          <a:bodyPr wrap="none" lIns="0" tIns="0" rIns="0" bIns="0" rtlCol="0" anchor="t"/>
          <a:lstStyle/>
          <a:p>
            <a:pPr marL="0" indent="0" algn="l">
              <a:lnSpc>
                <a:spcPts val="4150"/>
              </a:lnSpc>
              <a:buNone/>
            </a:pPr>
            <a:r>
              <a:rPr lang="en-US" sz="3300" dirty="0">
                <a:solidFill>
                  <a:srgbClr val="2E3C4E"/>
                </a:solidFill>
                <a:latin typeface="Host Grotesk Medium" pitchFamily="34" charset="0"/>
                <a:ea typeface="Host Grotesk Medium" pitchFamily="34" charset="-122"/>
                <a:cs typeface="Host Grotesk Medium" pitchFamily="34" charset="-120"/>
              </a:rPr>
              <a:t>Dataset Overview</a:t>
            </a:r>
            <a:endParaRPr lang="en-US" sz="3300" dirty="0"/>
          </a:p>
        </p:txBody>
      </p:sp>
      <p:sp>
        <p:nvSpPr>
          <p:cNvPr id="3" name="Text 1"/>
          <p:cNvSpPr/>
          <p:nvPr/>
        </p:nvSpPr>
        <p:spPr>
          <a:xfrm>
            <a:off x="793790" y="1549837"/>
            <a:ext cx="13042821" cy="468154"/>
          </a:xfrm>
          <a:prstGeom prst="rect">
            <a:avLst/>
          </a:prstGeom>
          <a:noFill/>
          <a:ln/>
        </p:spPr>
        <p:txBody>
          <a:bodyPr wrap="square" lIns="0" tIns="0" rIns="0" bIns="0" rtlCol="0" anchor="t"/>
          <a:lstStyle/>
          <a:p>
            <a:pPr marL="0" indent="0" algn="l">
              <a:lnSpc>
                <a:spcPts val="1800"/>
              </a:lnSpc>
              <a:buNone/>
            </a:pPr>
            <a:r>
              <a:rPr lang="en-US" sz="1300" dirty="0">
                <a:solidFill>
                  <a:srgbClr val="384653"/>
                </a:solidFill>
                <a:latin typeface="Roboto" pitchFamily="34" charset="0"/>
                <a:ea typeface="Roboto" pitchFamily="34" charset="-122"/>
                <a:cs typeface="Roboto" pitchFamily="34" charset="-120"/>
              </a:rPr>
              <a:t>Our analysis draws from a comprehensive medical database encompassing thousands of patient records, admission events, and healthcare provider interactions. This robust dataset provides a 360-degree view of healthcare operations, enabling deep analytical insights into patient care patterns and institutional performance metrics.</a:t>
            </a:r>
            <a:endParaRPr lang="en-US" sz="1300" dirty="0"/>
          </a:p>
        </p:txBody>
      </p:sp>
      <p:sp>
        <p:nvSpPr>
          <p:cNvPr id="4" name="Text 2"/>
          <p:cNvSpPr/>
          <p:nvPr/>
        </p:nvSpPr>
        <p:spPr>
          <a:xfrm>
            <a:off x="793790" y="2263497"/>
            <a:ext cx="3126224" cy="556617"/>
          </a:xfrm>
          <a:prstGeom prst="rect">
            <a:avLst/>
          </a:prstGeom>
          <a:noFill/>
          <a:ln/>
        </p:spPr>
        <p:txBody>
          <a:bodyPr wrap="none" lIns="0" tIns="0" rIns="0" bIns="0" rtlCol="0" anchor="t"/>
          <a:lstStyle/>
          <a:p>
            <a:pPr marL="0" indent="0" algn="ctr">
              <a:lnSpc>
                <a:spcPts val="4350"/>
              </a:lnSpc>
              <a:buNone/>
            </a:pPr>
            <a:r>
              <a:rPr lang="en-US" sz="4350" dirty="0">
                <a:solidFill>
                  <a:srgbClr val="384653"/>
                </a:solidFill>
                <a:latin typeface="Host Grotesk Medium" pitchFamily="34" charset="0"/>
                <a:ea typeface="Host Grotesk Medium" pitchFamily="34" charset="-122"/>
                <a:cs typeface="Host Grotesk Medium" pitchFamily="34" charset="-120"/>
              </a:rPr>
              <a:t>4,530</a:t>
            </a:r>
            <a:endParaRPr lang="en-US" sz="4350" dirty="0"/>
          </a:p>
        </p:txBody>
      </p:sp>
      <p:sp>
        <p:nvSpPr>
          <p:cNvPr id="5" name="Text 3"/>
          <p:cNvSpPr/>
          <p:nvPr/>
        </p:nvSpPr>
        <p:spPr>
          <a:xfrm>
            <a:off x="1302544" y="3011924"/>
            <a:ext cx="2108716" cy="263485"/>
          </a:xfrm>
          <a:prstGeom prst="rect">
            <a:avLst/>
          </a:prstGeom>
          <a:noFill/>
          <a:ln/>
        </p:spPr>
        <p:txBody>
          <a:bodyPr wrap="none" lIns="0" tIns="0" rIns="0" bIns="0" rtlCol="0" anchor="t"/>
          <a:lstStyle/>
          <a:p>
            <a:pPr marL="0" indent="0" algn="ctr">
              <a:lnSpc>
                <a:spcPts val="2050"/>
              </a:lnSpc>
              <a:buNone/>
            </a:pPr>
            <a:r>
              <a:rPr lang="en-US" sz="1650" dirty="0">
                <a:solidFill>
                  <a:srgbClr val="384653"/>
                </a:solidFill>
                <a:latin typeface="Host Grotesk Medium" pitchFamily="34" charset="0"/>
                <a:ea typeface="Host Grotesk Medium" pitchFamily="34" charset="-122"/>
                <a:cs typeface="Host Grotesk Medium" pitchFamily="34" charset="-120"/>
              </a:rPr>
              <a:t>Total Patients</a:t>
            </a:r>
            <a:endParaRPr lang="en-US" sz="1650" dirty="0"/>
          </a:p>
        </p:txBody>
      </p:sp>
      <p:sp>
        <p:nvSpPr>
          <p:cNvPr id="6" name="Text 4"/>
          <p:cNvSpPr/>
          <p:nvPr/>
        </p:nvSpPr>
        <p:spPr>
          <a:xfrm>
            <a:off x="793790" y="3361373"/>
            <a:ext cx="3126224" cy="702231"/>
          </a:xfrm>
          <a:prstGeom prst="rect">
            <a:avLst/>
          </a:prstGeom>
          <a:noFill/>
          <a:ln/>
        </p:spPr>
        <p:txBody>
          <a:bodyPr wrap="square" lIns="0" tIns="0" rIns="0" bIns="0" rtlCol="0" anchor="t"/>
          <a:lstStyle/>
          <a:p>
            <a:pPr marL="0" indent="0" algn="ctr">
              <a:lnSpc>
                <a:spcPts val="1800"/>
              </a:lnSpc>
              <a:buNone/>
            </a:pPr>
            <a:r>
              <a:rPr lang="en-US" sz="1300" dirty="0">
                <a:solidFill>
                  <a:srgbClr val="384653"/>
                </a:solidFill>
                <a:latin typeface="Roboto" pitchFamily="34" charset="0"/>
                <a:ea typeface="Roboto" pitchFamily="34" charset="-122"/>
                <a:cs typeface="Roboto" pitchFamily="34" charset="-120"/>
              </a:rPr>
              <a:t>Unique individuals in the healthcare system representing diverse demographics and health conditions</a:t>
            </a:r>
            <a:endParaRPr lang="en-US" sz="1300" dirty="0"/>
          </a:p>
        </p:txBody>
      </p:sp>
      <p:sp>
        <p:nvSpPr>
          <p:cNvPr id="7" name="Text 5"/>
          <p:cNvSpPr/>
          <p:nvPr/>
        </p:nvSpPr>
        <p:spPr>
          <a:xfrm>
            <a:off x="4099203" y="2263497"/>
            <a:ext cx="3126343" cy="556617"/>
          </a:xfrm>
          <a:prstGeom prst="rect">
            <a:avLst/>
          </a:prstGeom>
          <a:noFill/>
          <a:ln/>
        </p:spPr>
        <p:txBody>
          <a:bodyPr wrap="none" lIns="0" tIns="0" rIns="0" bIns="0" rtlCol="0" anchor="t"/>
          <a:lstStyle/>
          <a:p>
            <a:pPr marL="0" indent="0" algn="ctr">
              <a:lnSpc>
                <a:spcPts val="4350"/>
              </a:lnSpc>
              <a:buNone/>
            </a:pPr>
            <a:r>
              <a:rPr lang="en-US" sz="4350" dirty="0">
                <a:solidFill>
                  <a:srgbClr val="384653"/>
                </a:solidFill>
                <a:latin typeface="Host Grotesk Medium" pitchFamily="34" charset="0"/>
                <a:ea typeface="Host Grotesk Medium" pitchFamily="34" charset="-122"/>
                <a:cs typeface="Host Grotesk Medium" pitchFamily="34" charset="-120"/>
              </a:rPr>
              <a:t>5,067</a:t>
            </a:r>
            <a:endParaRPr lang="en-US" sz="4350" dirty="0"/>
          </a:p>
        </p:txBody>
      </p:sp>
      <p:sp>
        <p:nvSpPr>
          <p:cNvPr id="8" name="Text 6"/>
          <p:cNvSpPr/>
          <p:nvPr/>
        </p:nvSpPr>
        <p:spPr>
          <a:xfrm>
            <a:off x="4607957" y="3011924"/>
            <a:ext cx="2108716" cy="263485"/>
          </a:xfrm>
          <a:prstGeom prst="rect">
            <a:avLst/>
          </a:prstGeom>
          <a:noFill/>
          <a:ln/>
        </p:spPr>
        <p:txBody>
          <a:bodyPr wrap="none" lIns="0" tIns="0" rIns="0" bIns="0" rtlCol="0" anchor="t"/>
          <a:lstStyle/>
          <a:p>
            <a:pPr marL="0" indent="0" algn="ctr">
              <a:lnSpc>
                <a:spcPts val="2050"/>
              </a:lnSpc>
              <a:buNone/>
            </a:pPr>
            <a:r>
              <a:rPr lang="en-US" sz="1650" dirty="0">
                <a:solidFill>
                  <a:srgbClr val="384653"/>
                </a:solidFill>
                <a:latin typeface="Host Grotesk Medium" pitchFamily="34" charset="0"/>
                <a:ea typeface="Host Grotesk Medium" pitchFamily="34" charset="-122"/>
                <a:cs typeface="Host Grotesk Medium" pitchFamily="34" charset="-120"/>
              </a:rPr>
              <a:t>Total Admissions</a:t>
            </a:r>
            <a:endParaRPr lang="en-US" sz="1650" dirty="0"/>
          </a:p>
        </p:txBody>
      </p:sp>
      <p:sp>
        <p:nvSpPr>
          <p:cNvPr id="9" name="Text 7"/>
          <p:cNvSpPr/>
          <p:nvPr/>
        </p:nvSpPr>
        <p:spPr>
          <a:xfrm>
            <a:off x="4099203" y="3361373"/>
            <a:ext cx="3126343" cy="468154"/>
          </a:xfrm>
          <a:prstGeom prst="rect">
            <a:avLst/>
          </a:prstGeom>
          <a:noFill/>
          <a:ln/>
        </p:spPr>
        <p:txBody>
          <a:bodyPr wrap="square" lIns="0" tIns="0" rIns="0" bIns="0" rtlCol="0" anchor="t"/>
          <a:lstStyle/>
          <a:p>
            <a:pPr marL="0" indent="0" algn="ctr">
              <a:lnSpc>
                <a:spcPts val="1800"/>
              </a:lnSpc>
              <a:buNone/>
            </a:pPr>
            <a:r>
              <a:rPr lang="en-US" sz="1300" dirty="0">
                <a:solidFill>
                  <a:srgbClr val="384653"/>
                </a:solidFill>
                <a:latin typeface="Roboto" pitchFamily="34" charset="0"/>
                <a:ea typeface="Roboto" pitchFamily="34" charset="-122"/>
                <a:cs typeface="Roboto" pitchFamily="34" charset="-120"/>
              </a:rPr>
              <a:t>Hospital admission events tracked across all time periods and diagnoses</a:t>
            </a:r>
            <a:endParaRPr lang="en-US" sz="1300" dirty="0"/>
          </a:p>
        </p:txBody>
      </p:sp>
      <p:sp>
        <p:nvSpPr>
          <p:cNvPr id="10" name="Text 8"/>
          <p:cNvSpPr/>
          <p:nvPr/>
        </p:nvSpPr>
        <p:spPr>
          <a:xfrm>
            <a:off x="7404735" y="2263497"/>
            <a:ext cx="3126343" cy="556617"/>
          </a:xfrm>
          <a:prstGeom prst="rect">
            <a:avLst/>
          </a:prstGeom>
          <a:noFill/>
          <a:ln/>
        </p:spPr>
        <p:txBody>
          <a:bodyPr wrap="none" lIns="0" tIns="0" rIns="0" bIns="0" rtlCol="0" anchor="t"/>
          <a:lstStyle/>
          <a:p>
            <a:pPr marL="0" indent="0" algn="ctr">
              <a:lnSpc>
                <a:spcPts val="4350"/>
              </a:lnSpc>
              <a:buNone/>
            </a:pPr>
            <a:r>
              <a:rPr lang="en-US" sz="4350" dirty="0">
                <a:solidFill>
                  <a:srgbClr val="384653"/>
                </a:solidFill>
                <a:latin typeface="Host Grotesk Medium" pitchFamily="34" charset="0"/>
                <a:ea typeface="Host Grotesk Medium" pitchFamily="34" charset="-122"/>
                <a:cs typeface="Host Grotesk Medium" pitchFamily="34" charset="-120"/>
              </a:rPr>
              <a:t>27</a:t>
            </a:r>
            <a:endParaRPr lang="en-US" sz="4350" dirty="0"/>
          </a:p>
        </p:txBody>
      </p:sp>
      <p:sp>
        <p:nvSpPr>
          <p:cNvPr id="11" name="Text 9"/>
          <p:cNvSpPr/>
          <p:nvPr/>
        </p:nvSpPr>
        <p:spPr>
          <a:xfrm>
            <a:off x="7913489" y="3011924"/>
            <a:ext cx="2108716" cy="263485"/>
          </a:xfrm>
          <a:prstGeom prst="rect">
            <a:avLst/>
          </a:prstGeom>
          <a:noFill/>
          <a:ln/>
        </p:spPr>
        <p:txBody>
          <a:bodyPr wrap="none" lIns="0" tIns="0" rIns="0" bIns="0" rtlCol="0" anchor="t"/>
          <a:lstStyle/>
          <a:p>
            <a:pPr marL="0" indent="0" algn="ctr">
              <a:lnSpc>
                <a:spcPts val="2050"/>
              </a:lnSpc>
              <a:buNone/>
            </a:pPr>
            <a:r>
              <a:rPr lang="en-US" sz="1650" dirty="0">
                <a:solidFill>
                  <a:srgbClr val="384653"/>
                </a:solidFill>
                <a:latin typeface="Host Grotesk Medium" pitchFamily="34" charset="0"/>
                <a:ea typeface="Host Grotesk Medium" pitchFamily="34" charset="-122"/>
                <a:cs typeface="Host Grotesk Medium" pitchFamily="34" charset="-120"/>
              </a:rPr>
              <a:t>Total Doctors</a:t>
            </a:r>
            <a:endParaRPr lang="en-US" sz="1650" dirty="0"/>
          </a:p>
        </p:txBody>
      </p:sp>
      <p:sp>
        <p:nvSpPr>
          <p:cNvPr id="12" name="Text 10"/>
          <p:cNvSpPr/>
          <p:nvPr/>
        </p:nvSpPr>
        <p:spPr>
          <a:xfrm>
            <a:off x="7404735" y="3361373"/>
            <a:ext cx="3126343" cy="468154"/>
          </a:xfrm>
          <a:prstGeom prst="rect">
            <a:avLst/>
          </a:prstGeom>
          <a:noFill/>
          <a:ln/>
        </p:spPr>
        <p:txBody>
          <a:bodyPr wrap="square" lIns="0" tIns="0" rIns="0" bIns="0" rtlCol="0" anchor="t"/>
          <a:lstStyle/>
          <a:p>
            <a:pPr marL="0" indent="0" algn="ctr">
              <a:lnSpc>
                <a:spcPts val="1800"/>
              </a:lnSpc>
              <a:buNone/>
            </a:pPr>
            <a:r>
              <a:rPr lang="en-US" sz="1300" dirty="0">
                <a:solidFill>
                  <a:srgbClr val="384653"/>
                </a:solidFill>
                <a:latin typeface="Roboto" pitchFamily="34" charset="0"/>
                <a:ea typeface="Roboto" pitchFamily="34" charset="-122"/>
                <a:cs typeface="Roboto" pitchFamily="34" charset="-120"/>
              </a:rPr>
              <a:t>Healthcare providers managing patient care across various specialties</a:t>
            </a:r>
            <a:endParaRPr lang="en-US" sz="1300" dirty="0"/>
          </a:p>
        </p:txBody>
      </p:sp>
      <p:sp>
        <p:nvSpPr>
          <p:cNvPr id="13" name="Text 11"/>
          <p:cNvSpPr/>
          <p:nvPr/>
        </p:nvSpPr>
        <p:spPr>
          <a:xfrm>
            <a:off x="10710267" y="2263497"/>
            <a:ext cx="3126343" cy="556617"/>
          </a:xfrm>
          <a:prstGeom prst="rect">
            <a:avLst/>
          </a:prstGeom>
          <a:noFill/>
          <a:ln/>
        </p:spPr>
        <p:txBody>
          <a:bodyPr wrap="none" lIns="0" tIns="0" rIns="0" bIns="0" rtlCol="0" anchor="t"/>
          <a:lstStyle/>
          <a:p>
            <a:pPr marL="0" indent="0" algn="ctr">
              <a:lnSpc>
                <a:spcPts val="4350"/>
              </a:lnSpc>
              <a:buNone/>
            </a:pPr>
            <a:r>
              <a:rPr lang="en-US" sz="4350" dirty="0">
                <a:solidFill>
                  <a:srgbClr val="384653"/>
                </a:solidFill>
                <a:latin typeface="Host Grotesk Medium" pitchFamily="34" charset="0"/>
                <a:ea typeface="Host Grotesk Medium" pitchFamily="34" charset="-122"/>
                <a:cs typeface="Host Grotesk Medium" pitchFamily="34" charset="-120"/>
              </a:rPr>
              <a:t>43.87</a:t>
            </a:r>
            <a:endParaRPr lang="en-US" sz="4350" dirty="0"/>
          </a:p>
        </p:txBody>
      </p:sp>
      <p:sp>
        <p:nvSpPr>
          <p:cNvPr id="14" name="Text 12"/>
          <p:cNvSpPr/>
          <p:nvPr/>
        </p:nvSpPr>
        <p:spPr>
          <a:xfrm>
            <a:off x="11219021" y="3011924"/>
            <a:ext cx="2108716" cy="263485"/>
          </a:xfrm>
          <a:prstGeom prst="rect">
            <a:avLst/>
          </a:prstGeom>
          <a:noFill/>
          <a:ln/>
        </p:spPr>
        <p:txBody>
          <a:bodyPr wrap="none" lIns="0" tIns="0" rIns="0" bIns="0" rtlCol="0" anchor="t"/>
          <a:lstStyle/>
          <a:p>
            <a:pPr marL="0" indent="0" algn="ctr">
              <a:lnSpc>
                <a:spcPts val="2050"/>
              </a:lnSpc>
              <a:buNone/>
            </a:pPr>
            <a:r>
              <a:rPr lang="en-US" sz="1650" dirty="0">
                <a:solidFill>
                  <a:srgbClr val="384653"/>
                </a:solidFill>
                <a:latin typeface="Host Grotesk Medium" pitchFamily="34" charset="0"/>
                <a:ea typeface="Host Grotesk Medium" pitchFamily="34" charset="-122"/>
                <a:cs typeface="Host Grotesk Medium" pitchFamily="34" charset="-120"/>
              </a:rPr>
              <a:t>Average Age</a:t>
            </a:r>
            <a:endParaRPr lang="en-US" sz="1650" dirty="0"/>
          </a:p>
        </p:txBody>
      </p:sp>
      <p:sp>
        <p:nvSpPr>
          <p:cNvPr id="15" name="Text 13"/>
          <p:cNvSpPr/>
          <p:nvPr/>
        </p:nvSpPr>
        <p:spPr>
          <a:xfrm>
            <a:off x="10710267" y="3361373"/>
            <a:ext cx="3126343" cy="702231"/>
          </a:xfrm>
          <a:prstGeom prst="rect">
            <a:avLst/>
          </a:prstGeom>
          <a:noFill/>
          <a:ln/>
        </p:spPr>
        <p:txBody>
          <a:bodyPr wrap="square" lIns="0" tIns="0" rIns="0" bIns="0" rtlCol="0" anchor="t"/>
          <a:lstStyle/>
          <a:p>
            <a:pPr marL="0" indent="0" algn="ctr">
              <a:lnSpc>
                <a:spcPts val="1800"/>
              </a:lnSpc>
              <a:buNone/>
            </a:pPr>
            <a:r>
              <a:rPr lang="en-US" sz="1300" dirty="0">
                <a:solidFill>
                  <a:srgbClr val="384653"/>
                </a:solidFill>
                <a:latin typeface="Roboto" pitchFamily="34" charset="0"/>
                <a:ea typeface="Roboto" pitchFamily="34" charset="-122"/>
                <a:cs typeface="Roboto" pitchFamily="34" charset="-120"/>
              </a:rPr>
              <a:t>Mean patient age indicating a predominantly middle-aged patient population</a:t>
            </a:r>
            <a:endParaRPr lang="en-US" sz="1300" dirty="0"/>
          </a:p>
        </p:txBody>
      </p:sp>
      <p:sp>
        <p:nvSpPr>
          <p:cNvPr id="16" name="Text 14"/>
          <p:cNvSpPr/>
          <p:nvPr/>
        </p:nvSpPr>
        <p:spPr>
          <a:xfrm>
            <a:off x="5752028" y="4434602"/>
            <a:ext cx="3126224" cy="556617"/>
          </a:xfrm>
          <a:prstGeom prst="rect">
            <a:avLst/>
          </a:prstGeom>
          <a:noFill/>
          <a:ln/>
        </p:spPr>
        <p:txBody>
          <a:bodyPr wrap="none" lIns="0" tIns="0" rIns="0" bIns="0" rtlCol="0" anchor="t"/>
          <a:lstStyle/>
          <a:p>
            <a:pPr marL="0" indent="0" algn="ctr">
              <a:lnSpc>
                <a:spcPts val="4350"/>
              </a:lnSpc>
              <a:buNone/>
            </a:pPr>
            <a:r>
              <a:rPr lang="en-US" sz="4350" dirty="0">
                <a:solidFill>
                  <a:srgbClr val="384653"/>
                </a:solidFill>
                <a:latin typeface="Host Grotesk Medium" pitchFamily="34" charset="0"/>
                <a:ea typeface="Host Grotesk Medium" pitchFamily="34" charset="-122"/>
                <a:cs typeface="Host Grotesk Medium" pitchFamily="34" charset="-120"/>
              </a:rPr>
              <a:t>30.54</a:t>
            </a:r>
            <a:endParaRPr lang="en-US" sz="4350" dirty="0"/>
          </a:p>
        </p:txBody>
      </p:sp>
      <p:sp>
        <p:nvSpPr>
          <p:cNvPr id="17" name="Text 15"/>
          <p:cNvSpPr/>
          <p:nvPr/>
        </p:nvSpPr>
        <p:spPr>
          <a:xfrm>
            <a:off x="6260783" y="5183029"/>
            <a:ext cx="2108716" cy="263485"/>
          </a:xfrm>
          <a:prstGeom prst="rect">
            <a:avLst/>
          </a:prstGeom>
          <a:noFill/>
          <a:ln/>
        </p:spPr>
        <p:txBody>
          <a:bodyPr wrap="none" lIns="0" tIns="0" rIns="0" bIns="0" rtlCol="0" anchor="t"/>
          <a:lstStyle/>
          <a:p>
            <a:pPr marL="0" indent="0" algn="ctr">
              <a:lnSpc>
                <a:spcPts val="2050"/>
              </a:lnSpc>
              <a:buNone/>
            </a:pPr>
            <a:r>
              <a:rPr lang="en-US" sz="1650" dirty="0">
                <a:solidFill>
                  <a:srgbClr val="384653"/>
                </a:solidFill>
                <a:latin typeface="Host Grotesk Medium" pitchFamily="34" charset="0"/>
                <a:ea typeface="Host Grotesk Medium" pitchFamily="34" charset="-122"/>
                <a:cs typeface="Host Grotesk Medium" pitchFamily="34" charset="-120"/>
              </a:rPr>
              <a:t>Average BMI</a:t>
            </a:r>
            <a:endParaRPr lang="en-US" sz="1650" dirty="0"/>
          </a:p>
        </p:txBody>
      </p:sp>
      <p:sp>
        <p:nvSpPr>
          <p:cNvPr id="18" name="Text 16"/>
          <p:cNvSpPr/>
          <p:nvPr/>
        </p:nvSpPr>
        <p:spPr>
          <a:xfrm>
            <a:off x="5752028" y="5532477"/>
            <a:ext cx="3126224" cy="468154"/>
          </a:xfrm>
          <a:prstGeom prst="rect">
            <a:avLst/>
          </a:prstGeom>
          <a:noFill/>
          <a:ln/>
        </p:spPr>
        <p:txBody>
          <a:bodyPr wrap="square" lIns="0" tIns="0" rIns="0" bIns="0" rtlCol="0" anchor="t"/>
          <a:lstStyle/>
          <a:p>
            <a:pPr marL="0" indent="0" algn="ctr">
              <a:lnSpc>
                <a:spcPts val="1800"/>
              </a:lnSpc>
              <a:buNone/>
            </a:pPr>
            <a:r>
              <a:rPr lang="en-US" sz="1300" dirty="0">
                <a:solidFill>
                  <a:srgbClr val="384653"/>
                </a:solidFill>
                <a:latin typeface="Roboto" pitchFamily="34" charset="0"/>
                <a:ea typeface="Roboto" pitchFamily="34" charset="-122"/>
                <a:cs typeface="Roboto" pitchFamily="34" charset="-120"/>
              </a:rPr>
              <a:t>Body Mass Index average falling into the obese category (BMI ≥ 30)</a:t>
            </a:r>
            <a:endParaRPr lang="en-US" sz="1300" dirty="0"/>
          </a:p>
        </p:txBody>
      </p:sp>
      <p:sp>
        <p:nvSpPr>
          <p:cNvPr id="19" name="Text 17"/>
          <p:cNvSpPr/>
          <p:nvPr/>
        </p:nvSpPr>
        <p:spPr>
          <a:xfrm>
            <a:off x="793790" y="6161842"/>
            <a:ext cx="13042821" cy="702231"/>
          </a:xfrm>
          <a:prstGeom prst="rect">
            <a:avLst/>
          </a:prstGeom>
          <a:noFill/>
          <a:ln/>
        </p:spPr>
        <p:txBody>
          <a:bodyPr wrap="square" lIns="0" tIns="0" rIns="0" bIns="0" rtlCol="0" anchor="t"/>
          <a:lstStyle/>
          <a:p>
            <a:pPr marL="0" indent="0" algn="l">
              <a:lnSpc>
                <a:spcPts val="1800"/>
              </a:lnSpc>
              <a:buNone/>
            </a:pPr>
            <a:r>
              <a:rPr lang="en-US" sz="1300" b="1" dirty="0">
                <a:solidFill>
                  <a:srgbClr val="384653"/>
                </a:solidFill>
                <a:latin typeface="Roboto" pitchFamily="34" charset="0"/>
                <a:ea typeface="Roboto" pitchFamily="34" charset="-122"/>
                <a:cs typeface="Roboto" pitchFamily="34" charset="-120"/>
              </a:rPr>
              <a:t>Data Quality &amp; Completeness:</a:t>
            </a:r>
            <a:r>
              <a:rPr lang="en-US" sz="1300" dirty="0">
                <a:solidFill>
                  <a:srgbClr val="384653"/>
                </a:solidFill>
                <a:latin typeface="Roboto" pitchFamily="34" charset="0"/>
                <a:ea typeface="Roboto" pitchFamily="34" charset="-122"/>
                <a:cs typeface="Roboto" pitchFamily="34" charset="-120"/>
              </a:rPr>
              <a:t> The dataset demonstrates strong data integrity with minimal missing values and consistent formatting across all fields. Temporal coverage spans multiple years, providing sufficient historical depth for trend analysis and seasonal pattern recognition. Geographic distribution includes multiple cities, enabling regional comparative analysis for targeted healthcare interventions.</a:t>
            </a:r>
            <a:endParaRPr lang="en-US" sz="1300" dirty="0"/>
          </a:p>
        </p:txBody>
      </p:sp>
      <p:sp>
        <p:nvSpPr>
          <p:cNvPr id="20" name="Text 18"/>
          <p:cNvSpPr/>
          <p:nvPr/>
        </p:nvSpPr>
        <p:spPr>
          <a:xfrm>
            <a:off x="793790" y="7025283"/>
            <a:ext cx="13042821" cy="468154"/>
          </a:xfrm>
          <a:prstGeom prst="rect">
            <a:avLst/>
          </a:prstGeom>
          <a:noFill/>
          <a:ln/>
        </p:spPr>
        <p:txBody>
          <a:bodyPr wrap="square" lIns="0" tIns="0" rIns="0" bIns="0" rtlCol="0" anchor="t"/>
          <a:lstStyle/>
          <a:p>
            <a:pPr marL="0" indent="0" algn="l">
              <a:lnSpc>
                <a:spcPts val="1800"/>
              </a:lnSpc>
              <a:buNone/>
            </a:pPr>
            <a:r>
              <a:rPr lang="en-US" sz="1300" b="1" dirty="0">
                <a:solidFill>
                  <a:srgbClr val="384653"/>
                </a:solidFill>
                <a:latin typeface="Roboto" pitchFamily="34" charset="0"/>
                <a:ea typeface="Roboto" pitchFamily="34" charset="-122"/>
                <a:cs typeface="Roboto" pitchFamily="34" charset="-120"/>
              </a:rPr>
              <a:t>Key Observation:</a:t>
            </a:r>
            <a:r>
              <a:rPr lang="en-US" sz="1300" dirty="0">
                <a:solidFill>
                  <a:srgbClr val="384653"/>
                </a:solidFill>
                <a:latin typeface="Roboto" pitchFamily="34" charset="0"/>
                <a:ea typeface="Roboto" pitchFamily="34" charset="-122"/>
                <a:cs typeface="Roboto" pitchFamily="34" charset="-120"/>
              </a:rPr>
              <a:t> The admission-to-patient ratio of 1.12 indicates that many patients require multiple hospital visits, suggesting opportunities for preventive care strategies and chronic condition management programs.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777835"/>
            <a:ext cx="5329118" cy="527090"/>
          </a:xfrm>
          <a:prstGeom prst="rect">
            <a:avLst/>
          </a:prstGeom>
          <a:noFill/>
          <a:ln/>
        </p:spPr>
        <p:txBody>
          <a:bodyPr wrap="none" lIns="0" tIns="0" rIns="0" bIns="0" rtlCol="0" anchor="t"/>
          <a:lstStyle/>
          <a:p>
            <a:pPr marL="0" indent="0" algn="l">
              <a:lnSpc>
                <a:spcPts val="4150"/>
              </a:lnSpc>
              <a:buNone/>
            </a:pPr>
            <a:r>
              <a:rPr lang="en-US" sz="3300" dirty="0">
                <a:solidFill>
                  <a:srgbClr val="2E3C4E"/>
                </a:solidFill>
                <a:latin typeface="Host Grotesk Medium" pitchFamily="34" charset="0"/>
                <a:ea typeface="Host Grotesk Medium" pitchFamily="34" charset="-122"/>
                <a:cs typeface="Host Grotesk Medium" pitchFamily="34" charset="-120"/>
              </a:rPr>
              <a:t>Key Performance Indicators</a:t>
            </a:r>
            <a:endParaRPr lang="en-US" sz="3300" dirty="0"/>
          </a:p>
        </p:txBody>
      </p:sp>
      <p:sp>
        <p:nvSpPr>
          <p:cNvPr id="3" name="Text 1"/>
          <p:cNvSpPr/>
          <p:nvPr/>
        </p:nvSpPr>
        <p:spPr>
          <a:xfrm>
            <a:off x="793790" y="1878211"/>
            <a:ext cx="6736318" cy="421719"/>
          </a:xfrm>
          <a:prstGeom prst="rect">
            <a:avLst/>
          </a:prstGeom>
          <a:noFill/>
          <a:ln/>
        </p:spPr>
        <p:txBody>
          <a:bodyPr wrap="none" lIns="0" tIns="0" rIns="0" bIns="0" rtlCol="0" anchor="t"/>
          <a:lstStyle/>
          <a:p>
            <a:pPr marL="0" indent="0" algn="l">
              <a:lnSpc>
                <a:spcPts val="3300"/>
              </a:lnSpc>
              <a:buNone/>
            </a:pPr>
            <a:r>
              <a:rPr lang="en-US" sz="2650" dirty="0">
                <a:solidFill>
                  <a:srgbClr val="2E3C4E"/>
                </a:solidFill>
                <a:latin typeface="Host Grotesk Medium" pitchFamily="34" charset="0"/>
                <a:ea typeface="Host Grotesk Medium" pitchFamily="34" charset="-122"/>
                <a:cs typeface="Host Grotesk Medium" pitchFamily="34" charset="-120"/>
              </a:rPr>
              <a:t>Critical Insights Driving Healthcare Strategy</a:t>
            </a:r>
            <a:endParaRPr lang="en-US" sz="2650" dirty="0"/>
          </a:p>
        </p:txBody>
      </p:sp>
      <p:sp>
        <p:nvSpPr>
          <p:cNvPr id="4" name="Text 2"/>
          <p:cNvSpPr/>
          <p:nvPr/>
        </p:nvSpPr>
        <p:spPr>
          <a:xfrm>
            <a:off x="793790" y="2443282"/>
            <a:ext cx="6853833" cy="702231"/>
          </a:xfrm>
          <a:prstGeom prst="rect">
            <a:avLst/>
          </a:prstGeom>
          <a:noFill/>
          <a:ln/>
        </p:spPr>
        <p:txBody>
          <a:bodyPr wrap="square" lIns="0" tIns="0" rIns="0" bIns="0" rtlCol="0" anchor="t"/>
          <a:lstStyle/>
          <a:p>
            <a:pPr marL="0" indent="0" algn="l">
              <a:lnSpc>
                <a:spcPts val="1800"/>
              </a:lnSpc>
              <a:buNone/>
            </a:pPr>
            <a:r>
              <a:rPr lang="en-US" sz="1300" dirty="0">
                <a:solidFill>
                  <a:srgbClr val="384653"/>
                </a:solidFill>
                <a:latin typeface="Roboto" pitchFamily="34" charset="0"/>
                <a:ea typeface="Roboto" pitchFamily="34" charset="-122"/>
                <a:cs typeface="Roboto" pitchFamily="34" charset="-120"/>
              </a:rPr>
              <a:t>Our comprehensive analysis reveals four pivotal findings that demand immediate attention from hospital administrators and healthcare planners. These KPIs highlight both challenges and opportunities within the current healthcare delivery model.</a:t>
            </a:r>
            <a:endParaRPr lang="en-US" sz="1300" dirty="0"/>
          </a:p>
        </p:txBody>
      </p:sp>
      <p:sp>
        <p:nvSpPr>
          <p:cNvPr id="5" name="Text 3"/>
          <p:cNvSpPr/>
          <p:nvPr/>
        </p:nvSpPr>
        <p:spPr>
          <a:xfrm>
            <a:off x="793790" y="3274457"/>
            <a:ext cx="6853833" cy="1170384"/>
          </a:xfrm>
          <a:prstGeom prst="rect">
            <a:avLst/>
          </a:prstGeom>
          <a:noFill/>
          <a:ln/>
        </p:spPr>
        <p:txBody>
          <a:bodyPr wrap="square" lIns="0" tIns="0" rIns="0" bIns="0" rtlCol="0" anchor="t"/>
          <a:lstStyle/>
          <a:p>
            <a:pPr marL="0" indent="0" algn="l">
              <a:lnSpc>
                <a:spcPts val="1800"/>
              </a:lnSpc>
              <a:buNone/>
            </a:pPr>
            <a:r>
              <a:rPr lang="en-US" sz="1300" b="1" dirty="0">
                <a:solidFill>
                  <a:srgbClr val="384653"/>
                </a:solidFill>
                <a:latin typeface="Roboto" pitchFamily="34" charset="0"/>
                <a:ea typeface="Roboto" pitchFamily="34" charset="-122"/>
                <a:cs typeface="Roboto" pitchFamily="34" charset="-120"/>
              </a:rPr>
              <a:t>Strategic Implications:</a:t>
            </a:r>
            <a:r>
              <a:rPr lang="en-US" sz="1300" dirty="0">
                <a:solidFill>
                  <a:srgbClr val="384653"/>
                </a:solidFill>
                <a:latin typeface="Roboto" pitchFamily="34" charset="0"/>
                <a:ea typeface="Roboto" pitchFamily="34" charset="-122"/>
                <a:cs typeface="Roboto" pitchFamily="34" charset="-120"/>
              </a:rPr>
              <a:t> The combination of high obesity rates and elevated average BMI suggests that lifestyle-related chronic conditions likely drive a significant portion of admissions. This presents an opportunity for preventive care programs, nutritional counseling services, and community health education initiatives that could reduce long-term admission rates while improving patient outcomes.</a:t>
            </a:r>
            <a:endParaRPr lang="en-US" sz="1300" dirty="0"/>
          </a:p>
        </p:txBody>
      </p:sp>
      <p:pic>
        <p:nvPicPr>
          <p:cNvPr id="6" name="Image 0" descr="preencoded.png"/>
          <p:cNvPicPr>
            <a:picLocks noChangeAspect="1"/>
          </p:cNvPicPr>
          <p:nvPr/>
        </p:nvPicPr>
        <p:blipFill>
          <a:blip r:embed="rId3"/>
          <a:stretch>
            <a:fillRect/>
          </a:stretch>
        </p:blipFill>
        <p:spPr>
          <a:xfrm>
            <a:off x="8499991" y="1681163"/>
            <a:ext cx="4910733" cy="2946440"/>
          </a:xfrm>
          <a:prstGeom prst="rect">
            <a:avLst/>
          </a:prstGeom>
        </p:spPr>
      </p:pic>
      <p:sp>
        <p:nvSpPr>
          <p:cNvPr id="7" name="Shape 4"/>
          <p:cNvSpPr/>
          <p:nvPr/>
        </p:nvSpPr>
        <p:spPr>
          <a:xfrm>
            <a:off x="793790" y="4950023"/>
            <a:ext cx="3153132" cy="1638181"/>
          </a:xfrm>
          <a:prstGeom prst="roundRect">
            <a:avLst>
              <a:gd name="adj" fmla="val 4325"/>
            </a:avLst>
          </a:prstGeom>
          <a:solidFill>
            <a:srgbClr val="D9EDF2"/>
          </a:solidFill>
          <a:ln w="7620">
            <a:solidFill>
              <a:srgbClr val="BFD3D8"/>
            </a:solidFill>
            <a:prstDash val="solid"/>
          </a:ln>
        </p:spPr>
      </p:sp>
      <p:sp>
        <p:nvSpPr>
          <p:cNvPr id="8" name="Text 5"/>
          <p:cNvSpPr/>
          <p:nvPr/>
        </p:nvSpPr>
        <p:spPr>
          <a:xfrm>
            <a:off x="970002" y="5126236"/>
            <a:ext cx="2108716" cy="263485"/>
          </a:xfrm>
          <a:prstGeom prst="rect">
            <a:avLst/>
          </a:prstGeom>
          <a:noFill/>
          <a:ln/>
        </p:spPr>
        <p:txBody>
          <a:bodyPr wrap="none" lIns="0" tIns="0" rIns="0" bIns="0" rtlCol="0" anchor="t"/>
          <a:lstStyle/>
          <a:p>
            <a:pPr marL="0" indent="0" algn="l">
              <a:lnSpc>
                <a:spcPts val="2050"/>
              </a:lnSpc>
              <a:buNone/>
            </a:pPr>
            <a:r>
              <a:rPr lang="en-US" sz="1650" dirty="0">
                <a:solidFill>
                  <a:srgbClr val="384653"/>
                </a:solidFill>
                <a:latin typeface="Host Grotesk Medium" pitchFamily="34" charset="0"/>
                <a:ea typeface="Host Grotesk Medium" pitchFamily="34" charset="-122"/>
                <a:cs typeface="Host Grotesk Medium" pitchFamily="34" charset="-120"/>
              </a:rPr>
              <a:t>Obesity Crisis</a:t>
            </a:r>
            <a:endParaRPr lang="en-US" sz="1650" dirty="0"/>
          </a:p>
        </p:txBody>
      </p:sp>
      <p:sp>
        <p:nvSpPr>
          <p:cNvPr id="9" name="Text 6"/>
          <p:cNvSpPr/>
          <p:nvPr/>
        </p:nvSpPr>
        <p:spPr>
          <a:xfrm>
            <a:off x="970002" y="5475684"/>
            <a:ext cx="2800707" cy="936308"/>
          </a:xfrm>
          <a:prstGeom prst="rect">
            <a:avLst/>
          </a:prstGeom>
          <a:noFill/>
          <a:ln/>
        </p:spPr>
        <p:txBody>
          <a:bodyPr wrap="square" lIns="0" tIns="0" rIns="0" bIns="0" rtlCol="0" anchor="t"/>
          <a:lstStyle/>
          <a:p>
            <a:pPr marL="0" indent="0" algn="l">
              <a:lnSpc>
                <a:spcPts val="1800"/>
              </a:lnSpc>
              <a:buNone/>
            </a:pPr>
            <a:r>
              <a:rPr lang="en-US" sz="1300" dirty="0">
                <a:solidFill>
                  <a:srgbClr val="384653"/>
                </a:solidFill>
                <a:latin typeface="Roboto" pitchFamily="34" charset="0"/>
                <a:ea typeface="Roboto" pitchFamily="34" charset="-122"/>
                <a:cs typeface="Roboto" pitchFamily="34" charset="-120"/>
              </a:rPr>
              <a:t>Majority of patients classified as obese, indicating urgent need for preventive health programs and lifestyle intervention initiatives</a:t>
            </a:r>
            <a:endParaRPr lang="en-US" sz="1300" dirty="0"/>
          </a:p>
        </p:txBody>
      </p:sp>
      <p:sp>
        <p:nvSpPr>
          <p:cNvPr id="10" name="Shape 7"/>
          <p:cNvSpPr/>
          <p:nvPr/>
        </p:nvSpPr>
        <p:spPr>
          <a:xfrm>
            <a:off x="4090273" y="4950023"/>
            <a:ext cx="3153251" cy="1638181"/>
          </a:xfrm>
          <a:prstGeom prst="roundRect">
            <a:avLst>
              <a:gd name="adj" fmla="val 4325"/>
            </a:avLst>
          </a:prstGeom>
          <a:solidFill>
            <a:srgbClr val="D9EDF2"/>
          </a:solidFill>
          <a:ln w="7620">
            <a:solidFill>
              <a:srgbClr val="BFD3D8"/>
            </a:solidFill>
            <a:prstDash val="solid"/>
          </a:ln>
        </p:spPr>
      </p:sp>
      <p:sp>
        <p:nvSpPr>
          <p:cNvPr id="11" name="Text 8"/>
          <p:cNvSpPr/>
          <p:nvPr/>
        </p:nvSpPr>
        <p:spPr>
          <a:xfrm>
            <a:off x="4266486" y="5126236"/>
            <a:ext cx="2108716" cy="263485"/>
          </a:xfrm>
          <a:prstGeom prst="rect">
            <a:avLst/>
          </a:prstGeom>
          <a:noFill/>
          <a:ln/>
        </p:spPr>
        <p:txBody>
          <a:bodyPr wrap="none" lIns="0" tIns="0" rIns="0" bIns="0" rtlCol="0" anchor="t"/>
          <a:lstStyle/>
          <a:p>
            <a:pPr marL="0" indent="0" algn="l">
              <a:lnSpc>
                <a:spcPts val="2050"/>
              </a:lnSpc>
              <a:buNone/>
            </a:pPr>
            <a:r>
              <a:rPr lang="en-US" sz="1650" dirty="0">
                <a:solidFill>
                  <a:srgbClr val="384653"/>
                </a:solidFill>
                <a:latin typeface="Host Grotesk Medium" pitchFamily="34" charset="0"/>
                <a:ea typeface="Host Grotesk Medium" pitchFamily="34" charset="-122"/>
                <a:cs typeface="Host Grotesk Medium" pitchFamily="34" charset="-120"/>
              </a:rPr>
              <a:t>Elevated BMI Average</a:t>
            </a:r>
            <a:endParaRPr lang="en-US" sz="1650" dirty="0"/>
          </a:p>
        </p:txBody>
      </p:sp>
      <p:sp>
        <p:nvSpPr>
          <p:cNvPr id="12" name="Text 9"/>
          <p:cNvSpPr/>
          <p:nvPr/>
        </p:nvSpPr>
        <p:spPr>
          <a:xfrm>
            <a:off x="4266486" y="5475684"/>
            <a:ext cx="2800826" cy="936308"/>
          </a:xfrm>
          <a:prstGeom prst="rect">
            <a:avLst/>
          </a:prstGeom>
          <a:noFill/>
          <a:ln/>
        </p:spPr>
        <p:txBody>
          <a:bodyPr wrap="square" lIns="0" tIns="0" rIns="0" bIns="0" rtlCol="0" anchor="t"/>
          <a:lstStyle/>
          <a:p>
            <a:pPr marL="0" indent="0" algn="l">
              <a:lnSpc>
                <a:spcPts val="1800"/>
              </a:lnSpc>
              <a:buNone/>
            </a:pPr>
            <a:r>
              <a:rPr lang="en-US" sz="1300" dirty="0">
                <a:solidFill>
                  <a:srgbClr val="384653"/>
                </a:solidFill>
                <a:latin typeface="Roboto" pitchFamily="34" charset="0"/>
                <a:ea typeface="Roboto" pitchFamily="34" charset="-122"/>
                <a:cs typeface="Roboto" pitchFamily="34" charset="-120"/>
              </a:rPr>
              <a:t>Average BMI of 30.54 exceeds healthy threshold, correlating with increased risk for chronic diseases and complications</a:t>
            </a:r>
            <a:endParaRPr lang="en-US" sz="1300" dirty="0"/>
          </a:p>
        </p:txBody>
      </p:sp>
      <p:sp>
        <p:nvSpPr>
          <p:cNvPr id="13" name="Shape 10"/>
          <p:cNvSpPr/>
          <p:nvPr/>
        </p:nvSpPr>
        <p:spPr>
          <a:xfrm>
            <a:off x="7386876" y="4950023"/>
            <a:ext cx="3153132" cy="1638181"/>
          </a:xfrm>
          <a:prstGeom prst="roundRect">
            <a:avLst>
              <a:gd name="adj" fmla="val 4325"/>
            </a:avLst>
          </a:prstGeom>
          <a:solidFill>
            <a:srgbClr val="D9EDF2"/>
          </a:solidFill>
          <a:ln w="7620">
            <a:solidFill>
              <a:srgbClr val="BFD3D8"/>
            </a:solidFill>
            <a:prstDash val="solid"/>
          </a:ln>
        </p:spPr>
      </p:sp>
      <p:sp>
        <p:nvSpPr>
          <p:cNvPr id="14" name="Text 11"/>
          <p:cNvSpPr/>
          <p:nvPr/>
        </p:nvSpPr>
        <p:spPr>
          <a:xfrm>
            <a:off x="7563088" y="5126236"/>
            <a:ext cx="2235994" cy="263485"/>
          </a:xfrm>
          <a:prstGeom prst="rect">
            <a:avLst/>
          </a:prstGeom>
          <a:noFill/>
          <a:ln/>
        </p:spPr>
        <p:txBody>
          <a:bodyPr wrap="none" lIns="0" tIns="0" rIns="0" bIns="0" rtlCol="0" anchor="t"/>
          <a:lstStyle/>
          <a:p>
            <a:pPr marL="0" indent="0" algn="l">
              <a:lnSpc>
                <a:spcPts val="2050"/>
              </a:lnSpc>
              <a:buNone/>
            </a:pPr>
            <a:r>
              <a:rPr lang="en-US" sz="1650" dirty="0">
                <a:solidFill>
                  <a:srgbClr val="384653"/>
                </a:solidFill>
                <a:latin typeface="Host Grotesk Medium" pitchFamily="34" charset="0"/>
                <a:ea typeface="Host Grotesk Medium" pitchFamily="34" charset="-122"/>
                <a:cs typeface="Host Grotesk Medium" pitchFamily="34" charset="-120"/>
              </a:rPr>
              <a:t>Steady Admission Flow</a:t>
            </a:r>
            <a:endParaRPr lang="en-US" sz="1650" dirty="0"/>
          </a:p>
        </p:txBody>
      </p:sp>
      <p:sp>
        <p:nvSpPr>
          <p:cNvPr id="15" name="Text 12"/>
          <p:cNvSpPr/>
          <p:nvPr/>
        </p:nvSpPr>
        <p:spPr>
          <a:xfrm>
            <a:off x="7563088" y="5475684"/>
            <a:ext cx="2800707" cy="936308"/>
          </a:xfrm>
          <a:prstGeom prst="rect">
            <a:avLst/>
          </a:prstGeom>
          <a:noFill/>
          <a:ln/>
        </p:spPr>
        <p:txBody>
          <a:bodyPr wrap="square" lIns="0" tIns="0" rIns="0" bIns="0" rtlCol="0" anchor="t"/>
          <a:lstStyle/>
          <a:p>
            <a:pPr marL="0" indent="0" algn="l">
              <a:lnSpc>
                <a:spcPts val="1800"/>
              </a:lnSpc>
              <a:buNone/>
            </a:pPr>
            <a:r>
              <a:rPr lang="en-US" sz="1300" dirty="0">
                <a:solidFill>
                  <a:srgbClr val="384653"/>
                </a:solidFill>
                <a:latin typeface="Roboto" pitchFamily="34" charset="0"/>
                <a:ea typeface="Roboto" pitchFamily="34" charset="-122"/>
                <a:cs typeface="Roboto" pitchFamily="34" charset="-120"/>
              </a:rPr>
              <a:t>Consistent admissions throughout the year enable predictable resource planning but limit seasonal staff flexibility</a:t>
            </a:r>
            <a:endParaRPr lang="en-US" sz="1300" dirty="0"/>
          </a:p>
        </p:txBody>
      </p:sp>
      <p:sp>
        <p:nvSpPr>
          <p:cNvPr id="16" name="Shape 13"/>
          <p:cNvSpPr/>
          <p:nvPr/>
        </p:nvSpPr>
        <p:spPr>
          <a:xfrm>
            <a:off x="10683359" y="4950023"/>
            <a:ext cx="3153251" cy="1638181"/>
          </a:xfrm>
          <a:prstGeom prst="roundRect">
            <a:avLst>
              <a:gd name="adj" fmla="val 4325"/>
            </a:avLst>
          </a:prstGeom>
          <a:solidFill>
            <a:srgbClr val="D9EDF2"/>
          </a:solidFill>
          <a:ln w="7620">
            <a:solidFill>
              <a:srgbClr val="BFD3D8"/>
            </a:solidFill>
            <a:prstDash val="solid"/>
          </a:ln>
        </p:spPr>
      </p:sp>
      <p:sp>
        <p:nvSpPr>
          <p:cNvPr id="17" name="Text 14"/>
          <p:cNvSpPr/>
          <p:nvPr/>
        </p:nvSpPr>
        <p:spPr>
          <a:xfrm>
            <a:off x="10859572" y="5126236"/>
            <a:ext cx="2108716" cy="263485"/>
          </a:xfrm>
          <a:prstGeom prst="rect">
            <a:avLst/>
          </a:prstGeom>
          <a:noFill/>
          <a:ln/>
        </p:spPr>
        <p:txBody>
          <a:bodyPr wrap="none" lIns="0" tIns="0" rIns="0" bIns="0" rtlCol="0" anchor="t"/>
          <a:lstStyle/>
          <a:p>
            <a:pPr marL="0" indent="0" algn="l">
              <a:lnSpc>
                <a:spcPts val="2050"/>
              </a:lnSpc>
              <a:buNone/>
            </a:pPr>
            <a:r>
              <a:rPr lang="en-US" sz="1650" dirty="0">
                <a:solidFill>
                  <a:srgbClr val="384653"/>
                </a:solidFill>
                <a:latin typeface="Host Grotesk Medium" pitchFamily="34" charset="0"/>
                <a:ea typeface="Host Grotesk Medium" pitchFamily="34" charset="-122"/>
                <a:cs typeface="Host Grotesk Medium" pitchFamily="34" charset="-120"/>
              </a:rPr>
              <a:t>Workload Imbalance</a:t>
            </a:r>
            <a:endParaRPr lang="en-US" sz="1650" dirty="0"/>
          </a:p>
        </p:txBody>
      </p:sp>
      <p:sp>
        <p:nvSpPr>
          <p:cNvPr id="18" name="Text 15"/>
          <p:cNvSpPr/>
          <p:nvPr/>
        </p:nvSpPr>
        <p:spPr>
          <a:xfrm>
            <a:off x="10859572" y="5475684"/>
            <a:ext cx="2800826" cy="936308"/>
          </a:xfrm>
          <a:prstGeom prst="rect">
            <a:avLst/>
          </a:prstGeom>
          <a:noFill/>
          <a:ln/>
        </p:spPr>
        <p:txBody>
          <a:bodyPr wrap="square" lIns="0" tIns="0" rIns="0" bIns="0" rtlCol="0" anchor="t"/>
          <a:lstStyle/>
          <a:p>
            <a:pPr marL="0" indent="0" algn="l">
              <a:lnSpc>
                <a:spcPts val="1800"/>
              </a:lnSpc>
              <a:buNone/>
            </a:pPr>
            <a:r>
              <a:rPr lang="en-US" sz="1300" dirty="0">
                <a:solidFill>
                  <a:srgbClr val="384653"/>
                </a:solidFill>
                <a:latin typeface="Roboto" pitchFamily="34" charset="0"/>
                <a:ea typeface="Roboto" pitchFamily="34" charset="-122"/>
                <a:cs typeface="Roboto" pitchFamily="34" charset="-120"/>
              </a:rPr>
              <a:t>Uneven distribution of patients across doctors creates inefficiency and potential burnout among high-volume providers</a:t>
            </a:r>
            <a:endParaRPr lang="en-US" sz="1300" dirty="0"/>
          </a:p>
        </p:txBody>
      </p:sp>
      <p:sp>
        <p:nvSpPr>
          <p:cNvPr id="19" name="Text 16"/>
          <p:cNvSpPr/>
          <p:nvPr/>
        </p:nvSpPr>
        <p:spPr>
          <a:xfrm>
            <a:off x="793790" y="6749415"/>
            <a:ext cx="13042821" cy="702231"/>
          </a:xfrm>
          <a:prstGeom prst="rect">
            <a:avLst/>
          </a:prstGeom>
          <a:noFill/>
          <a:ln/>
        </p:spPr>
        <p:txBody>
          <a:bodyPr wrap="square" lIns="0" tIns="0" rIns="0" bIns="0" rtlCol="0" anchor="t"/>
          <a:lstStyle/>
          <a:p>
            <a:pPr marL="0" indent="0" algn="l">
              <a:lnSpc>
                <a:spcPts val="1800"/>
              </a:lnSpc>
              <a:buNone/>
            </a:pPr>
            <a:r>
              <a:rPr lang="en-US" sz="1300" b="1" dirty="0">
                <a:solidFill>
                  <a:srgbClr val="384653"/>
                </a:solidFill>
                <a:latin typeface="Roboto" pitchFamily="34" charset="0"/>
                <a:ea typeface="Roboto" pitchFamily="34" charset="-122"/>
                <a:cs typeface="Roboto" pitchFamily="34" charset="-120"/>
              </a:rPr>
              <a:t>Operational Considerations:</a:t>
            </a:r>
            <a:r>
              <a:rPr lang="en-US" sz="1300" dirty="0">
                <a:solidFill>
                  <a:srgbClr val="384653"/>
                </a:solidFill>
                <a:latin typeface="Roboto" pitchFamily="34" charset="0"/>
                <a:ea typeface="Roboto" pitchFamily="34" charset="-122"/>
                <a:cs typeface="Roboto" pitchFamily="34" charset="-120"/>
              </a:rPr>
              <a:t> The consistent year-round admission pattern indicates stable demand but may mask underlying seasonal variations in specific diagnoses or patient demographics. The uneven doctor workload suggests opportunities for improved patient routing algorithms and capacity balancing strategies that could enhance both provider satisfaction and patient care quality.</a:t>
            </a:r>
            <a:endParaRPr lang="en-US" sz="1300" dirty="0"/>
          </a:p>
        </p:txBody>
      </p:sp>
      <mc:AlternateContent xmlns:mc="http://schemas.openxmlformats.org/markup-compatibility/2006" xmlns:p14="http://schemas.microsoft.com/office/powerpoint/2010/main" xmlns:aink="http://schemas.microsoft.com/office/drawing/2016/ink">
        <mc:Choice Requires="p14 aink">
          <p:contentPart p14:bwMode="auto" r:id="rId4">
            <p14:nvContentPartPr>
              <p14:cNvPr id="20" name="Ink 19">
                <a:extLst>
                  <a:ext uri="{FF2B5EF4-FFF2-40B4-BE49-F238E27FC236}">
                    <a16:creationId xmlns:a16="http://schemas.microsoft.com/office/drawing/2014/main" id="{3FB3D0F9-6764-756C-0F8D-20F5027A9787}"/>
                  </a:ext>
                </a:extLst>
              </p14:cNvPr>
              <p14:cNvContentPartPr/>
              <p14:nvPr/>
            </p14:nvContentPartPr>
            <p14:xfrm>
              <a:off x="-1571252" y="972600"/>
              <a:ext cx="360" cy="360"/>
            </p14:xfrm>
          </p:contentPart>
        </mc:Choice>
        <mc:Fallback xmlns="">
          <p:pic>
            <p:nvPicPr>
              <p:cNvPr id="20" name="Ink 19">
                <a:extLst>
                  <a:ext uri="{FF2B5EF4-FFF2-40B4-BE49-F238E27FC236}">
                    <a16:creationId xmlns:a16="http://schemas.microsoft.com/office/drawing/2014/main" id="{3FB3D0F9-6764-756C-0F8D-20F5027A9787}"/>
                  </a:ext>
                </a:extLst>
              </p:cNvPr>
              <p:cNvPicPr/>
              <p:nvPr/>
            </p:nvPicPr>
            <p:blipFill>
              <a:blip r:embed="rId5"/>
              <a:stretch>
                <a:fillRect/>
              </a:stretch>
            </p:blipFill>
            <p:spPr>
              <a:xfrm>
                <a:off x="-1580252" y="963960"/>
                <a:ext cx="18000" cy="18000"/>
              </a:xfrm>
              <a:prstGeom prst="rect">
                <a:avLst/>
              </a:prstGeom>
            </p:spPr>
          </p:pic>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698659"/>
            <a:ext cx="4197787" cy="496133"/>
          </a:xfrm>
          <a:prstGeom prst="rect">
            <a:avLst/>
          </a:prstGeom>
          <a:noFill/>
          <a:ln/>
        </p:spPr>
        <p:txBody>
          <a:bodyPr wrap="none" lIns="0" tIns="0" rIns="0" bIns="0" rtlCol="0" anchor="t"/>
          <a:lstStyle/>
          <a:p>
            <a:pPr marL="0" indent="0" algn="l">
              <a:lnSpc>
                <a:spcPts val="3900"/>
              </a:lnSpc>
              <a:buNone/>
            </a:pPr>
            <a:r>
              <a:rPr lang="en-US" sz="3100" dirty="0">
                <a:solidFill>
                  <a:srgbClr val="2E3C4E"/>
                </a:solidFill>
                <a:latin typeface="Host Grotesk Medium" pitchFamily="34" charset="0"/>
                <a:ea typeface="Host Grotesk Medium" pitchFamily="34" charset="-122"/>
                <a:cs typeface="Host Grotesk Medium" pitchFamily="34" charset="-120"/>
              </a:rPr>
              <a:t>BMI &amp; Obesity Analysis</a:t>
            </a:r>
            <a:endParaRPr lang="en-US" sz="3100" dirty="0"/>
          </a:p>
        </p:txBody>
      </p:sp>
      <p:sp>
        <p:nvSpPr>
          <p:cNvPr id="3" name="Text 1"/>
          <p:cNvSpPr/>
          <p:nvPr/>
        </p:nvSpPr>
        <p:spPr>
          <a:xfrm>
            <a:off x="793790" y="1245513"/>
            <a:ext cx="6396395" cy="396835"/>
          </a:xfrm>
          <a:prstGeom prst="rect">
            <a:avLst/>
          </a:prstGeom>
          <a:noFill/>
          <a:ln/>
        </p:spPr>
        <p:txBody>
          <a:bodyPr wrap="none" lIns="0" tIns="0" rIns="0" bIns="0" rtlCol="0" anchor="t"/>
          <a:lstStyle/>
          <a:p>
            <a:pPr marL="0" indent="0" algn="l">
              <a:lnSpc>
                <a:spcPts val="3100"/>
              </a:lnSpc>
              <a:buNone/>
            </a:pPr>
            <a:r>
              <a:rPr lang="en-US" sz="2500" dirty="0">
                <a:solidFill>
                  <a:srgbClr val="2E3C4E"/>
                </a:solidFill>
                <a:latin typeface="Host Grotesk Medium" pitchFamily="34" charset="0"/>
                <a:ea typeface="Host Grotesk Medium" pitchFamily="34" charset="-122"/>
                <a:cs typeface="Host Grotesk Medium" pitchFamily="34" charset="-120"/>
              </a:rPr>
              <a:t>Alarming Trends in Patient Body Mass Index</a:t>
            </a:r>
            <a:endParaRPr lang="en-US" sz="2500" dirty="0"/>
          </a:p>
        </p:txBody>
      </p:sp>
      <p:sp>
        <p:nvSpPr>
          <p:cNvPr id="4" name="Text 2"/>
          <p:cNvSpPr/>
          <p:nvPr/>
        </p:nvSpPr>
        <p:spPr>
          <a:xfrm>
            <a:off x="793790" y="1832848"/>
            <a:ext cx="13042821" cy="428625"/>
          </a:xfrm>
          <a:prstGeom prst="rect">
            <a:avLst/>
          </a:prstGeom>
          <a:noFill/>
          <a:ln/>
        </p:spPr>
        <p:txBody>
          <a:bodyPr wrap="square" lIns="0" tIns="0" rIns="0" bIns="0" rtlCol="0" anchor="t"/>
          <a:lstStyle/>
          <a:p>
            <a:pPr marL="0" indent="0" algn="l">
              <a:lnSpc>
                <a:spcPts val="1650"/>
              </a:lnSpc>
              <a:buNone/>
            </a:pPr>
            <a:r>
              <a:rPr lang="en-US" sz="1250" dirty="0">
                <a:solidFill>
                  <a:srgbClr val="384653"/>
                </a:solidFill>
                <a:latin typeface="Roboto" pitchFamily="34" charset="0"/>
                <a:ea typeface="Roboto" pitchFamily="34" charset="-122"/>
                <a:cs typeface="Roboto" pitchFamily="34" charset="-120"/>
              </a:rPr>
              <a:t>Our body mass index analysis reveals a concerning health profile within the patient population, with obesity representing the predominant category. This finding has significant implications for healthcare resource allocation, chronic disease management, and preventive care strategy development.</a:t>
            </a:r>
            <a:endParaRPr lang="en-US" sz="1250" dirty="0"/>
          </a:p>
        </p:txBody>
      </p:sp>
      <p:sp>
        <p:nvSpPr>
          <p:cNvPr id="5" name="Text 3"/>
          <p:cNvSpPr/>
          <p:nvPr/>
        </p:nvSpPr>
        <p:spPr>
          <a:xfrm>
            <a:off x="1938099" y="3436263"/>
            <a:ext cx="1952863" cy="396835"/>
          </a:xfrm>
          <a:prstGeom prst="rect">
            <a:avLst/>
          </a:prstGeom>
          <a:noFill/>
          <a:ln/>
        </p:spPr>
        <p:txBody>
          <a:bodyPr wrap="none" lIns="0" tIns="0" rIns="0" bIns="0" rtlCol="0" anchor="t"/>
          <a:lstStyle/>
          <a:p>
            <a:pPr marL="0" indent="0" algn="ctr">
              <a:lnSpc>
                <a:spcPts val="3100"/>
              </a:lnSpc>
              <a:buNone/>
            </a:pPr>
            <a:r>
              <a:rPr lang="en-US" sz="3100" dirty="0">
                <a:solidFill>
                  <a:srgbClr val="384653"/>
                </a:solidFill>
                <a:latin typeface="Host Grotesk Medium" pitchFamily="34" charset="0"/>
                <a:ea typeface="Host Grotesk Medium" pitchFamily="34" charset="-122"/>
                <a:cs typeface="Host Grotesk Medium" pitchFamily="34" charset="-120"/>
              </a:rPr>
              <a:t>51%</a:t>
            </a:r>
            <a:endParaRPr lang="en-US" sz="3100" dirty="0"/>
          </a:p>
        </p:txBody>
      </p:sp>
      <p:pic>
        <p:nvPicPr>
          <p:cNvPr id="6" name="Image 0" descr="preencoded.png"/>
          <p:cNvPicPr>
            <a:picLocks noChangeAspect="1"/>
          </p:cNvPicPr>
          <p:nvPr/>
        </p:nvPicPr>
        <p:blipFill>
          <a:blip r:embed="rId3"/>
          <a:stretch>
            <a:fillRect/>
          </a:stretch>
        </p:blipFill>
        <p:spPr>
          <a:xfrm>
            <a:off x="1723787" y="2443996"/>
            <a:ext cx="2381607" cy="2381607"/>
          </a:xfrm>
          <a:prstGeom prst="rect">
            <a:avLst/>
          </a:prstGeom>
        </p:spPr>
      </p:pic>
      <p:sp>
        <p:nvSpPr>
          <p:cNvPr id="7" name="Text 4"/>
          <p:cNvSpPr/>
          <p:nvPr/>
        </p:nvSpPr>
        <p:spPr>
          <a:xfrm>
            <a:off x="1922264" y="4992172"/>
            <a:ext cx="1984653" cy="248007"/>
          </a:xfrm>
          <a:prstGeom prst="rect">
            <a:avLst/>
          </a:prstGeom>
          <a:noFill/>
          <a:ln/>
        </p:spPr>
        <p:txBody>
          <a:bodyPr wrap="none" lIns="0" tIns="0" rIns="0" bIns="0" rtlCol="0" anchor="t"/>
          <a:lstStyle/>
          <a:p>
            <a:pPr marL="0" indent="0" algn="ctr">
              <a:lnSpc>
                <a:spcPts val="1950"/>
              </a:lnSpc>
              <a:buNone/>
            </a:pPr>
            <a:r>
              <a:rPr lang="en-US" sz="1550" dirty="0">
                <a:solidFill>
                  <a:srgbClr val="384653"/>
                </a:solidFill>
                <a:latin typeface="Host Grotesk Medium" pitchFamily="34" charset="0"/>
                <a:ea typeface="Host Grotesk Medium" pitchFamily="34" charset="-122"/>
                <a:cs typeface="Host Grotesk Medium" pitchFamily="34" charset="-120"/>
              </a:rPr>
              <a:t>Obese Patients</a:t>
            </a:r>
            <a:endParaRPr lang="en-US" sz="1550" dirty="0"/>
          </a:p>
        </p:txBody>
      </p:sp>
      <p:sp>
        <p:nvSpPr>
          <p:cNvPr id="8" name="Text 5"/>
          <p:cNvSpPr/>
          <p:nvPr/>
        </p:nvSpPr>
        <p:spPr>
          <a:xfrm>
            <a:off x="793790" y="5316379"/>
            <a:ext cx="4241721" cy="428625"/>
          </a:xfrm>
          <a:prstGeom prst="rect">
            <a:avLst/>
          </a:prstGeom>
          <a:noFill/>
          <a:ln/>
        </p:spPr>
        <p:txBody>
          <a:bodyPr wrap="square" lIns="0" tIns="0" rIns="0" bIns="0" rtlCol="0" anchor="t"/>
          <a:lstStyle/>
          <a:p>
            <a:pPr marL="0" indent="0" algn="ctr">
              <a:lnSpc>
                <a:spcPts val="1650"/>
              </a:lnSpc>
              <a:buNone/>
            </a:pPr>
            <a:r>
              <a:rPr lang="en-US" sz="1250" dirty="0">
                <a:solidFill>
                  <a:srgbClr val="384653"/>
                </a:solidFill>
                <a:latin typeface="Roboto" pitchFamily="34" charset="0"/>
                <a:ea typeface="Roboto" pitchFamily="34" charset="-122"/>
                <a:cs typeface="Roboto" pitchFamily="34" charset="-120"/>
              </a:rPr>
              <a:t>Over half the patient population falls into the obese category (BMI ≥ 30)</a:t>
            </a:r>
            <a:endParaRPr lang="en-US" sz="1250" dirty="0"/>
          </a:p>
        </p:txBody>
      </p:sp>
      <p:sp>
        <p:nvSpPr>
          <p:cNvPr id="9" name="Text 6"/>
          <p:cNvSpPr/>
          <p:nvPr/>
        </p:nvSpPr>
        <p:spPr>
          <a:xfrm>
            <a:off x="6338649" y="3436263"/>
            <a:ext cx="1952863" cy="396835"/>
          </a:xfrm>
          <a:prstGeom prst="rect">
            <a:avLst/>
          </a:prstGeom>
          <a:noFill/>
          <a:ln/>
        </p:spPr>
        <p:txBody>
          <a:bodyPr wrap="none" lIns="0" tIns="0" rIns="0" bIns="0" rtlCol="0" anchor="t"/>
          <a:lstStyle/>
          <a:p>
            <a:pPr marL="0" indent="0" algn="ctr">
              <a:lnSpc>
                <a:spcPts val="3100"/>
              </a:lnSpc>
              <a:buNone/>
            </a:pPr>
            <a:r>
              <a:rPr lang="en-US" sz="3100" dirty="0">
                <a:solidFill>
                  <a:srgbClr val="384653"/>
                </a:solidFill>
                <a:latin typeface="Host Grotesk Medium" pitchFamily="34" charset="0"/>
                <a:ea typeface="Host Grotesk Medium" pitchFamily="34" charset="-122"/>
                <a:cs typeface="Host Grotesk Medium" pitchFamily="34" charset="-120"/>
              </a:rPr>
              <a:t>73%</a:t>
            </a:r>
            <a:endParaRPr lang="en-US" sz="3100" dirty="0"/>
          </a:p>
        </p:txBody>
      </p:sp>
      <p:pic>
        <p:nvPicPr>
          <p:cNvPr id="10" name="Image 1" descr="preencoded.png"/>
          <p:cNvPicPr>
            <a:picLocks noChangeAspect="1"/>
          </p:cNvPicPr>
          <p:nvPr/>
        </p:nvPicPr>
        <p:blipFill>
          <a:blip r:embed="rId4"/>
          <a:stretch>
            <a:fillRect/>
          </a:stretch>
        </p:blipFill>
        <p:spPr>
          <a:xfrm>
            <a:off x="6124337" y="2443996"/>
            <a:ext cx="2381607" cy="2381607"/>
          </a:xfrm>
          <a:prstGeom prst="rect">
            <a:avLst/>
          </a:prstGeom>
        </p:spPr>
      </p:pic>
      <p:sp>
        <p:nvSpPr>
          <p:cNvPr id="11" name="Text 7"/>
          <p:cNvSpPr/>
          <p:nvPr/>
        </p:nvSpPr>
        <p:spPr>
          <a:xfrm>
            <a:off x="6304598" y="4992172"/>
            <a:ext cx="2020967" cy="248007"/>
          </a:xfrm>
          <a:prstGeom prst="rect">
            <a:avLst/>
          </a:prstGeom>
          <a:noFill/>
          <a:ln/>
        </p:spPr>
        <p:txBody>
          <a:bodyPr wrap="none" lIns="0" tIns="0" rIns="0" bIns="0" rtlCol="0" anchor="t"/>
          <a:lstStyle/>
          <a:p>
            <a:pPr marL="0" indent="0" algn="ctr">
              <a:lnSpc>
                <a:spcPts val="1950"/>
              </a:lnSpc>
              <a:buNone/>
            </a:pPr>
            <a:r>
              <a:rPr lang="en-US" sz="1550" dirty="0">
                <a:solidFill>
                  <a:srgbClr val="384653"/>
                </a:solidFill>
                <a:latin typeface="Host Grotesk Medium" pitchFamily="34" charset="0"/>
                <a:ea typeface="Host Grotesk Medium" pitchFamily="34" charset="-122"/>
                <a:cs typeface="Host Grotesk Medium" pitchFamily="34" charset="-120"/>
              </a:rPr>
              <a:t>Above Healthy Weight</a:t>
            </a:r>
            <a:endParaRPr lang="en-US" sz="1550" dirty="0"/>
          </a:p>
        </p:txBody>
      </p:sp>
      <p:sp>
        <p:nvSpPr>
          <p:cNvPr id="12" name="Text 8"/>
          <p:cNvSpPr/>
          <p:nvPr/>
        </p:nvSpPr>
        <p:spPr>
          <a:xfrm>
            <a:off x="5194221" y="5316379"/>
            <a:ext cx="4241840" cy="428625"/>
          </a:xfrm>
          <a:prstGeom prst="rect">
            <a:avLst/>
          </a:prstGeom>
          <a:noFill/>
          <a:ln/>
        </p:spPr>
        <p:txBody>
          <a:bodyPr wrap="square" lIns="0" tIns="0" rIns="0" bIns="0" rtlCol="0" anchor="t"/>
          <a:lstStyle/>
          <a:p>
            <a:pPr marL="0" indent="0" algn="ctr">
              <a:lnSpc>
                <a:spcPts val="1650"/>
              </a:lnSpc>
              <a:buNone/>
            </a:pPr>
            <a:r>
              <a:rPr lang="en-US" sz="1250" dirty="0">
                <a:solidFill>
                  <a:srgbClr val="384653"/>
                </a:solidFill>
                <a:latin typeface="Roboto" pitchFamily="34" charset="0"/>
                <a:ea typeface="Roboto" pitchFamily="34" charset="-122"/>
                <a:cs typeface="Roboto" pitchFamily="34" charset="-120"/>
              </a:rPr>
              <a:t>Combined overweight and obese categories dominate the patient population</a:t>
            </a:r>
            <a:endParaRPr lang="en-US" sz="1250" dirty="0"/>
          </a:p>
        </p:txBody>
      </p:sp>
      <p:sp>
        <p:nvSpPr>
          <p:cNvPr id="13" name="Text 9"/>
          <p:cNvSpPr/>
          <p:nvPr/>
        </p:nvSpPr>
        <p:spPr>
          <a:xfrm>
            <a:off x="10739080" y="3436263"/>
            <a:ext cx="1952863" cy="396835"/>
          </a:xfrm>
          <a:prstGeom prst="rect">
            <a:avLst/>
          </a:prstGeom>
          <a:noFill/>
          <a:ln/>
        </p:spPr>
        <p:txBody>
          <a:bodyPr wrap="none" lIns="0" tIns="0" rIns="0" bIns="0" rtlCol="0" anchor="t"/>
          <a:lstStyle/>
          <a:p>
            <a:pPr marL="0" indent="0" algn="ctr">
              <a:lnSpc>
                <a:spcPts val="3100"/>
              </a:lnSpc>
              <a:buNone/>
            </a:pPr>
            <a:r>
              <a:rPr lang="en-US" sz="3100" dirty="0">
                <a:solidFill>
                  <a:srgbClr val="384653"/>
                </a:solidFill>
                <a:latin typeface="Host Grotesk Medium" pitchFamily="34" charset="0"/>
                <a:ea typeface="Host Grotesk Medium" pitchFamily="34" charset="-122"/>
                <a:cs typeface="Host Grotesk Medium" pitchFamily="34" charset="-120"/>
              </a:rPr>
              <a:t>30.54</a:t>
            </a:r>
            <a:endParaRPr lang="en-US" sz="3100" dirty="0"/>
          </a:p>
        </p:txBody>
      </p:sp>
      <p:pic>
        <p:nvPicPr>
          <p:cNvPr id="14" name="Image 2" descr="preencoded.png"/>
          <p:cNvPicPr>
            <a:picLocks noChangeAspect="1"/>
          </p:cNvPicPr>
          <p:nvPr/>
        </p:nvPicPr>
        <p:blipFill>
          <a:blip r:embed="rId5"/>
          <a:stretch>
            <a:fillRect/>
          </a:stretch>
        </p:blipFill>
        <p:spPr>
          <a:xfrm>
            <a:off x="10524768" y="2443996"/>
            <a:ext cx="2381607" cy="2381607"/>
          </a:xfrm>
          <a:prstGeom prst="rect">
            <a:avLst/>
          </a:prstGeom>
        </p:spPr>
      </p:pic>
      <p:sp>
        <p:nvSpPr>
          <p:cNvPr id="15" name="Text 10"/>
          <p:cNvSpPr/>
          <p:nvPr/>
        </p:nvSpPr>
        <p:spPr>
          <a:xfrm>
            <a:off x="10723245" y="4992172"/>
            <a:ext cx="1984653" cy="248007"/>
          </a:xfrm>
          <a:prstGeom prst="rect">
            <a:avLst/>
          </a:prstGeom>
          <a:noFill/>
          <a:ln/>
        </p:spPr>
        <p:txBody>
          <a:bodyPr wrap="none" lIns="0" tIns="0" rIns="0" bIns="0" rtlCol="0" anchor="t"/>
          <a:lstStyle/>
          <a:p>
            <a:pPr marL="0" indent="0" algn="ctr">
              <a:lnSpc>
                <a:spcPts val="1950"/>
              </a:lnSpc>
              <a:buNone/>
            </a:pPr>
            <a:r>
              <a:rPr lang="en-US" sz="1550" dirty="0">
                <a:solidFill>
                  <a:srgbClr val="384653"/>
                </a:solidFill>
                <a:latin typeface="Host Grotesk Medium" pitchFamily="34" charset="0"/>
                <a:ea typeface="Host Grotesk Medium" pitchFamily="34" charset="-122"/>
                <a:cs typeface="Host Grotesk Medium" pitchFamily="34" charset="-120"/>
              </a:rPr>
              <a:t>Average BMI</a:t>
            </a:r>
            <a:endParaRPr lang="en-US" sz="1550" dirty="0"/>
          </a:p>
        </p:txBody>
      </p:sp>
      <p:sp>
        <p:nvSpPr>
          <p:cNvPr id="16" name="Text 11"/>
          <p:cNvSpPr/>
          <p:nvPr/>
        </p:nvSpPr>
        <p:spPr>
          <a:xfrm>
            <a:off x="9594771" y="5316379"/>
            <a:ext cx="4241721" cy="428625"/>
          </a:xfrm>
          <a:prstGeom prst="rect">
            <a:avLst/>
          </a:prstGeom>
          <a:noFill/>
          <a:ln/>
        </p:spPr>
        <p:txBody>
          <a:bodyPr wrap="square" lIns="0" tIns="0" rIns="0" bIns="0" rtlCol="0" anchor="t"/>
          <a:lstStyle/>
          <a:p>
            <a:pPr marL="0" indent="0" algn="ctr">
              <a:lnSpc>
                <a:spcPts val="1650"/>
              </a:lnSpc>
              <a:buNone/>
            </a:pPr>
            <a:r>
              <a:rPr lang="en-US" sz="1250" dirty="0">
                <a:solidFill>
                  <a:srgbClr val="384653"/>
                </a:solidFill>
                <a:latin typeface="Roboto" pitchFamily="34" charset="0"/>
                <a:ea typeface="Roboto" pitchFamily="34" charset="-122"/>
                <a:cs typeface="Roboto" pitchFamily="34" charset="-120"/>
              </a:rPr>
              <a:t>Mean BMI significantly exceeds the healthy range of 18.5-24.9</a:t>
            </a:r>
            <a:endParaRPr lang="en-US" sz="1250" dirty="0"/>
          </a:p>
        </p:txBody>
      </p:sp>
      <p:sp>
        <p:nvSpPr>
          <p:cNvPr id="17" name="Text 12"/>
          <p:cNvSpPr/>
          <p:nvPr/>
        </p:nvSpPr>
        <p:spPr>
          <a:xfrm>
            <a:off x="793790" y="5887879"/>
            <a:ext cx="13042821" cy="642938"/>
          </a:xfrm>
          <a:prstGeom prst="rect">
            <a:avLst/>
          </a:prstGeom>
          <a:noFill/>
          <a:ln/>
        </p:spPr>
        <p:txBody>
          <a:bodyPr wrap="square" lIns="0" tIns="0" rIns="0" bIns="0" rtlCol="0" anchor="t"/>
          <a:lstStyle/>
          <a:p>
            <a:pPr marL="0" indent="0" algn="l">
              <a:lnSpc>
                <a:spcPts val="1650"/>
              </a:lnSpc>
              <a:buNone/>
            </a:pPr>
            <a:r>
              <a:rPr lang="en-US" sz="1250" b="1" dirty="0">
                <a:solidFill>
                  <a:srgbClr val="384653"/>
                </a:solidFill>
                <a:latin typeface="Roboto" pitchFamily="34" charset="0"/>
                <a:ea typeface="Roboto" pitchFamily="34" charset="-122"/>
                <a:cs typeface="Roboto" pitchFamily="34" charset="-120"/>
              </a:rPr>
              <a:t>Clinical Significance:</a:t>
            </a:r>
            <a:r>
              <a:rPr lang="en-US" sz="1250" dirty="0">
                <a:solidFill>
                  <a:srgbClr val="384653"/>
                </a:solidFill>
                <a:latin typeface="Roboto" pitchFamily="34" charset="0"/>
                <a:ea typeface="Roboto" pitchFamily="34" charset="-122"/>
                <a:cs typeface="Roboto" pitchFamily="34" charset="-120"/>
              </a:rPr>
              <a:t> The 51% obesity rate substantially exceeds national averages and indicates a patient population at elevated risk for numerous comorbidities including type 2 diabetes, cardiovascular disease, hypertension, sleep apnea, and certain cancers. When combined with the overweight category, approximately three-quarters of patients carry excess body weight, suggesting lifestyle-related health risks are a primary driver of healthcare utilization in this population.</a:t>
            </a:r>
            <a:endParaRPr lang="en-US" sz="1250" dirty="0"/>
          </a:p>
        </p:txBody>
      </p:sp>
      <p:sp>
        <p:nvSpPr>
          <p:cNvPr id="18" name="Text 13"/>
          <p:cNvSpPr/>
          <p:nvPr/>
        </p:nvSpPr>
        <p:spPr>
          <a:xfrm>
            <a:off x="793790" y="6673691"/>
            <a:ext cx="13042821" cy="857250"/>
          </a:xfrm>
          <a:prstGeom prst="rect">
            <a:avLst/>
          </a:prstGeom>
          <a:noFill/>
          <a:ln/>
        </p:spPr>
        <p:txBody>
          <a:bodyPr wrap="square" lIns="0" tIns="0" rIns="0" bIns="0" rtlCol="0" anchor="t"/>
          <a:lstStyle/>
          <a:p>
            <a:pPr marL="0" indent="0" algn="l">
              <a:lnSpc>
                <a:spcPts val="1650"/>
              </a:lnSpc>
              <a:buNone/>
            </a:pPr>
            <a:r>
              <a:rPr lang="en-US" sz="1250" b="1" dirty="0">
                <a:solidFill>
                  <a:srgbClr val="384653"/>
                </a:solidFill>
                <a:latin typeface="Roboto" pitchFamily="34" charset="0"/>
                <a:ea typeface="Roboto" pitchFamily="34" charset="-122"/>
                <a:cs typeface="Roboto" pitchFamily="34" charset="-120"/>
              </a:rPr>
              <a:t>Recommended Interventions:</a:t>
            </a:r>
            <a:r>
              <a:rPr lang="en-US" sz="1250" dirty="0">
                <a:solidFill>
                  <a:srgbClr val="384653"/>
                </a:solidFill>
                <a:latin typeface="Roboto" pitchFamily="34" charset="0"/>
                <a:ea typeface="Roboto" pitchFamily="34" charset="-122"/>
                <a:cs typeface="Roboto" pitchFamily="34" charset="-120"/>
              </a:rPr>
              <a:t> These findings strongly support investment in comprehensive weight management programs, including nutritional counseling services, bariatric surgery consultations for qualifying patients, exercise physiology partnerships, and behavioral health support for sustainable lifestyle modification. Additionally, proactive screening for obesity-related complications should be integrated into routine care protocols to enable early intervention and prevent progression to more serious conditions requiring intensive and costly treatments.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789622"/>
            <a:ext cx="5318998" cy="403146"/>
          </a:xfrm>
          <a:prstGeom prst="rect">
            <a:avLst/>
          </a:prstGeom>
          <a:noFill/>
          <a:ln/>
        </p:spPr>
        <p:txBody>
          <a:bodyPr wrap="none" lIns="0" tIns="0" rIns="0" bIns="0" rtlCol="0" anchor="t"/>
          <a:lstStyle/>
          <a:p>
            <a:pPr marL="0" indent="0" algn="l">
              <a:lnSpc>
                <a:spcPts val="3150"/>
              </a:lnSpc>
              <a:buNone/>
            </a:pPr>
            <a:r>
              <a:rPr lang="en-US" sz="2500" dirty="0">
                <a:solidFill>
                  <a:srgbClr val="2E3C4E"/>
                </a:solidFill>
                <a:latin typeface="Host Grotesk Medium" pitchFamily="34" charset="0"/>
                <a:ea typeface="Host Grotesk Medium" pitchFamily="34" charset="-122"/>
                <a:cs typeface="Host Grotesk Medium" pitchFamily="34" charset="-120"/>
              </a:rPr>
              <a:t>Diagnosis-wise Admissions Analysis</a:t>
            </a:r>
            <a:endParaRPr lang="en-US" sz="2500" dirty="0"/>
          </a:p>
        </p:txBody>
      </p:sp>
      <p:sp>
        <p:nvSpPr>
          <p:cNvPr id="3" name="Text 1"/>
          <p:cNvSpPr/>
          <p:nvPr/>
        </p:nvSpPr>
        <p:spPr>
          <a:xfrm>
            <a:off x="793790" y="1226225"/>
            <a:ext cx="5191244" cy="322421"/>
          </a:xfrm>
          <a:prstGeom prst="rect">
            <a:avLst/>
          </a:prstGeom>
          <a:noFill/>
          <a:ln/>
        </p:spPr>
        <p:txBody>
          <a:bodyPr wrap="none" lIns="0" tIns="0" rIns="0" bIns="0" rtlCol="0" anchor="t"/>
          <a:lstStyle/>
          <a:p>
            <a:pPr marL="0" indent="0" algn="l">
              <a:lnSpc>
                <a:spcPts val="2500"/>
              </a:lnSpc>
              <a:buNone/>
            </a:pPr>
            <a:r>
              <a:rPr lang="en-US" sz="2000" dirty="0">
                <a:solidFill>
                  <a:srgbClr val="2E3C4E"/>
                </a:solidFill>
                <a:latin typeface="Host Grotesk Medium" pitchFamily="34" charset="0"/>
                <a:ea typeface="Host Grotesk Medium" pitchFamily="34" charset="-122"/>
                <a:cs typeface="Host Grotesk Medium" pitchFamily="34" charset="-120"/>
              </a:rPr>
              <a:t>Top Admission Drivers by Medical Condition</a:t>
            </a:r>
            <a:endParaRPr lang="en-US" sz="2000" dirty="0"/>
          </a:p>
        </p:txBody>
      </p:sp>
      <p:sp>
        <p:nvSpPr>
          <p:cNvPr id="4" name="Text 2"/>
          <p:cNvSpPr/>
          <p:nvPr/>
        </p:nvSpPr>
        <p:spPr>
          <a:xfrm>
            <a:off x="793790" y="1674376"/>
            <a:ext cx="13042821" cy="319326"/>
          </a:xfrm>
          <a:prstGeom prst="rect">
            <a:avLst/>
          </a:prstGeom>
          <a:noFill/>
          <a:ln/>
        </p:spPr>
        <p:txBody>
          <a:bodyPr wrap="square" lIns="0" tIns="0" rIns="0" bIns="0" rtlCol="0" anchor="t"/>
          <a:lstStyle/>
          <a:p>
            <a:pPr marL="0" indent="0" algn="l">
              <a:lnSpc>
                <a:spcPts val="1250"/>
              </a:lnSpc>
              <a:buNone/>
            </a:pPr>
            <a:r>
              <a:rPr lang="en-US" sz="1000" dirty="0">
                <a:solidFill>
                  <a:srgbClr val="384653"/>
                </a:solidFill>
                <a:latin typeface="Roboto" pitchFamily="34" charset="0"/>
                <a:ea typeface="Roboto" pitchFamily="34" charset="-122"/>
                <a:cs typeface="Roboto" pitchFamily="34" charset="-120"/>
              </a:rPr>
              <a:t>Understanding which diagnoses generate the highest admission volumes enables strategic resource allocation, specialized care team development, and targeted quality improvement initiatives. Our analysis reveals distinct patterns in the types of conditions driving hospital utilization.</a:t>
            </a:r>
            <a:endParaRPr lang="en-US" sz="1000" dirty="0"/>
          </a:p>
        </p:txBody>
      </p:sp>
      <p:sp>
        <p:nvSpPr>
          <p:cNvPr id="5" name="Shape 3"/>
          <p:cNvSpPr/>
          <p:nvPr/>
        </p:nvSpPr>
        <p:spPr>
          <a:xfrm>
            <a:off x="793790" y="2087999"/>
            <a:ext cx="13042821" cy="774025"/>
          </a:xfrm>
          <a:prstGeom prst="roundRect">
            <a:avLst>
              <a:gd name="adj" fmla="val 7000"/>
            </a:avLst>
          </a:prstGeom>
          <a:solidFill>
            <a:srgbClr val="FAF9F5"/>
          </a:solidFill>
          <a:ln w="15240">
            <a:solidFill>
              <a:srgbClr val="BFD3D8"/>
            </a:solidFill>
            <a:prstDash val="solid"/>
          </a:ln>
        </p:spPr>
      </p:sp>
      <p:sp>
        <p:nvSpPr>
          <p:cNvPr id="6" name="Shape 4"/>
          <p:cNvSpPr/>
          <p:nvPr/>
        </p:nvSpPr>
        <p:spPr>
          <a:xfrm>
            <a:off x="809030" y="2103239"/>
            <a:ext cx="516017" cy="743545"/>
          </a:xfrm>
          <a:prstGeom prst="roundRect">
            <a:avLst>
              <a:gd name="adj" fmla="val 6956"/>
            </a:avLst>
          </a:prstGeom>
          <a:solidFill>
            <a:srgbClr val="D9EDF2"/>
          </a:solidFill>
          <a:ln/>
        </p:spPr>
      </p:sp>
      <p:sp>
        <p:nvSpPr>
          <p:cNvPr id="7" name="Text 5"/>
          <p:cNvSpPr/>
          <p:nvPr/>
        </p:nvSpPr>
        <p:spPr>
          <a:xfrm>
            <a:off x="966430" y="2354104"/>
            <a:ext cx="193477" cy="241816"/>
          </a:xfrm>
          <a:prstGeom prst="rect">
            <a:avLst/>
          </a:prstGeom>
          <a:noFill/>
          <a:ln/>
        </p:spPr>
        <p:txBody>
          <a:bodyPr wrap="none" lIns="0" tIns="0" rIns="0" bIns="0" rtlCol="0" anchor="t"/>
          <a:lstStyle/>
          <a:p>
            <a:pPr marL="0" indent="0" algn="l">
              <a:lnSpc>
                <a:spcPts val="1500"/>
              </a:lnSpc>
              <a:buNone/>
            </a:pPr>
            <a:r>
              <a:rPr lang="en-US" sz="1500" dirty="0">
                <a:solidFill>
                  <a:srgbClr val="384653"/>
                </a:solidFill>
                <a:latin typeface="Host Grotesk Medium" pitchFamily="34" charset="0"/>
                <a:ea typeface="Host Grotesk Medium" pitchFamily="34" charset="-122"/>
                <a:cs typeface="Host Grotesk Medium" pitchFamily="34" charset="-120"/>
              </a:rPr>
              <a:t>1</a:t>
            </a:r>
            <a:endParaRPr lang="en-US" sz="1500" dirty="0"/>
          </a:p>
        </p:txBody>
      </p:sp>
      <p:sp>
        <p:nvSpPr>
          <p:cNvPr id="8" name="Text 6"/>
          <p:cNvSpPr/>
          <p:nvPr/>
        </p:nvSpPr>
        <p:spPr>
          <a:xfrm>
            <a:off x="1408867" y="2232184"/>
            <a:ext cx="1612583" cy="201454"/>
          </a:xfrm>
          <a:prstGeom prst="rect">
            <a:avLst/>
          </a:prstGeom>
          <a:noFill/>
          <a:ln/>
        </p:spPr>
        <p:txBody>
          <a:bodyPr wrap="none" lIns="0" tIns="0" rIns="0" bIns="0" rtlCol="0" anchor="t"/>
          <a:lstStyle/>
          <a:p>
            <a:pPr marL="0" indent="0" algn="l">
              <a:lnSpc>
                <a:spcPts val="1550"/>
              </a:lnSpc>
              <a:buNone/>
            </a:pPr>
            <a:r>
              <a:rPr lang="en-US" sz="1250" dirty="0">
                <a:solidFill>
                  <a:srgbClr val="384653"/>
                </a:solidFill>
                <a:latin typeface="Host Grotesk Medium" pitchFamily="34" charset="0"/>
                <a:ea typeface="Host Grotesk Medium" pitchFamily="34" charset="-122"/>
                <a:cs typeface="Host Grotesk Medium" pitchFamily="34" charset="-120"/>
              </a:rPr>
              <a:t>Uterine Fibroid</a:t>
            </a:r>
            <a:endParaRPr lang="en-US" sz="1250" dirty="0"/>
          </a:p>
        </p:txBody>
      </p:sp>
      <p:sp>
        <p:nvSpPr>
          <p:cNvPr id="9" name="Text 7"/>
          <p:cNvSpPr/>
          <p:nvPr/>
        </p:nvSpPr>
        <p:spPr>
          <a:xfrm>
            <a:off x="1408867" y="2483882"/>
            <a:ext cx="12283559" cy="159663"/>
          </a:xfrm>
          <a:prstGeom prst="rect">
            <a:avLst/>
          </a:prstGeom>
          <a:noFill/>
          <a:ln/>
        </p:spPr>
        <p:txBody>
          <a:bodyPr wrap="none" lIns="0" tIns="0" rIns="0" bIns="0" rtlCol="0" anchor="t"/>
          <a:lstStyle/>
          <a:p>
            <a:pPr marL="0" indent="0" algn="l">
              <a:lnSpc>
                <a:spcPts val="1250"/>
              </a:lnSpc>
              <a:buNone/>
            </a:pPr>
            <a:r>
              <a:rPr lang="en-US" sz="1000" b="1" dirty="0">
                <a:solidFill>
                  <a:srgbClr val="384653"/>
                </a:solidFill>
                <a:latin typeface="Roboto" pitchFamily="34" charset="0"/>
                <a:ea typeface="Roboto" pitchFamily="34" charset="-122"/>
                <a:cs typeface="Roboto" pitchFamily="34" charset="-120"/>
              </a:rPr>
              <a:t>Highest admission volume</a:t>
            </a:r>
            <a:r>
              <a:rPr lang="en-US" sz="1000" dirty="0">
                <a:solidFill>
                  <a:srgbClr val="384653"/>
                </a:solidFill>
                <a:latin typeface="Roboto" pitchFamily="34" charset="0"/>
                <a:ea typeface="Roboto" pitchFamily="34" charset="-122"/>
                <a:cs typeface="Roboto" pitchFamily="34" charset="-120"/>
              </a:rPr>
              <a:t> – Benign tumors requiring surgical intervention or hormone therapy. Indicates strong need for women's health services and gynecological surgical capacity.</a:t>
            </a:r>
            <a:endParaRPr lang="en-US" sz="1000" dirty="0"/>
          </a:p>
        </p:txBody>
      </p:sp>
      <p:sp>
        <p:nvSpPr>
          <p:cNvPr id="10" name="Shape 8"/>
          <p:cNvSpPr/>
          <p:nvPr/>
        </p:nvSpPr>
        <p:spPr>
          <a:xfrm>
            <a:off x="793790" y="2945844"/>
            <a:ext cx="13042821" cy="774025"/>
          </a:xfrm>
          <a:prstGeom prst="roundRect">
            <a:avLst>
              <a:gd name="adj" fmla="val 7000"/>
            </a:avLst>
          </a:prstGeom>
          <a:solidFill>
            <a:srgbClr val="FAF9F5"/>
          </a:solidFill>
          <a:ln w="15240">
            <a:solidFill>
              <a:srgbClr val="BFD3D8"/>
            </a:solidFill>
            <a:prstDash val="solid"/>
          </a:ln>
        </p:spPr>
      </p:sp>
      <p:sp>
        <p:nvSpPr>
          <p:cNvPr id="11" name="Shape 9"/>
          <p:cNvSpPr/>
          <p:nvPr/>
        </p:nvSpPr>
        <p:spPr>
          <a:xfrm>
            <a:off x="809030" y="2961084"/>
            <a:ext cx="516017" cy="743545"/>
          </a:xfrm>
          <a:prstGeom prst="roundRect">
            <a:avLst>
              <a:gd name="adj" fmla="val 6956"/>
            </a:avLst>
          </a:prstGeom>
          <a:solidFill>
            <a:srgbClr val="D9EDF2"/>
          </a:solidFill>
          <a:ln/>
        </p:spPr>
      </p:sp>
      <p:sp>
        <p:nvSpPr>
          <p:cNvPr id="12" name="Text 10"/>
          <p:cNvSpPr/>
          <p:nvPr/>
        </p:nvSpPr>
        <p:spPr>
          <a:xfrm>
            <a:off x="966430" y="3211949"/>
            <a:ext cx="193477" cy="241816"/>
          </a:xfrm>
          <a:prstGeom prst="rect">
            <a:avLst/>
          </a:prstGeom>
          <a:noFill/>
          <a:ln/>
        </p:spPr>
        <p:txBody>
          <a:bodyPr wrap="none" lIns="0" tIns="0" rIns="0" bIns="0" rtlCol="0" anchor="t"/>
          <a:lstStyle/>
          <a:p>
            <a:pPr marL="0" indent="0" algn="l">
              <a:lnSpc>
                <a:spcPts val="1500"/>
              </a:lnSpc>
              <a:buNone/>
            </a:pPr>
            <a:r>
              <a:rPr lang="en-US" sz="1500" dirty="0">
                <a:solidFill>
                  <a:srgbClr val="384653"/>
                </a:solidFill>
                <a:latin typeface="Host Grotesk Medium" pitchFamily="34" charset="0"/>
                <a:ea typeface="Host Grotesk Medium" pitchFamily="34" charset="-122"/>
                <a:cs typeface="Host Grotesk Medium" pitchFamily="34" charset="-120"/>
              </a:rPr>
              <a:t>2</a:t>
            </a:r>
            <a:endParaRPr lang="en-US" sz="1500" dirty="0"/>
          </a:p>
        </p:txBody>
      </p:sp>
      <p:sp>
        <p:nvSpPr>
          <p:cNvPr id="13" name="Text 11"/>
          <p:cNvSpPr/>
          <p:nvPr/>
        </p:nvSpPr>
        <p:spPr>
          <a:xfrm>
            <a:off x="1408867" y="3090029"/>
            <a:ext cx="2019181" cy="201454"/>
          </a:xfrm>
          <a:prstGeom prst="rect">
            <a:avLst/>
          </a:prstGeom>
          <a:noFill/>
          <a:ln/>
        </p:spPr>
        <p:txBody>
          <a:bodyPr wrap="none" lIns="0" tIns="0" rIns="0" bIns="0" rtlCol="0" anchor="t"/>
          <a:lstStyle/>
          <a:p>
            <a:pPr marL="0" indent="0" algn="l">
              <a:lnSpc>
                <a:spcPts val="1550"/>
              </a:lnSpc>
              <a:buNone/>
            </a:pPr>
            <a:r>
              <a:rPr lang="en-US" sz="1250" dirty="0">
                <a:solidFill>
                  <a:srgbClr val="384653"/>
                </a:solidFill>
                <a:latin typeface="Host Grotesk Medium" pitchFamily="34" charset="0"/>
                <a:ea typeface="Host Grotesk Medium" pitchFamily="34" charset="-122"/>
                <a:cs typeface="Host Grotesk Medium" pitchFamily="34" charset="-120"/>
              </a:rPr>
              <a:t>Upper Respiratory Infection</a:t>
            </a:r>
            <a:endParaRPr lang="en-US" sz="1250" dirty="0"/>
          </a:p>
        </p:txBody>
      </p:sp>
      <p:sp>
        <p:nvSpPr>
          <p:cNvPr id="14" name="Text 12"/>
          <p:cNvSpPr/>
          <p:nvPr/>
        </p:nvSpPr>
        <p:spPr>
          <a:xfrm>
            <a:off x="1408867" y="3341727"/>
            <a:ext cx="12283559" cy="159663"/>
          </a:xfrm>
          <a:prstGeom prst="rect">
            <a:avLst/>
          </a:prstGeom>
          <a:noFill/>
          <a:ln/>
        </p:spPr>
        <p:txBody>
          <a:bodyPr wrap="none" lIns="0" tIns="0" rIns="0" bIns="0" rtlCol="0" anchor="t"/>
          <a:lstStyle/>
          <a:p>
            <a:pPr marL="0" indent="0" algn="l">
              <a:lnSpc>
                <a:spcPts val="1250"/>
              </a:lnSpc>
              <a:buNone/>
            </a:pPr>
            <a:r>
              <a:rPr lang="en-US" sz="1000" b="1" dirty="0">
                <a:solidFill>
                  <a:srgbClr val="384653"/>
                </a:solidFill>
                <a:latin typeface="Roboto" pitchFamily="34" charset="0"/>
                <a:ea typeface="Roboto" pitchFamily="34" charset="-122"/>
                <a:cs typeface="Roboto" pitchFamily="34" charset="-120"/>
              </a:rPr>
              <a:t>Second leading cause</a:t>
            </a:r>
            <a:r>
              <a:rPr lang="en-US" sz="1000" dirty="0">
                <a:solidFill>
                  <a:srgbClr val="384653"/>
                </a:solidFill>
                <a:latin typeface="Roboto" pitchFamily="34" charset="0"/>
                <a:ea typeface="Roboto" pitchFamily="34" charset="-122"/>
                <a:cs typeface="Roboto" pitchFamily="34" charset="-120"/>
              </a:rPr>
              <a:t> – Common conditions affecting sinuses, throat, and airways. Seasonal variations likely present opportunities for preventive vaccination campaigns.</a:t>
            </a:r>
            <a:endParaRPr lang="en-US" sz="1000" dirty="0"/>
          </a:p>
        </p:txBody>
      </p:sp>
      <p:sp>
        <p:nvSpPr>
          <p:cNvPr id="15" name="Shape 13"/>
          <p:cNvSpPr/>
          <p:nvPr/>
        </p:nvSpPr>
        <p:spPr>
          <a:xfrm>
            <a:off x="793790" y="3803690"/>
            <a:ext cx="13042821" cy="774025"/>
          </a:xfrm>
          <a:prstGeom prst="roundRect">
            <a:avLst>
              <a:gd name="adj" fmla="val 7000"/>
            </a:avLst>
          </a:prstGeom>
          <a:solidFill>
            <a:srgbClr val="FAF9F5"/>
          </a:solidFill>
          <a:ln w="15240">
            <a:solidFill>
              <a:srgbClr val="BFD3D8"/>
            </a:solidFill>
            <a:prstDash val="solid"/>
          </a:ln>
        </p:spPr>
      </p:sp>
      <p:sp>
        <p:nvSpPr>
          <p:cNvPr id="16" name="Shape 14"/>
          <p:cNvSpPr/>
          <p:nvPr/>
        </p:nvSpPr>
        <p:spPr>
          <a:xfrm>
            <a:off x="809030" y="3818930"/>
            <a:ext cx="516017" cy="743545"/>
          </a:xfrm>
          <a:prstGeom prst="roundRect">
            <a:avLst>
              <a:gd name="adj" fmla="val 6956"/>
            </a:avLst>
          </a:prstGeom>
          <a:solidFill>
            <a:srgbClr val="D9EDF2"/>
          </a:solidFill>
          <a:ln/>
        </p:spPr>
      </p:sp>
      <p:sp>
        <p:nvSpPr>
          <p:cNvPr id="17" name="Text 15"/>
          <p:cNvSpPr/>
          <p:nvPr/>
        </p:nvSpPr>
        <p:spPr>
          <a:xfrm>
            <a:off x="966430" y="4069794"/>
            <a:ext cx="193477" cy="241816"/>
          </a:xfrm>
          <a:prstGeom prst="rect">
            <a:avLst/>
          </a:prstGeom>
          <a:noFill/>
          <a:ln/>
        </p:spPr>
        <p:txBody>
          <a:bodyPr wrap="none" lIns="0" tIns="0" rIns="0" bIns="0" rtlCol="0" anchor="t"/>
          <a:lstStyle/>
          <a:p>
            <a:pPr marL="0" indent="0" algn="l">
              <a:lnSpc>
                <a:spcPts val="1500"/>
              </a:lnSpc>
              <a:buNone/>
            </a:pPr>
            <a:r>
              <a:rPr lang="en-US" sz="1500" dirty="0">
                <a:solidFill>
                  <a:srgbClr val="384653"/>
                </a:solidFill>
                <a:latin typeface="Host Grotesk Medium" pitchFamily="34" charset="0"/>
                <a:ea typeface="Host Grotesk Medium" pitchFamily="34" charset="-122"/>
                <a:cs typeface="Host Grotesk Medium" pitchFamily="34" charset="-120"/>
              </a:rPr>
              <a:t>3</a:t>
            </a:r>
            <a:endParaRPr lang="en-US" sz="1500" dirty="0"/>
          </a:p>
        </p:txBody>
      </p:sp>
      <p:sp>
        <p:nvSpPr>
          <p:cNvPr id="18" name="Text 16"/>
          <p:cNvSpPr/>
          <p:nvPr/>
        </p:nvSpPr>
        <p:spPr>
          <a:xfrm>
            <a:off x="1408867" y="3947874"/>
            <a:ext cx="1612583" cy="201454"/>
          </a:xfrm>
          <a:prstGeom prst="rect">
            <a:avLst/>
          </a:prstGeom>
          <a:noFill/>
          <a:ln/>
        </p:spPr>
        <p:txBody>
          <a:bodyPr wrap="none" lIns="0" tIns="0" rIns="0" bIns="0" rtlCol="0" anchor="t"/>
          <a:lstStyle/>
          <a:p>
            <a:pPr marL="0" indent="0" algn="l">
              <a:lnSpc>
                <a:spcPts val="1550"/>
              </a:lnSpc>
              <a:buNone/>
            </a:pPr>
            <a:r>
              <a:rPr lang="en-US" sz="1250" dirty="0">
                <a:solidFill>
                  <a:srgbClr val="384653"/>
                </a:solidFill>
                <a:latin typeface="Host Grotesk Medium" pitchFamily="34" charset="0"/>
                <a:ea typeface="Host Grotesk Medium" pitchFamily="34" charset="-122"/>
                <a:cs typeface="Host Grotesk Medium" pitchFamily="34" charset="-120"/>
              </a:rPr>
              <a:t>Zenker's Diverticulitis</a:t>
            </a:r>
            <a:endParaRPr lang="en-US" sz="1250" dirty="0"/>
          </a:p>
        </p:txBody>
      </p:sp>
      <p:sp>
        <p:nvSpPr>
          <p:cNvPr id="19" name="Text 17"/>
          <p:cNvSpPr/>
          <p:nvPr/>
        </p:nvSpPr>
        <p:spPr>
          <a:xfrm>
            <a:off x="1408867" y="4199573"/>
            <a:ext cx="12283559" cy="159663"/>
          </a:xfrm>
          <a:prstGeom prst="rect">
            <a:avLst/>
          </a:prstGeom>
          <a:noFill/>
          <a:ln/>
        </p:spPr>
        <p:txBody>
          <a:bodyPr wrap="none" lIns="0" tIns="0" rIns="0" bIns="0" rtlCol="0" anchor="t"/>
          <a:lstStyle/>
          <a:p>
            <a:pPr marL="0" indent="0" algn="l">
              <a:lnSpc>
                <a:spcPts val="1250"/>
              </a:lnSpc>
              <a:buNone/>
            </a:pPr>
            <a:r>
              <a:rPr lang="en-US" sz="1000" b="1" dirty="0">
                <a:solidFill>
                  <a:srgbClr val="384653"/>
                </a:solidFill>
                <a:latin typeface="Roboto" pitchFamily="34" charset="0"/>
                <a:ea typeface="Roboto" pitchFamily="34" charset="-122"/>
                <a:cs typeface="Roboto" pitchFamily="34" charset="-120"/>
              </a:rPr>
              <a:t>Significant volume driver</a:t>
            </a:r>
            <a:r>
              <a:rPr lang="en-US" sz="1000" dirty="0">
                <a:solidFill>
                  <a:srgbClr val="384653"/>
                </a:solidFill>
                <a:latin typeface="Roboto" pitchFamily="34" charset="0"/>
                <a:ea typeface="Roboto" pitchFamily="34" charset="-122"/>
                <a:cs typeface="Roboto" pitchFamily="34" charset="-120"/>
              </a:rPr>
              <a:t> – Esophageal pouch condition requiring specialized gastroenterology expertise. Relatively uncommon diagnosis suggests potential referral center status.</a:t>
            </a:r>
            <a:endParaRPr lang="en-US" sz="1000" dirty="0"/>
          </a:p>
        </p:txBody>
      </p:sp>
      <p:sp>
        <p:nvSpPr>
          <p:cNvPr id="20" name="Shape 18"/>
          <p:cNvSpPr/>
          <p:nvPr/>
        </p:nvSpPr>
        <p:spPr>
          <a:xfrm>
            <a:off x="793790" y="4661535"/>
            <a:ext cx="13042821" cy="774025"/>
          </a:xfrm>
          <a:prstGeom prst="roundRect">
            <a:avLst>
              <a:gd name="adj" fmla="val 7000"/>
            </a:avLst>
          </a:prstGeom>
          <a:solidFill>
            <a:srgbClr val="FAF9F5"/>
          </a:solidFill>
          <a:ln w="15240">
            <a:solidFill>
              <a:srgbClr val="BFD3D8"/>
            </a:solidFill>
            <a:prstDash val="solid"/>
          </a:ln>
        </p:spPr>
      </p:sp>
      <p:sp>
        <p:nvSpPr>
          <p:cNvPr id="21" name="Shape 19"/>
          <p:cNvSpPr/>
          <p:nvPr/>
        </p:nvSpPr>
        <p:spPr>
          <a:xfrm>
            <a:off x="809030" y="4676775"/>
            <a:ext cx="516017" cy="743545"/>
          </a:xfrm>
          <a:prstGeom prst="roundRect">
            <a:avLst>
              <a:gd name="adj" fmla="val 6956"/>
            </a:avLst>
          </a:prstGeom>
          <a:solidFill>
            <a:srgbClr val="D9EDF2"/>
          </a:solidFill>
          <a:ln/>
        </p:spPr>
      </p:sp>
      <p:sp>
        <p:nvSpPr>
          <p:cNvPr id="22" name="Text 20"/>
          <p:cNvSpPr/>
          <p:nvPr/>
        </p:nvSpPr>
        <p:spPr>
          <a:xfrm>
            <a:off x="966430" y="4927640"/>
            <a:ext cx="193477" cy="241816"/>
          </a:xfrm>
          <a:prstGeom prst="rect">
            <a:avLst/>
          </a:prstGeom>
          <a:noFill/>
          <a:ln/>
        </p:spPr>
        <p:txBody>
          <a:bodyPr wrap="none" lIns="0" tIns="0" rIns="0" bIns="0" rtlCol="0" anchor="t"/>
          <a:lstStyle/>
          <a:p>
            <a:pPr marL="0" indent="0" algn="l">
              <a:lnSpc>
                <a:spcPts val="1500"/>
              </a:lnSpc>
              <a:buNone/>
            </a:pPr>
            <a:r>
              <a:rPr lang="en-US" sz="1500" dirty="0">
                <a:solidFill>
                  <a:srgbClr val="384653"/>
                </a:solidFill>
                <a:latin typeface="Host Grotesk Medium" pitchFamily="34" charset="0"/>
                <a:ea typeface="Host Grotesk Medium" pitchFamily="34" charset="-122"/>
                <a:cs typeface="Host Grotesk Medium" pitchFamily="34" charset="-120"/>
              </a:rPr>
              <a:t>4</a:t>
            </a:r>
            <a:endParaRPr lang="en-US" sz="1500" dirty="0"/>
          </a:p>
        </p:txBody>
      </p:sp>
      <p:sp>
        <p:nvSpPr>
          <p:cNvPr id="23" name="Text 21"/>
          <p:cNvSpPr/>
          <p:nvPr/>
        </p:nvSpPr>
        <p:spPr>
          <a:xfrm>
            <a:off x="1408867" y="4805720"/>
            <a:ext cx="1612583" cy="201454"/>
          </a:xfrm>
          <a:prstGeom prst="rect">
            <a:avLst/>
          </a:prstGeom>
          <a:noFill/>
          <a:ln/>
        </p:spPr>
        <p:txBody>
          <a:bodyPr wrap="none" lIns="0" tIns="0" rIns="0" bIns="0" rtlCol="0" anchor="t"/>
          <a:lstStyle/>
          <a:p>
            <a:pPr marL="0" indent="0" algn="l">
              <a:lnSpc>
                <a:spcPts val="1550"/>
              </a:lnSpc>
              <a:buNone/>
            </a:pPr>
            <a:r>
              <a:rPr lang="en-US" sz="1250" dirty="0">
                <a:solidFill>
                  <a:srgbClr val="384653"/>
                </a:solidFill>
                <a:latin typeface="Host Grotesk Medium" pitchFamily="34" charset="0"/>
                <a:ea typeface="Host Grotesk Medium" pitchFamily="34" charset="-122"/>
                <a:cs typeface="Host Grotesk Medium" pitchFamily="34" charset="-120"/>
              </a:rPr>
              <a:t>Cardiac Arrest</a:t>
            </a:r>
            <a:endParaRPr lang="en-US" sz="1250" dirty="0"/>
          </a:p>
        </p:txBody>
      </p:sp>
      <p:sp>
        <p:nvSpPr>
          <p:cNvPr id="24" name="Text 22"/>
          <p:cNvSpPr/>
          <p:nvPr/>
        </p:nvSpPr>
        <p:spPr>
          <a:xfrm>
            <a:off x="1408867" y="5057418"/>
            <a:ext cx="12283559" cy="159663"/>
          </a:xfrm>
          <a:prstGeom prst="rect">
            <a:avLst/>
          </a:prstGeom>
          <a:noFill/>
          <a:ln/>
        </p:spPr>
        <p:txBody>
          <a:bodyPr wrap="none" lIns="0" tIns="0" rIns="0" bIns="0" rtlCol="0" anchor="t"/>
          <a:lstStyle/>
          <a:p>
            <a:pPr marL="0" indent="0" algn="l">
              <a:lnSpc>
                <a:spcPts val="1250"/>
              </a:lnSpc>
              <a:buNone/>
            </a:pPr>
            <a:r>
              <a:rPr lang="en-US" sz="1000" b="1" dirty="0">
                <a:solidFill>
                  <a:srgbClr val="384653"/>
                </a:solidFill>
                <a:latin typeface="Roboto" pitchFamily="34" charset="0"/>
                <a:ea typeface="Roboto" pitchFamily="34" charset="-122"/>
                <a:cs typeface="Roboto" pitchFamily="34" charset="-120"/>
              </a:rPr>
              <a:t>Critical care demands</a:t>
            </a:r>
            <a:r>
              <a:rPr lang="en-US" sz="1000" dirty="0">
                <a:solidFill>
                  <a:srgbClr val="384653"/>
                </a:solidFill>
                <a:latin typeface="Roboto" pitchFamily="34" charset="0"/>
                <a:ea typeface="Roboto" pitchFamily="34" charset="-122"/>
                <a:cs typeface="Roboto" pitchFamily="34" charset="-120"/>
              </a:rPr>
              <a:t> – Life-threatening emergencies requiring immediate intervention. High volumes necessitate robust emergency department and critical care capabilities.</a:t>
            </a:r>
            <a:endParaRPr lang="en-US" sz="1000" dirty="0"/>
          </a:p>
        </p:txBody>
      </p:sp>
      <p:sp>
        <p:nvSpPr>
          <p:cNvPr id="25" name="Shape 23"/>
          <p:cNvSpPr/>
          <p:nvPr/>
        </p:nvSpPr>
        <p:spPr>
          <a:xfrm>
            <a:off x="793790" y="5519380"/>
            <a:ext cx="13042821" cy="774025"/>
          </a:xfrm>
          <a:prstGeom prst="roundRect">
            <a:avLst>
              <a:gd name="adj" fmla="val 7000"/>
            </a:avLst>
          </a:prstGeom>
          <a:solidFill>
            <a:srgbClr val="FAF9F5"/>
          </a:solidFill>
          <a:ln w="15240">
            <a:solidFill>
              <a:srgbClr val="BFD3D8"/>
            </a:solidFill>
            <a:prstDash val="solid"/>
          </a:ln>
        </p:spPr>
      </p:sp>
      <p:sp>
        <p:nvSpPr>
          <p:cNvPr id="26" name="Shape 24"/>
          <p:cNvSpPr/>
          <p:nvPr/>
        </p:nvSpPr>
        <p:spPr>
          <a:xfrm>
            <a:off x="809030" y="5534620"/>
            <a:ext cx="516017" cy="743545"/>
          </a:xfrm>
          <a:prstGeom prst="roundRect">
            <a:avLst>
              <a:gd name="adj" fmla="val 6956"/>
            </a:avLst>
          </a:prstGeom>
          <a:solidFill>
            <a:srgbClr val="D9EDF2"/>
          </a:solidFill>
          <a:ln/>
        </p:spPr>
      </p:sp>
      <p:sp>
        <p:nvSpPr>
          <p:cNvPr id="27" name="Text 25"/>
          <p:cNvSpPr/>
          <p:nvPr/>
        </p:nvSpPr>
        <p:spPr>
          <a:xfrm>
            <a:off x="966430" y="5785485"/>
            <a:ext cx="193477" cy="241816"/>
          </a:xfrm>
          <a:prstGeom prst="rect">
            <a:avLst/>
          </a:prstGeom>
          <a:noFill/>
          <a:ln/>
        </p:spPr>
        <p:txBody>
          <a:bodyPr wrap="none" lIns="0" tIns="0" rIns="0" bIns="0" rtlCol="0" anchor="t"/>
          <a:lstStyle/>
          <a:p>
            <a:pPr marL="0" indent="0" algn="l">
              <a:lnSpc>
                <a:spcPts val="1500"/>
              </a:lnSpc>
              <a:buNone/>
            </a:pPr>
            <a:r>
              <a:rPr lang="en-US" sz="1500" dirty="0">
                <a:solidFill>
                  <a:srgbClr val="384653"/>
                </a:solidFill>
                <a:latin typeface="Host Grotesk Medium" pitchFamily="34" charset="0"/>
                <a:ea typeface="Host Grotesk Medium" pitchFamily="34" charset="-122"/>
                <a:cs typeface="Host Grotesk Medium" pitchFamily="34" charset="-120"/>
              </a:rPr>
              <a:t>5</a:t>
            </a:r>
            <a:endParaRPr lang="en-US" sz="1500" dirty="0"/>
          </a:p>
        </p:txBody>
      </p:sp>
      <p:sp>
        <p:nvSpPr>
          <p:cNvPr id="28" name="Text 26"/>
          <p:cNvSpPr/>
          <p:nvPr/>
        </p:nvSpPr>
        <p:spPr>
          <a:xfrm>
            <a:off x="1408867" y="5663565"/>
            <a:ext cx="1634728" cy="201454"/>
          </a:xfrm>
          <a:prstGeom prst="rect">
            <a:avLst/>
          </a:prstGeom>
          <a:noFill/>
          <a:ln/>
        </p:spPr>
        <p:txBody>
          <a:bodyPr wrap="none" lIns="0" tIns="0" rIns="0" bIns="0" rtlCol="0" anchor="t"/>
          <a:lstStyle/>
          <a:p>
            <a:pPr marL="0" indent="0" algn="l">
              <a:lnSpc>
                <a:spcPts val="1550"/>
              </a:lnSpc>
              <a:buNone/>
            </a:pPr>
            <a:r>
              <a:rPr lang="en-US" sz="1250" dirty="0">
                <a:solidFill>
                  <a:srgbClr val="384653"/>
                </a:solidFill>
                <a:latin typeface="Host Grotesk Medium" pitchFamily="34" charset="0"/>
                <a:ea typeface="Host Grotesk Medium" pitchFamily="34" charset="-122"/>
                <a:cs typeface="Host Grotesk Medium" pitchFamily="34" charset="-120"/>
              </a:rPr>
              <a:t>Urinary Tract Infection</a:t>
            </a:r>
            <a:endParaRPr lang="en-US" sz="1250" dirty="0"/>
          </a:p>
        </p:txBody>
      </p:sp>
      <p:sp>
        <p:nvSpPr>
          <p:cNvPr id="29" name="Text 27"/>
          <p:cNvSpPr/>
          <p:nvPr/>
        </p:nvSpPr>
        <p:spPr>
          <a:xfrm>
            <a:off x="1408867" y="5915263"/>
            <a:ext cx="12283559" cy="159663"/>
          </a:xfrm>
          <a:prstGeom prst="rect">
            <a:avLst/>
          </a:prstGeom>
          <a:noFill/>
          <a:ln/>
        </p:spPr>
        <p:txBody>
          <a:bodyPr wrap="none" lIns="0" tIns="0" rIns="0" bIns="0" rtlCol="0" anchor="t"/>
          <a:lstStyle/>
          <a:p>
            <a:pPr marL="0" indent="0" algn="l">
              <a:lnSpc>
                <a:spcPts val="1250"/>
              </a:lnSpc>
              <a:buNone/>
            </a:pPr>
            <a:r>
              <a:rPr lang="en-US" sz="1000" b="1" dirty="0">
                <a:solidFill>
                  <a:srgbClr val="384653"/>
                </a:solidFill>
                <a:latin typeface="Roboto" pitchFamily="34" charset="0"/>
                <a:ea typeface="Roboto" pitchFamily="34" charset="-122"/>
                <a:cs typeface="Roboto" pitchFamily="34" charset="-120"/>
              </a:rPr>
              <a:t>Frequent admissions</a:t>
            </a:r>
            <a:r>
              <a:rPr lang="en-US" sz="1000" dirty="0">
                <a:solidFill>
                  <a:srgbClr val="384653"/>
                </a:solidFill>
                <a:latin typeface="Roboto" pitchFamily="34" charset="0"/>
                <a:ea typeface="Roboto" pitchFamily="34" charset="-122"/>
                <a:cs typeface="Roboto" pitchFamily="34" charset="-120"/>
              </a:rPr>
              <a:t> – Common bacterial infections often preventable through patient education. Opportunity for outpatient management protocols to reduce inpatient utilization.</a:t>
            </a:r>
            <a:endParaRPr lang="en-US" sz="1000" dirty="0"/>
          </a:p>
        </p:txBody>
      </p:sp>
      <p:sp>
        <p:nvSpPr>
          <p:cNvPr id="30" name="Text 28"/>
          <p:cNvSpPr/>
          <p:nvPr/>
        </p:nvSpPr>
        <p:spPr>
          <a:xfrm>
            <a:off x="793790" y="6387703"/>
            <a:ext cx="13042821" cy="478988"/>
          </a:xfrm>
          <a:prstGeom prst="rect">
            <a:avLst/>
          </a:prstGeom>
          <a:noFill/>
          <a:ln/>
        </p:spPr>
        <p:txBody>
          <a:bodyPr wrap="square" lIns="0" tIns="0" rIns="0" bIns="0" rtlCol="0" anchor="t"/>
          <a:lstStyle/>
          <a:p>
            <a:pPr marL="0" indent="0" algn="l">
              <a:lnSpc>
                <a:spcPts val="1250"/>
              </a:lnSpc>
              <a:buNone/>
            </a:pPr>
            <a:r>
              <a:rPr lang="en-US" sz="1000" b="1" dirty="0">
                <a:solidFill>
                  <a:srgbClr val="384653"/>
                </a:solidFill>
                <a:latin typeface="Roboto" pitchFamily="34" charset="0"/>
                <a:ea typeface="Roboto" pitchFamily="34" charset="-122"/>
                <a:cs typeface="Roboto" pitchFamily="34" charset="-120"/>
              </a:rPr>
              <a:t>Strategic Resource Planning:</a:t>
            </a:r>
            <a:r>
              <a:rPr lang="en-US" sz="1000" dirty="0">
                <a:solidFill>
                  <a:srgbClr val="384653"/>
                </a:solidFill>
                <a:latin typeface="Roboto" pitchFamily="34" charset="0"/>
                <a:ea typeface="Roboto" pitchFamily="34" charset="-122"/>
                <a:cs typeface="Roboto" pitchFamily="34" charset="-120"/>
              </a:rPr>
              <a:t> The prominence of uterine fibroids as the leading admission diagnosis suggests significant demand for gynecological services, potentially warranting expansion of women's health programs, dedicated surgical suites, and specialized nursing staff trained in post-operative care for fibroid treatments. The high volume of upper respiratory infections indicates opportunities for community-based preventive care initiatives, including flu vaccination drives and patient education on hygiene practices.</a:t>
            </a:r>
            <a:endParaRPr lang="en-US" sz="1000" dirty="0"/>
          </a:p>
        </p:txBody>
      </p:sp>
      <p:sp>
        <p:nvSpPr>
          <p:cNvPr id="31" name="Text 29"/>
          <p:cNvSpPr/>
          <p:nvPr/>
        </p:nvSpPr>
        <p:spPr>
          <a:xfrm>
            <a:off x="793790" y="6960989"/>
            <a:ext cx="13042821" cy="478988"/>
          </a:xfrm>
          <a:prstGeom prst="rect">
            <a:avLst/>
          </a:prstGeom>
          <a:noFill/>
          <a:ln/>
        </p:spPr>
        <p:txBody>
          <a:bodyPr wrap="square" lIns="0" tIns="0" rIns="0" bIns="0" rtlCol="0" anchor="t"/>
          <a:lstStyle/>
          <a:p>
            <a:pPr marL="0" indent="0" algn="l">
              <a:lnSpc>
                <a:spcPts val="1250"/>
              </a:lnSpc>
              <a:buNone/>
            </a:pPr>
            <a:r>
              <a:rPr lang="en-US" sz="1000" b="1" dirty="0">
                <a:solidFill>
                  <a:srgbClr val="384653"/>
                </a:solidFill>
                <a:latin typeface="Roboto" pitchFamily="34" charset="0"/>
                <a:ea typeface="Roboto" pitchFamily="34" charset="-122"/>
                <a:cs typeface="Roboto" pitchFamily="34" charset="-120"/>
              </a:rPr>
              <a:t>Care Pathway Optimization:</a:t>
            </a:r>
            <a:r>
              <a:rPr lang="en-US" sz="1000" dirty="0">
                <a:solidFill>
                  <a:srgbClr val="384653"/>
                </a:solidFill>
                <a:latin typeface="Roboto" pitchFamily="34" charset="0"/>
                <a:ea typeface="Roboto" pitchFamily="34" charset="-122"/>
                <a:cs typeface="Roboto" pitchFamily="34" charset="-120"/>
              </a:rPr>
              <a:t> Conditions like UTIs and upper respiratory infections may be amenable to enhanced outpatient management protocols or urgent care diversion strategies, potentially reducing inpatient admission rates while maintaining quality outcomes. Conversely, cardiac arrest admissions require continued investment in emergency response capabilities, advanced cardiac life support training, and post-resuscitation care pathways to optimize survival rates and neurological outcomes.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751165"/>
            <a:ext cx="6096238" cy="496133"/>
          </a:xfrm>
          <a:prstGeom prst="rect">
            <a:avLst/>
          </a:prstGeom>
          <a:noFill/>
          <a:ln/>
        </p:spPr>
        <p:txBody>
          <a:bodyPr wrap="none" lIns="0" tIns="0" rIns="0" bIns="0" rtlCol="0" anchor="t"/>
          <a:lstStyle/>
          <a:p>
            <a:pPr marL="0" indent="0" algn="l">
              <a:lnSpc>
                <a:spcPts val="3900"/>
              </a:lnSpc>
              <a:buNone/>
            </a:pPr>
            <a:r>
              <a:rPr lang="en-US" sz="3100" dirty="0">
                <a:solidFill>
                  <a:srgbClr val="2E3C4E"/>
                </a:solidFill>
                <a:latin typeface="Host Grotesk Medium" pitchFamily="34" charset="0"/>
                <a:ea typeface="Host Grotesk Medium" pitchFamily="34" charset="-122"/>
                <a:cs typeface="Host Grotesk Medium" pitchFamily="34" charset="-120"/>
              </a:rPr>
              <a:t>City-wise Admissions Distribution</a:t>
            </a:r>
            <a:endParaRPr lang="en-US" sz="3100" dirty="0"/>
          </a:p>
        </p:txBody>
      </p:sp>
      <p:sp>
        <p:nvSpPr>
          <p:cNvPr id="3" name="Text 1"/>
          <p:cNvSpPr/>
          <p:nvPr/>
        </p:nvSpPr>
        <p:spPr>
          <a:xfrm>
            <a:off x="793790" y="1298019"/>
            <a:ext cx="6456640" cy="396835"/>
          </a:xfrm>
          <a:prstGeom prst="rect">
            <a:avLst/>
          </a:prstGeom>
          <a:noFill/>
          <a:ln/>
        </p:spPr>
        <p:txBody>
          <a:bodyPr wrap="none" lIns="0" tIns="0" rIns="0" bIns="0" rtlCol="0" anchor="t"/>
          <a:lstStyle/>
          <a:p>
            <a:pPr marL="0" indent="0" algn="l">
              <a:lnSpc>
                <a:spcPts val="3100"/>
              </a:lnSpc>
              <a:buNone/>
            </a:pPr>
            <a:r>
              <a:rPr lang="en-US" sz="2500" dirty="0">
                <a:solidFill>
                  <a:srgbClr val="2E3C4E"/>
                </a:solidFill>
                <a:latin typeface="Host Grotesk Medium" pitchFamily="34" charset="0"/>
                <a:ea typeface="Host Grotesk Medium" pitchFamily="34" charset="-122"/>
                <a:cs typeface="Host Grotesk Medium" pitchFamily="34" charset="-120"/>
              </a:rPr>
              <a:t>Geographic Patterns in Healthcare Utilization</a:t>
            </a:r>
            <a:endParaRPr lang="en-US" sz="2500" dirty="0"/>
          </a:p>
        </p:txBody>
      </p:sp>
      <p:sp>
        <p:nvSpPr>
          <p:cNvPr id="4" name="Text 2"/>
          <p:cNvSpPr/>
          <p:nvPr/>
        </p:nvSpPr>
        <p:spPr>
          <a:xfrm>
            <a:off x="793790" y="1885355"/>
            <a:ext cx="13042821" cy="428625"/>
          </a:xfrm>
          <a:prstGeom prst="rect">
            <a:avLst/>
          </a:prstGeom>
          <a:noFill/>
          <a:ln/>
        </p:spPr>
        <p:txBody>
          <a:bodyPr wrap="square" lIns="0" tIns="0" rIns="0" bIns="0" rtlCol="0" anchor="t"/>
          <a:lstStyle/>
          <a:p>
            <a:pPr marL="0" indent="0" algn="l">
              <a:lnSpc>
                <a:spcPts val="1650"/>
              </a:lnSpc>
              <a:buNone/>
            </a:pPr>
            <a:r>
              <a:rPr lang="en-US" sz="1250" dirty="0">
                <a:solidFill>
                  <a:srgbClr val="384653"/>
                </a:solidFill>
                <a:latin typeface="Roboto" pitchFamily="34" charset="0"/>
                <a:ea typeface="Roboto" pitchFamily="34" charset="-122"/>
                <a:cs typeface="Roboto" pitchFamily="34" charset="-120"/>
              </a:rPr>
              <a:t>Geographic analysis of admission patterns reveals significant variation in healthcare utilization across different cities within our service area. Understanding these regional differences enables targeted community health interventions, strategic facility placement, and equitable resource distribution aligned with actual population health needs.</a:t>
            </a:r>
            <a:endParaRPr lang="en-US" sz="1250" dirty="0"/>
          </a:p>
        </p:txBody>
      </p:sp>
      <p:sp>
        <p:nvSpPr>
          <p:cNvPr id="5" name="Shape 3"/>
          <p:cNvSpPr/>
          <p:nvPr/>
        </p:nvSpPr>
        <p:spPr>
          <a:xfrm>
            <a:off x="793790" y="2536150"/>
            <a:ext cx="5894665" cy="198358"/>
          </a:xfrm>
          <a:prstGeom prst="roundRect">
            <a:avLst>
              <a:gd name="adj" fmla="val 33620"/>
            </a:avLst>
          </a:prstGeom>
          <a:solidFill>
            <a:srgbClr val="D9EDF2"/>
          </a:solidFill>
          <a:ln w="7620">
            <a:solidFill>
              <a:srgbClr val="BFD3D8"/>
            </a:solidFill>
            <a:prstDash val="solid"/>
          </a:ln>
        </p:spPr>
      </p:sp>
      <p:pic>
        <p:nvPicPr>
          <p:cNvPr id="6" name="Image 0" descr="preencoded.png"/>
          <p:cNvPicPr>
            <a:picLocks noChangeAspect="1"/>
          </p:cNvPicPr>
          <p:nvPr/>
        </p:nvPicPr>
        <p:blipFill>
          <a:blip r:embed="rId3"/>
          <a:stretch>
            <a:fillRect/>
          </a:stretch>
        </p:blipFill>
        <p:spPr>
          <a:xfrm>
            <a:off x="793790" y="2536150"/>
            <a:ext cx="1650444" cy="198358"/>
          </a:xfrm>
          <a:prstGeom prst="rect">
            <a:avLst/>
          </a:prstGeom>
        </p:spPr>
      </p:pic>
      <p:sp>
        <p:nvSpPr>
          <p:cNvPr id="7" name="Text 4"/>
          <p:cNvSpPr/>
          <p:nvPr/>
        </p:nvSpPr>
        <p:spPr>
          <a:xfrm>
            <a:off x="6807518" y="2536150"/>
            <a:ext cx="428268" cy="198358"/>
          </a:xfrm>
          <a:prstGeom prst="rect">
            <a:avLst/>
          </a:prstGeom>
          <a:noFill/>
          <a:ln/>
        </p:spPr>
        <p:txBody>
          <a:bodyPr wrap="none" lIns="0" tIns="0" rIns="0" bIns="0" rtlCol="0" anchor="t"/>
          <a:lstStyle/>
          <a:p>
            <a:pPr marL="0" indent="0" algn="l">
              <a:lnSpc>
                <a:spcPts val="1550"/>
              </a:lnSpc>
              <a:buNone/>
            </a:pPr>
            <a:r>
              <a:rPr lang="en-US" sz="1550" dirty="0">
                <a:solidFill>
                  <a:srgbClr val="384653"/>
                </a:solidFill>
                <a:latin typeface="Host Grotesk Medium" pitchFamily="34" charset="0"/>
                <a:ea typeface="Host Grotesk Medium" pitchFamily="34" charset="-122"/>
                <a:cs typeface="Host Grotesk Medium" pitchFamily="34" charset="-120"/>
              </a:rPr>
              <a:t>28%</a:t>
            </a:r>
            <a:endParaRPr lang="en-US" sz="1550" dirty="0"/>
          </a:p>
        </p:txBody>
      </p:sp>
      <p:sp>
        <p:nvSpPr>
          <p:cNvPr id="8" name="Text 5"/>
          <p:cNvSpPr/>
          <p:nvPr/>
        </p:nvSpPr>
        <p:spPr>
          <a:xfrm>
            <a:off x="793790" y="2909054"/>
            <a:ext cx="1984653" cy="248007"/>
          </a:xfrm>
          <a:prstGeom prst="rect">
            <a:avLst/>
          </a:prstGeom>
          <a:noFill/>
          <a:ln/>
        </p:spPr>
        <p:txBody>
          <a:bodyPr wrap="none" lIns="0" tIns="0" rIns="0" bIns="0" rtlCol="0" anchor="t"/>
          <a:lstStyle/>
          <a:p>
            <a:pPr marL="0" indent="0" algn="l">
              <a:lnSpc>
                <a:spcPts val="1950"/>
              </a:lnSpc>
              <a:buNone/>
            </a:pPr>
            <a:r>
              <a:rPr lang="en-US" sz="1550" dirty="0">
                <a:solidFill>
                  <a:srgbClr val="384653"/>
                </a:solidFill>
                <a:latin typeface="Host Grotesk Medium" pitchFamily="34" charset="0"/>
                <a:ea typeface="Host Grotesk Medium" pitchFamily="34" charset="-122"/>
                <a:cs typeface="Host Grotesk Medium" pitchFamily="34" charset="-120"/>
              </a:rPr>
              <a:t>Waterford</a:t>
            </a:r>
            <a:endParaRPr lang="en-US" sz="1550" dirty="0"/>
          </a:p>
        </p:txBody>
      </p:sp>
      <p:sp>
        <p:nvSpPr>
          <p:cNvPr id="9" name="Text 6"/>
          <p:cNvSpPr/>
          <p:nvPr/>
        </p:nvSpPr>
        <p:spPr>
          <a:xfrm>
            <a:off x="793790" y="3233261"/>
            <a:ext cx="6441996" cy="214312"/>
          </a:xfrm>
          <a:prstGeom prst="rect">
            <a:avLst/>
          </a:prstGeom>
          <a:noFill/>
          <a:ln/>
        </p:spPr>
        <p:txBody>
          <a:bodyPr wrap="none" lIns="0" tIns="0" rIns="0" bIns="0" rtlCol="0" anchor="t"/>
          <a:lstStyle/>
          <a:p>
            <a:pPr marL="0" indent="0" algn="l">
              <a:lnSpc>
                <a:spcPts val="1650"/>
              </a:lnSpc>
              <a:buNone/>
            </a:pPr>
            <a:r>
              <a:rPr lang="en-US" sz="1250" dirty="0">
                <a:solidFill>
                  <a:srgbClr val="384653"/>
                </a:solidFill>
                <a:latin typeface="Roboto" pitchFamily="34" charset="0"/>
                <a:ea typeface="Roboto" pitchFamily="34" charset="-122"/>
                <a:cs typeface="Roboto" pitchFamily="34" charset="-120"/>
              </a:rPr>
              <a:t>Highest admission volume requiring enhanced capacity</a:t>
            </a:r>
            <a:endParaRPr lang="en-US" sz="1250" dirty="0"/>
          </a:p>
        </p:txBody>
      </p:sp>
      <p:sp>
        <p:nvSpPr>
          <p:cNvPr id="10" name="Shape 7"/>
          <p:cNvSpPr/>
          <p:nvPr/>
        </p:nvSpPr>
        <p:spPr>
          <a:xfrm>
            <a:off x="7394496" y="2536150"/>
            <a:ext cx="5894784" cy="198358"/>
          </a:xfrm>
          <a:prstGeom prst="roundRect">
            <a:avLst>
              <a:gd name="adj" fmla="val 33620"/>
            </a:avLst>
          </a:prstGeom>
          <a:solidFill>
            <a:srgbClr val="D9EDF2"/>
          </a:solidFill>
          <a:ln w="7620">
            <a:solidFill>
              <a:srgbClr val="BFD3D8"/>
            </a:solidFill>
            <a:prstDash val="solid"/>
          </a:ln>
        </p:spPr>
      </p:sp>
      <p:pic>
        <p:nvPicPr>
          <p:cNvPr id="11" name="Image 1" descr="preencoded.png"/>
          <p:cNvPicPr>
            <a:picLocks noChangeAspect="1"/>
          </p:cNvPicPr>
          <p:nvPr/>
        </p:nvPicPr>
        <p:blipFill>
          <a:blip r:embed="rId4"/>
          <a:stretch>
            <a:fillRect/>
          </a:stretch>
        </p:blipFill>
        <p:spPr>
          <a:xfrm>
            <a:off x="7394496" y="2536150"/>
            <a:ext cx="1296829" cy="198358"/>
          </a:xfrm>
          <a:prstGeom prst="rect">
            <a:avLst/>
          </a:prstGeom>
        </p:spPr>
      </p:pic>
      <p:sp>
        <p:nvSpPr>
          <p:cNvPr id="12" name="Text 8"/>
          <p:cNvSpPr/>
          <p:nvPr/>
        </p:nvSpPr>
        <p:spPr>
          <a:xfrm>
            <a:off x="13408343" y="2536150"/>
            <a:ext cx="428268" cy="198358"/>
          </a:xfrm>
          <a:prstGeom prst="rect">
            <a:avLst/>
          </a:prstGeom>
          <a:noFill/>
          <a:ln/>
        </p:spPr>
        <p:txBody>
          <a:bodyPr wrap="none" lIns="0" tIns="0" rIns="0" bIns="0" rtlCol="0" anchor="t"/>
          <a:lstStyle/>
          <a:p>
            <a:pPr marL="0" indent="0" algn="l">
              <a:lnSpc>
                <a:spcPts val="1550"/>
              </a:lnSpc>
              <a:buNone/>
            </a:pPr>
            <a:r>
              <a:rPr lang="en-US" sz="1550" dirty="0">
                <a:solidFill>
                  <a:srgbClr val="384653"/>
                </a:solidFill>
                <a:latin typeface="Host Grotesk Medium" pitchFamily="34" charset="0"/>
                <a:ea typeface="Host Grotesk Medium" pitchFamily="34" charset="-122"/>
                <a:cs typeface="Host Grotesk Medium" pitchFamily="34" charset="-120"/>
              </a:rPr>
              <a:t>22%</a:t>
            </a:r>
            <a:endParaRPr lang="en-US" sz="1550" dirty="0"/>
          </a:p>
        </p:txBody>
      </p:sp>
      <p:sp>
        <p:nvSpPr>
          <p:cNvPr id="13" name="Text 9"/>
          <p:cNvSpPr/>
          <p:nvPr/>
        </p:nvSpPr>
        <p:spPr>
          <a:xfrm>
            <a:off x="7394496" y="2909054"/>
            <a:ext cx="1984653" cy="248007"/>
          </a:xfrm>
          <a:prstGeom prst="rect">
            <a:avLst/>
          </a:prstGeom>
          <a:noFill/>
          <a:ln/>
        </p:spPr>
        <p:txBody>
          <a:bodyPr wrap="none" lIns="0" tIns="0" rIns="0" bIns="0" rtlCol="0" anchor="t"/>
          <a:lstStyle/>
          <a:p>
            <a:pPr marL="0" indent="0" algn="l">
              <a:lnSpc>
                <a:spcPts val="1950"/>
              </a:lnSpc>
              <a:buNone/>
            </a:pPr>
            <a:r>
              <a:rPr lang="en-US" sz="1550" dirty="0">
                <a:solidFill>
                  <a:srgbClr val="384653"/>
                </a:solidFill>
                <a:latin typeface="Host Grotesk Medium" pitchFamily="34" charset="0"/>
                <a:ea typeface="Host Grotesk Medium" pitchFamily="34" charset="-122"/>
                <a:cs typeface="Host Grotesk Medium" pitchFamily="34" charset="-120"/>
              </a:rPr>
              <a:t>Windsor</a:t>
            </a:r>
            <a:endParaRPr lang="en-US" sz="1550" dirty="0"/>
          </a:p>
        </p:txBody>
      </p:sp>
      <p:sp>
        <p:nvSpPr>
          <p:cNvPr id="14" name="Text 10"/>
          <p:cNvSpPr/>
          <p:nvPr/>
        </p:nvSpPr>
        <p:spPr>
          <a:xfrm>
            <a:off x="7394496" y="3233261"/>
            <a:ext cx="6442115" cy="214312"/>
          </a:xfrm>
          <a:prstGeom prst="rect">
            <a:avLst/>
          </a:prstGeom>
          <a:noFill/>
          <a:ln/>
        </p:spPr>
        <p:txBody>
          <a:bodyPr wrap="none" lIns="0" tIns="0" rIns="0" bIns="0" rtlCol="0" anchor="t"/>
          <a:lstStyle/>
          <a:p>
            <a:pPr marL="0" indent="0" algn="l">
              <a:lnSpc>
                <a:spcPts val="1650"/>
              </a:lnSpc>
              <a:buNone/>
            </a:pPr>
            <a:r>
              <a:rPr lang="en-US" sz="1250" dirty="0">
                <a:solidFill>
                  <a:srgbClr val="384653"/>
                </a:solidFill>
                <a:latin typeface="Roboto" pitchFamily="34" charset="0"/>
                <a:ea typeface="Roboto" pitchFamily="34" charset="-122"/>
                <a:cs typeface="Roboto" pitchFamily="34" charset="-120"/>
              </a:rPr>
              <a:t>Second-highest utilization indicating strong demand</a:t>
            </a:r>
            <a:endParaRPr lang="en-US" sz="1250" dirty="0"/>
          </a:p>
        </p:txBody>
      </p:sp>
      <p:sp>
        <p:nvSpPr>
          <p:cNvPr id="15" name="Shape 11"/>
          <p:cNvSpPr/>
          <p:nvPr/>
        </p:nvSpPr>
        <p:spPr>
          <a:xfrm>
            <a:off x="793790" y="3780830"/>
            <a:ext cx="5894665" cy="198358"/>
          </a:xfrm>
          <a:prstGeom prst="roundRect">
            <a:avLst>
              <a:gd name="adj" fmla="val 33620"/>
            </a:avLst>
          </a:prstGeom>
          <a:solidFill>
            <a:srgbClr val="D9EDF2"/>
          </a:solidFill>
          <a:ln w="7620">
            <a:solidFill>
              <a:srgbClr val="BFD3D8"/>
            </a:solidFill>
            <a:prstDash val="solid"/>
          </a:ln>
        </p:spPr>
      </p:sp>
      <p:pic>
        <p:nvPicPr>
          <p:cNvPr id="16" name="Image 2" descr="preencoded.png"/>
          <p:cNvPicPr>
            <a:picLocks noChangeAspect="1"/>
          </p:cNvPicPr>
          <p:nvPr/>
        </p:nvPicPr>
        <p:blipFill>
          <a:blip r:embed="rId5"/>
          <a:stretch>
            <a:fillRect/>
          </a:stretch>
        </p:blipFill>
        <p:spPr>
          <a:xfrm>
            <a:off x="793790" y="3780830"/>
            <a:ext cx="1119902" cy="198358"/>
          </a:xfrm>
          <a:prstGeom prst="rect">
            <a:avLst/>
          </a:prstGeom>
        </p:spPr>
      </p:pic>
      <p:sp>
        <p:nvSpPr>
          <p:cNvPr id="17" name="Text 12"/>
          <p:cNvSpPr/>
          <p:nvPr/>
        </p:nvSpPr>
        <p:spPr>
          <a:xfrm>
            <a:off x="6807518" y="3780830"/>
            <a:ext cx="428268" cy="198358"/>
          </a:xfrm>
          <a:prstGeom prst="rect">
            <a:avLst/>
          </a:prstGeom>
          <a:noFill/>
          <a:ln/>
        </p:spPr>
        <p:txBody>
          <a:bodyPr wrap="none" lIns="0" tIns="0" rIns="0" bIns="0" rtlCol="0" anchor="t"/>
          <a:lstStyle/>
          <a:p>
            <a:pPr marL="0" indent="0" algn="l">
              <a:lnSpc>
                <a:spcPts val="1550"/>
              </a:lnSpc>
              <a:buNone/>
            </a:pPr>
            <a:r>
              <a:rPr lang="en-US" sz="1550" dirty="0">
                <a:solidFill>
                  <a:srgbClr val="384653"/>
                </a:solidFill>
                <a:latin typeface="Host Grotesk Medium" pitchFamily="34" charset="0"/>
                <a:ea typeface="Host Grotesk Medium" pitchFamily="34" charset="-122"/>
                <a:cs typeface="Host Grotesk Medium" pitchFamily="34" charset="-120"/>
              </a:rPr>
              <a:t>19%</a:t>
            </a:r>
            <a:endParaRPr lang="en-US" sz="1550" dirty="0"/>
          </a:p>
        </p:txBody>
      </p:sp>
      <p:sp>
        <p:nvSpPr>
          <p:cNvPr id="18" name="Text 13"/>
          <p:cNvSpPr/>
          <p:nvPr/>
        </p:nvSpPr>
        <p:spPr>
          <a:xfrm>
            <a:off x="793790" y="4153733"/>
            <a:ext cx="1984653" cy="248007"/>
          </a:xfrm>
          <a:prstGeom prst="rect">
            <a:avLst/>
          </a:prstGeom>
          <a:noFill/>
          <a:ln/>
        </p:spPr>
        <p:txBody>
          <a:bodyPr wrap="none" lIns="0" tIns="0" rIns="0" bIns="0" rtlCol="0" anchor="t"/>
          <a:lstStyle/>
          <a:p>
            <a:pPr marL="0" indent="0" algn="l">
              <a:lnSpc>
                <a:spcPts val="1950"/>
              </a:lnSpc>
              <a:buNone/>
            </a:pPr>
            <a:r>
              <a:rPr lang="en-US" sz="1550" dirty="0">
                <a:solidFill>
                  <a:srgbClr val="384653"/>
                </a:solidFill>
                <a:latin typeface="Host Grotesk Medium" pitchFamily="34" charset="0"/>
                <a:ea typeface="Host Grotesk Medium" pitchFamily="34" charset="-122"/>
                <a:cs typeface="Host Grotesk Medium" pitchFamily="34" charset="-120"/>
              </a:rPr>
              <a:t>Whitby</a:t>
            </a:r>
            <a:endParaRPr lang="en-US" sz="1550" dirty="0"/>
          </a:p>
        </p:txBody>
      </p:sp>
      <p:sp>
        <p:nvSpPr>
          <p:cNvPr id="19" name="Text 14"/>
          <p:cNvSpPr/>
          <p:nvPr/>
        </p:nvSpPr>
        <p:spPr>
          <a:xfrm>
            <a:off x="793790" y="4477941"/>
            <a:ext cx="6441996" cy="214312"/>
          </a:xfrm>
          <a:prstGeom prst="rect">
            <a:avLst/>
          </a:prstGeom>
          <a:noFill/>
          <a:ln/>
        </p:spPr>
        <p:txBody>
          <a:bodyPr wrap="none" lIns="0" tIns="0" rIns="0" bIns="0" rtlCol="0" anchor="t"/>
          <a:lstStyle/>
          <a:p>
            <a:pPr marL="0" indent="0" algn="l">
              <a:lnSpc>
                <a:spcPts val="1650"/>
              </a:lnSpc>
              <a:buNone/>
            </a:pPr>
            <a:r>
              <a:rPr lang="en-US" sz="1250" dirty="0">
                <a:solidFill>
                  <a:srgbClr val="384653"/>
                </a:solidFill>
                <a:latin typeface="Roboto" pitchFamily="34" charset="0"/>
                <a:ea typeface="Roboto" pitchFamily="34" charset="-122"/>
                <a:cs typeface="Roboto" pitchFamily="34" charset="-120"/>
              </a:rPr>
              <a:t>Moderate admission levels with growth potential</a:t>
            </a:r>
            <a:endParaRPr lang="en-US" sz="1250" dirty="0"/>
          </a:p>
        </p:txBody>
      </p:sp>
      <p:sp>
        <p:nvSpPr>
          <p:cNvPr id="20" name="Shape 15"/>
          <p:cNvSpPr/>
          <p:nvPr/>
        </p:nvSpPr>
        <p:spPr>
          <a:xfrm>
            <a:off x="7394496" y="3780830"/>
            <a:ext cx="5894784" cy="198358"/>
          </a:xfrm>
          <a:prstGeom prst="roundRect">
            <a:avLst>
              <a:gd name="adj" fmla="val 33620"/>
            </a:avLst>
          </a:prstGeom>
          <a:solidFill>
            <a:srgbClr val="D9EDF2"/>
          </a:solidFill>
          <a:ln w="7620">
            <a:solidFill>
              <a:srgbClr val="BFD3D8"/>
            </a:solidFill>
            <a:prstDash val="solid"/>
          </a:ln>
        </p:spPr>
      </p:sp>
      <p:pic>
        <p:nvPicPr>
          <p:cNvPr id="21" name="Image 3" descr="preencoded.png"/>
          <p:cNvPicPr>
            <a:picLocks noChangeAspect="1"/>
          </p:cNvPicPr>
          <p:nvPr/>
        </p:nvPicPr>
        <p:blipFill>
          <a:blip r:embed="rId6"/>
          <a:stretch>
            <a:fillRect/>
          </a:stretch>
        </p:blipFill>
        <p:spPr>
          <a:xfrm>
            <a:off x="7394496" y="3780830"/>
            <a:ext cx="707350" cy="198358"/>
          </a:xfrm>
          <a:prstGeom prst="rect">
            <a:avLst/>
          </a:prstGeom>
        </p:spPr>
      </p:pic>
      <p:sp>
        <p:nvSpPr>
          <p:cNvPr id="22" name="Text 16"/>
          <p:cNvSpPr/>
          <p:nvPr/>
        </p:nvSpPr>
        <p:spPr>
          <a:xfrm>
            <a:off x="13408343" y="3780830"/>
            <a:ext cx="428268" cy="198358"/>
          </a:xfrm>
          <a:prstGeom prst="rect">
            <a:avLst/>
          </a:prstGeom>
          <a:noFill/>
          <a:ln/>
        </p:spPr>
        <p:txBody>
          <a:bodyPr wrap="none" lIns="0" tIns="0" rIns="0" bIns="0" rtlCol="0" anchor="t"/>
          <a:lstStyle/>
          <a:p>
            <a:pPr marL="0" indent="0" algn="l">
              <a:lnSpc>
                <a:spcPts val="1550"/>
              </a:lnSpc>
              <a:buNone/>
            </a:pPr>
            <a:r>
              <a:rPr lang="en-US" sz="1550" dirty="0">
                <a:solidFill>
                  <a:srgbClr val="384653"/>
                </a:solidFill>
                <a:latin typeface="Host Grotesk Medium" pitchFamily="34" charset="0"/>
                <a:ea typeface="Host Grotesk Medium" pitchFamily="34" charset="-122"/>
                <a:cs typeface="Host Grotesk Medium" pitchFamily="34" charset="-120"/>
              </a:rPr>
              <a:t>12%</a:t>
            </a:r>
            <a:endParaRPr lang="en-US" sz="1550" dirty="0"/>
          </a:p>
        </p:txBody>
      </p:sp>
      <p:sp>
        <p:nvSpPr>
          <p:cNvPr id="23" name="Text 17"/>
          <p:cNvSpPr/>
          <p:nvPr/>
        </p:nvSpPr>
        <p:spPr>
          <a:xfrm>
            <a:off x="7394496" y="4153733"/>
            <a:ext cx="1984653" cy="248007"/>
          </a:xfrm>
          <a:prstGeom prst="rect">
            <a:avLst/>
          </a:prstGeom>
          <a:noFill/>
          <a:ln/>
        </p:spPr>
        <p:txBody>
          <a:bodyPr wrap="none" lIns="0" tIns="0" rIns="0" bIns="0" rtlCol="0" anchor="t"/>
          <a:lstStyle/>
          <a:p>
            <a:pPr marL="0" indent="0" algn="l">
              <a:lnSpc>
                <a:spcPts val="1950"/>
              </a:lnSpc>
              <a:buNone/>
            </a:pPr>
            <a:r>
              <a:rPr lang="en-US" sz="1550" dirty="0">
                <a:solidFill>
                  <a:srgbClr val="384653"/>
                </a:solidFill>
                <a:latin typeface="Host Grotesk Medium" pitchFamily="34" charset="0"/>
                <a:ea typeface="Host Grotesk Medium" pitchFamily="34" charset="-122"/>
                <a:cs typeface="Host Grotesk Medium" pitchFamily="34" charset="-120"/>
              </a:rPr>
              <a:t>Winona</a:t>
            </a:r>
            <a:endParaRPr lang="en-US" sz="1550" dirty="0"/>
          </a:p>
        </p:txBody>
      </p:sp>
      <p:sp>
        <p:nvSpPr>
          <p:cNvPr id="24" name="Text 18"/>
          <p:cNvSpPr/>
          <p:nvPr/>
        </p:nvSpPr>
        <p:spPr>
          <a:xfrm>
            <a:off x="7394496" y="4477941"/>
            <a:ext cx="6442115" cy="214312"/>
          </a:xfrm>
          <a:prstGeom prst="rect">
            <a:avLst/>
          </a:prstGeom>
          <a:noFill/>
          <a:ln/>
        </p:spPr>
        <p:txBody>
          <a:bodyPr wrap="none" lIns="0" tIns="0" rIns="0" bIns="0" rtlCol="0" anchor="t"/>
          <a:lstStyle/>
          <a:p>
            <a:pPr marL="0" indent="0" algn="l">
              <a:lnSpc>
                <a:spcPts val="1650"/>
              </a:lnSpc>
              <a:buNone/>
            </a:pPr>
            <a:r>
              <a:rPr lang="en-US" sz="1250" dirty="0">
                <a:solidFill>
                  <a:srgbClr val="384653"/>
                </a:solidFill>
                <a:latin typeface="Roboto" pitchFamily="34" charset="0"/>
                <a:ea typeface="Roboto" pitchFamily="34" charset="-122"/>
                <a:cs typeface="Roboto" pitchFamily="34" charset="-120"/>
              </a:rPr>
              <a:t>Lowest admission rates suggesting underutilization or access barriers</a:t>
            </a:r>
            <a:endParaRPr lang="en-US" sz="1250" dirty="0"/>
          </a:p>
        </p:txBody>
      </p:sp>
      <p:sp>
        <p:nvSpPr>
          <p:cNvPr id="25" name="Text 19"/>
          <p:cNvSpPr/>
          <p:nvPr/>
        </p:nvSpPr>
        <p:spPr>
          <a:xfrm>
            <a:off x="793790" y="4835128"/>
            <a:ext cx="13042821" cy="642938"/>
          </a:xfrm>
          <a:prstGeom prst="rect">
            <a:avLst/>
          </a:prstGeom>
          <a:noFill/>
          <a:ln/>
        </p:spPr>
        <p:txBody>
          <a:bodyPr wrap="square" lIns="0" tIns="0" rIns="0" bIns="0" rtlCol="0" anchor="t"/>
          <a:lstStyle/>
          <a:p>
            <a:pPr marL="0" indent="0" algn="l">
              <a:lnSpc>
                <a:spcPts val="1650"/>
              </a:lnSpc>
              <a:buNone/>
            </a:pPr>
            <a:r>
              <a:rPr lang="en-US" sz="1250" b="1" dirty="0">
                <a:solidFill>
                  <a:srgbClr val="384653"/>
                </a:solidFill>
                <a:latin typeface="Roboto" pitchFamily="34" charset="0"/>
                <a:ea typeface="Roboto" pitchFamily="34" charset="-122"/>
                <a:cs typeface="Roboto" pitchFamily="34" charset="-120"/>
              </a:rPr>
              <a:t>Waterford Analysis:</a:t>
            </a:r>
            <a:r>
              <a:rPr lang="en-US" sz="1250" dirty="0">
                <a:solidFill>
                  <a:srgbClr val="384653"/>
                </a:solidFill>
                <a:latin typeface="Roboto" pitchFamily="34" charset="0"/>
                <a:ea typeface="Roboto" pitchFamily="34" charset="-122"/>
                <a:cs typeface="Roboto" pitchFamily="34" charset="-120"/>
              </a:rPr>
              <a:t> The dramatically higher admission rate from Waterford warrants investigation into underlying drivers. Potential explanations include larger population size, older demographic profile, higher chronic disease prevalence, or superior healthcare access compared to other cities. This concentration creates both opportunities and risks—while high volume enables specialized service development and economies of scale, it also creates capacity strain and potential access delays during peak periods.</a:t>
            </a:r>
            <a:endParaRPr lang="en-US" sz="1250" dirty="0"/>
          </a:p>
        </p:txBody>
      </p:sp>
      <p:sp>
        <p:nvSpPr>
          <p:cNvPr id="26" name="Text 20"/>
          <p:cNvSpPr/>
          <p:nvPr/>
        </p:nvSpPr>
        <p:spPr>
          <a:xfrm>
            <a:off x="793790" y="5620941"/>
            <a:ext cx="13042821" cy="857250"/>
          </a:xfrm>
          <a:prstGeom prst="rect">
            <a:avLst/>
          </a:prstGeom>
          <a:noFill/>
          <a:ln/>
        </p:spPr>
        <p:txBody>
          <a:bodyPr wrap="square" lIns="0" tIns="0" rIns="0" bIns="0" rtlCol="0" anchor="t"/>
          <a:lstStyle/>
          <a:p>
            <a:pPr marL="0" indent="0" algn="l">
              <a:lnSpc>
                <a:spcPts val="1650"/>
              </a:lnSpc>
              <a:buNone/>
            </a:pPr>
            <a:r>
              <a:rPr lang="en-US" sz="1250" b="1" dirty="0">
                <a:solidFill>
                  <a:srgbClr val="384653"/>
                </a:solidFill>
                <a:latin typeface="Roboto" pitchFamily="34" charset="0"/>
                <a:ea typeface="Roboto" pitchFamily="34" charset="-122"/>
                <a:cs typeface="Roboto" pitchFamily="34" charset="-120"/>
              </a:rPr>
              <a:t>Winona Considerations:</a:t>
            </a:r>
            <a:r>
              <a:rPr lang="en-US" sz="1250" dirty="0">
                <a:solidFill>
                  <a:srgbClr val="384653"/>
                </a:solidFill>
                <a:latin typeface="Roboto" pitchFamily="34" charset="0"/>
                <a:ea typeface="Roboto" pitchFamily="34" charset="-122"/>
                <a:cs typeface="Roboto" pitchFamily="34" charset="-120"/>
              </a:rPr>
              <a:t> The significantly lower admission rate from Winona raises important questions about healthcare accessibility and community health needs. Possible factors include transportation barriers limiting hospital access, population preference for alternative healthcare facilities outside our network, lower disease prevalence due to demographic or socioeconomic factors, or inadequate awareness of available services. Targeted community outreach, mobile health services, or partnerships with local healthcare providers could improve access and capture unmet needs.</a:t>
            </a:r>
            <a:endParaRPr lang="en-US" sz="1250" dirty="0"/>
          </a:p>
        </p:txBody>
      </p:sp>
      <p:sp>
        <p:nvSpPr>
          <p:cNvPr id="27" name="Text 21"/>
          <p:cNvSpPr/>
          <p:nvPr/>
        </p:nvSpPr>
        <p:spPr>
          <a:xfrm>
            <a:off x="793790" y="6621066"/>
            <a:ext cx="13042821" cy="857250"/>
          </a:xfrm>
          <a:prstGeom prst="rect">
            <a:avLst/>
          </a:prstGeom>
          <a:noFill/>
          <a:ln/>
        </p:spPr>
        <p:txBody>
          <a:bodyPr wrap="square" lIns="0" tIns="0" rIns="0" bIns="0" rtlCol="0" anchor="t"/>
          <a:lstStyle/>
          <a:p>
            <a:pPr marL="0" indent="0" algn="l">
              <a:lnSpc>
                <a:spcPts val="1650"/>
              </a:lnSpc>
              <a:buNone/>
            </a:pPr>
            <a:r>
              <a:rPr lang="en-US" sz="1250" b="1" dirty="0">
                <a:solidFill>
                  <a:srgbClr val="384653"/>
                </a:solidFill>
                <a:latin typeface="Roboto" pitchFamily="34" charset="0"/>
                <a:ea typeface="Roboto" pitchFamily="34" charset="-122"/>
                <a:cs typeface="Roboto" pitchFamily="34" charset="-120"/>
              </a:rPr>
              <a:t>Strategic Recommendations:</a:t>
            </a:r>
            <a:r>
              <a:rPr lang="en-US" sz="1250" dirty="0">
                <a:solidFill>
                  <a:srgbClr val="384653"/>
                </a:solidFill>
                <a:latin typeface="Roboto" pitchFamily="34" charset="0"/>
                <a:ea typeface="Roboto" pitchFamily="34" charset="-122"/>
                <a:cs typeface="Roboto" pitchFamily="34" charset="-120"/>
              </a:rPr>
              <a:t> Geographic admission patterns should inform facility planning decisions, including potential satellite clinics in underserved areas like Winona, capacity expansion in high-volume markets like Waterford and Windsor, and community-specific health education programs tailored to regional disease prevalence. Additionally, analyzing demographic and socioeconomic characteristics of each city alongside admission patterns would provide deeper insights into health equity and access disparities requiring policy-level interventions.</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885587"/>
            <a:ext cx="6198156" cy="496133"/>
          </a:xfrm>
          <a:prstGeom prst="rect">
            <a:avLst/>
          </a:prstGeom>
          <a:noFill/>
          <a:ln/>
        </p:spPr>
        <p:txBody>
          <a:bodyPr wrap="none" lIns="0" tIns="0" rIns="0" bIns="0" rtlCol="0" anchor="t"/>
          <a:lstStyle/>
          <a:p>
            <a:pPr marL="0" indent="0" algn="l">
              <a:lnSpc>
                <a:spcPts val="3900"/>
              </a:lnSpc>
              <a:buNone/>
            </a:pPr>
            <a:r>
              <a:rPr lang="en-US" sz="3100" dirty="0">
                <a:solidFill>
                  <a:srgbClr val="2E3C4E"/>
                </a:solidFill>
                <a:latin typeface="Host Grotesk Medium" pitchFamily="34" charset="0"/>
                <a:ea typeface="Host Grotesk Medium" pitchFamily="34" charset="-122"/>
                <a:cs typeface="Host Grotesk Medium" pitchFamily="34" charset="-120"/>
              </a:rPr>
              <a:t>Doctor-wise Patient Load Analysis</a:t>
            </a:r>
            <a:endParaRPr lang="en-US" sz="3100" dirty="0"/>
          </a:p>
        </p:txBody>
      </p:sp>
      <p:sp>
        <p:nvSpPr>
          <p:cNvPr id="3" name="Text 1"/>
          <p:cNvSpPr/>
          <p:nvPr/>
        </p:nvSpPr>
        <p:spPr>
          <a:xfrm>
            <a:off x="793790" y="1432441"/>
            <a:ext cx="6707505" cy="396835"/>
          </a:xfrm>
          <a:prstGeom prst="rect">
            <a:avLst/>
          </a:prstGeom>
          <a:noFill/>
          <a:ln/>
        </p:spPr>
        <p:txBody>
          <a:bodyPr wrap="none" lIns="0" tIns="0" rIns="0" bIns="0" rtlCol="0" anchor="t"/>
          <a:lstStyle/>
          <a:p>
            <a:pPr marL="0" indent="0" algn="l">
              <a:lnSpc>
                <a:spcPts val="3100"/>
              </a:lnSpc>
              <a:buNone/>
            </a:pPr>
            <a:r>
              <a:rPr lang="en-US" sz="2500" dirty="0">
                <a:solidFill>
                  <a:srgbClr val="2E3C4E"/>
                </a:solidFill>
                <a:latin typeface="Host Grotesk Medium" pitchFamily="34" charset="0"/>
                <a:ea typeface="Host Grotesk Medium" pitchFamily="34" charset="-122"/>
                <a:cs typeface="Host Grotesk Medium" pitchFamily="34" charset="-120"/>
              </a:rPr>
              <a:t>Workload Distribution and Resource Allocation</a:t>
            </a:r>
            <a:endParaRPr lang="en-US" sz="2500" dirty="0"/>
          </a:p>
        </p:txBody>
      </p:sp>
      <p:sp>
        <p:nvSpPr>
          <p:cNvPr id="4" name="Text 2"/>
          <p:cNvSpPr/>
          <p:nvPr/>
        </p:nvSpPr>
        <p:spPr>
          <a:xfrm>
            <a:off x="793790" y="2019776"/>
            <a:ext cx="13042821" cy="428625"/>
          </a:xfrm>
          <a:prstGeom prst="rect">
            <a:avLst/>
          </a:prstGeom>
          <a:noFill/>
          <a:ln/>
        </p:spPr>
        <p:txBody>
          <a:bodyPr wrap="square" lIns="0" tIns="0" rIns="0" bIns="0" rtlCol="0" anchor="t"/>
          <a:lstStyle/>
          <a:p>
            <a:pPr marL="0" indent="0" algn="l">
              <a:lnSpc>
                <a:spcPts val="1650"/>
              </a:lnSpc>
              <a:buNone/>
            </a:pPr>
            <a:r>
              <a:rPr lang="en-US" sz="1250" dirty="0">
                <a:solidFill>
                  <a:srgbClr val="384653"/>
                </a:solidFill>
                <a:latin typeface="Roboto" pitchFamily="34" charset="0"/>
                <a:ea typeface="Roboto" pitchFamily="34" charset="-122"/>
                <a:cs typeface="Roboto" pitchFamily="34" charset="-120"/>
              </a:rPr>
              <a:t>Analysis of patient assignments across our 27-physician workforce reveals significant imbalances in workload distribution, with implications for provider burnout, care quality, and operational efficiency. Understanding these patterns enables evidence-based workforce planning and more equitable patient assignment protocols.</a:t>
            </a:r>
            <a:endParaRPr lang="en-US" sz="1250" dirty="0"/>
          </a:p>
        </p:txBody>
      </p:sp>
      <p:sp>
        <p:nvSpPr>
          <p:cNvPr id="5" name="Text 3"/>
          <p:cNvSpPr/>
          <p:nvPr/>
        </p:nvSpPr>
        <p:spPr>
          <a:xfrm>
            <a:off x="793790" y="2718197"/>
            <a:ext cx="2490549" cy="297656"/>
          </a:xfrm>
          <a:prstGeom prst="rect">
            <a:avLst/>
          </a:prstGeom>
          <a:noFill/>
          <a:ln/>
        </p:spPr>
        <p:txBody>
          <a:bodyPr wrap="none" lIns="0" tIns="0" rIns="0" bIns="0" rtlCol="0" anchor="t"/>
          <a:lstStyle/>
          <a:p>
            <a:pPr marL="0" indent="0" algn="l">
              <a:lnSpc>
                <a:spcPts val="2300"/>
              </a:lnSpc>
              <a:buNone/>
            </a:pPr>
            <a:r>
              <a:rPr lang="en-US" sz="1850" dirty="0">
                <a:solidFill>
                  <a:srgbClr val="2E3C4E"/>
                </a:solidFill>
                <a:latin typeface="Host Grotesk Medium" pitchFamily="34" charset="0"/>
                <a:ea typeface="Host Grotesk Medium" pitchFamily="34" charset="-122"/>
                <a:cs typeface="Host Grotesk Medium" pitchFamily="34" charset="-120"/>
              </a:rPr>
              <a:t>High-Volume Providers</a:t>
            </a:r>
            <a:endParaRPr lang="en-US" sz="1850" dirty="0"/>
          </a:p>
        </p:txBody>
      </p:sp>
      <p:sp>
        <p:nvSpPr>
          <p:cNvPr id="6" name="Shape 4"/>
          <p:cNvSpPr/>
          <p:nvPr/>
        </p:nvSpPr>
        <p:spPr>
          <a:xfrm>
            <a:off x="793790" y="3158728"/>
            <a:ext cx="3100388" cy="1779151"/>
          </a:xfrm>
          <a:prstGeom prst="roundRect">
            <a:avLst>
              <a:gd name="adj" fmla="val 3748"/>
            </a:avLst>
          </a:prstGeom>
          <a:solidFill>
            <a:srgbClr val="D9EDF2"/>
          </a:solidFill>
          <a:ln w="7620">
            <a:solidFill>
              <a:srgbClr val="BFD3D8"/>
            </a:solidFill>
            <a:prstDash val="solid"/>
          </a:ln>
        </p:spPr>
      </p:sp>
      <p:sp>
        <p:nvSpPr>
          <p:cNvPr id="7" name="Text 5"/>
          <p:cNvSpPr/>
          <p:nvPr/>
        </p:nvSpPr>
        <p:spPr>
          <a:xfrm>
            <a:off x="960120" y="3325058"/>
            <a:ext cx="1984653" cy="248007"/>
          </a:xfrm>
          <a:prstGeom prst="rect">
            <a:avLst/>
          </a:prstGeom>
          <a:noFill/>
          <a:ln/>
        </p:spPr>
        <p:txBody>
          <a:bodyPr wrap="none" lIns="0" tIns="0" rIns="0" bIns="0" rtlCol="0" anchor="t"/>
          <a:lstStyle/>
          <a:p>
            <a:pPr marL="0" indent="0" algn="l">
              <a:lnSpc>
                <a:spcPts val="1950"/>
              </a:lnSpc>
              <a:buNone/>
            </a:pPr>
            <a:r>
              <a:rPr lang="en-US" sz="1550" dirty="0">
                <a:solidFill>
                  <a:srgbClr val="384653"/>
                </a:solidFill>
                <a:latin typeface="Host Grotesk Medium" pitchFamily="34" charset="0"/>
                <a:ea typeface="Host Grotesk Medium" pitchFamily="34" charset="-122"/>
                <a:cs typeface="Host Grotesk Medium" pitchFamily="34" charset="-120"/>
              </a:rPr>
              <a:t>Dr. Claude</a:t>
            </a:r>
            <a:endParaRPr lang="en-US" sz="1550" dirty="0"/>
          </a:p>
        </p:txBody>
      </p:sp>
      <p:sp>
        <p:nvSpPr>
          <p:cNvPr id="8" name="Text 6"/>
          <p:cNvSpPr/>
          <p:nvPr/>
        </p:nvSpPr>
        <p:spPr>
          <a:xfrm>
            <a:off x="960120" y="3699986"/>
            <a:ext cx="2767727" cy="1071563"/>
          </a:xfrm>
          <a:prstGeom prst="rect">
            <a:avLst/>
          </a:prstGeom>
          <a:noFill/>
          <a:ln/>
        </p:spPr>
        <p:txBody>
          <a:bodyPr wrap="square" lIns="0" tIns="0" rIns="0" bIns="0" rtlCol="0" anchor="t"/>
          <a:lstStyle/>
          <a:p>
            <a:pPr marL="0" indent="0" algn="l">
              <a:lnSpc>
                <a:spcPts val="1650"/>
              </a:lnSpc>
              <a:buNone/>
            </a:pPr>
            <a:r>
              <a:rPr lang="en-US" sz="1250" b="1" dirty="0">
                <a:solidFill>
                  <a:srgbClr val="384653"/>
                </a:solidFill>
                <a:latin typeface="Roboto" pitchFamily="34" charset="0"/>
                <a:ea typeface="Roboto" pitchFamily="34" charset="-122"/>
                <a:cs typeface="Roboto" pitchFamily="34" charset="-120"/>
              </a:rPr>
              <a:t>Highest patient volume</a:t>
            </a:r>
            <a:r>
              <a:rPr lang="en-US" sz="1250" dirty="0">
                <a:solidFill>
                  <a:srgbClr val="384653"/>
                </a:solidFill>
                <a:latin typeface="Roboto" pitchFamily="34" charset="0"/>
                <a:ea typeface="Roboto" pitchFamily="34" charset="-122"/>
                <a:cs typeface="Roboto" pitchFamily="34" charset="-120"/>
              </a:rPr>
              <a:t> – Managing significantly more patients than average, potentially indicating exceptional efficiency or concerning overload.</a:t>
            </a:r>
            <a:endParaRPr lang="en-US" sz="1250" dirty="0"/>
          </a:p>
        </p:txBody>
      </p:sp>
      <p:sp>
        <p:nvSpPr>
          <p:cNvPr id="9" name="Shape 7"/>
          <p:cNvSpPr/>
          <p:nvPr/>
        </p:nvSpPr>
        <p:spPr>
          <a:xfrm>
            <a:off x="4021098" y="3158728"/>
            <a:ext cx="3100507" cy="1779151"/>
          </a:xfrm>
          <a:prstGeom prst="roundRect">
            <a:avLst>
              <a:gd name="adj" fmla="val 3748"/>
            </a:avLst>
          </a:prstGeom>
          <a:solidFill>
            <a:srgbClr val="D9EDF2"/>
          </a:solidFill>
          <a:ln w="7620">
            <a:solidFill>
              <a:srgbClr val="BFD3D8"/>
            </a:solidFill>
            <a:prstDash val="solid"/>
          </a:ln>
        </p:spPr>
      </p:sp>
      <p:sp>
        <p:nvSpPr>
          <p:cNvPr id="10" name="Text 8"/>
          <p:cNvSpPr/>
          <p:nvPr/>
        </p:nvSpPr>
        <p:spPr>
          <a:xfrm>
            <a:off x="4187428" y="3325058"/>
            <a:ext cx="1984653" cy="248007"/>
          </a:xfrm>
          <a:prstGeom prst="rect">
            <a:avLst/>
          </a:prstGeom>
          <a:noFill/>
          <a:ln/>
        </p:spPr>
        <p:txBody>
          <a:bodyPr wrap="none" lIns="0" tIns="0" rIns="0" bIns="0" rtlCol="0" anchor="t"/>
          <a:lstStyle/>
          <a:p>
            <a:pPr marL="0" indent="0" algn="l">
              <a:lnSpc>
                <a:spcPts val="1950"/>
              </a:lnSpc>
              <a:buNone/>
            </a:pPr>
            <a:r>
              <a:rPr lang="en-US" sz="1550" dirty="0">
                <a:solidFill>
                  <a:srgbClr val="384653"/>
                </a:solidFill>
                <a:latin typeface="Host Grotesk Medium" pitchFamily="34" charset="0"/>
                <a:ea typeface="Host Grotesk Medium" pitchFamily="34" charset="-122"/>
                <a:cs typeface="Host Grotesk Medium" pitchFamily="34" charset="-120"/>
              </a:rPr>
              <a:t>Dr. Angelica</a:t>
            </a:r>
            <a:endParaRPr lang="en-US" sz="1550" dirty="0"/>
          </a:p>
        </p:txBody>
      </p:sp>
      <p:sp>
        <p:nvSpPr>
          <p:cNvPr id="11" name="Text 9"/>
          <p:cNvSpPr/>
          <p:nvPr/>
        </p:nvSpPr>
        <p:spPr>
          <a:xfrm>
            <a:off x="4187428" y="3699986"/>
            <a:ext cx="2767846" cy="857250"/>
          </a:xfrm>
          <a:prstGeom prst="rect">
            <a:avLst/>
          </a:prstGeom>
          <a:noFill/>
          <a:ln/>
        </p:spPr>
        <p:txBody>
          <a:bodyPr wrap="square" lIns="0" tIns="0" rIns="0" bIns="0" rtlCol="0" anchor="t"/>
          <a:lstStyle/>
          <a:p>
            <a:pPr marL="0" indent="0" algn="l">
              <a:lnSpc>
                <a:spcPts val="1650"/>
              </a:lnSpc>
              <a:buNone/>
            </a:pPr>
            <a:r>
              <a:rPr lang="en-US" sz="1250" b="1" dirty="0">
                <a:solidFill>
                  <a:srgbClr val="384653"/>
                </a:solidFill>
                <a:latin typeface="Roboto" pitchFamily="34" charset="0"/>
                <a:ea typeface="Roboto" pitchFamily="34" charset="-122"/>
                <a:cs typeface="Roboto" pitchFamily="34" charset="-120"/>
              </a:rPr>
              <a:t>Second-highest load</a:t>
            </a:r>
            <a:r>
              <a:rPr lang="en-US" sz="1250" dirty="0">
                <a:solidFill>
                  <a:srgbClr val="384653"/>
                </a:solidFill>
                <a:latin typeface="Roboto" pitchFamily="34" charset="0"/>
                <a:ea typeface="Roboto" pitchFamily="34" charset="-122"/>
                <a:cs typeface="Roboto" pitchFamily="34" charset="-120"/>
              </a:rPr>
              <a:t> – Consistently high patient assignment suggesting strong clinical capabilities but burnout risk.</a:t>
            </a:r>
            <a:endParaRPr lang="en-US" sz="1250" dirty="0"/>
          </a:p>
        </p:txBody>
      </p:sp>
      <p:sp>
        <p:nvSpPr>
          <p:cNvPr id="12" name="Shape 10"/>
          <p:cNvSpPr/>
          <p:nvPr/>
        </p:nvSpPr>
        <p:spPr>
          <a:xfrm>
            <a:off x="793790" y="5064800"/>
            <a:ext cx="6327815" cy="1136213"/>
          </a:xfrm>
          <a:prstGeom prst="roundRect">
            <a:avLst>
              <a:gd name="adj" fmla="val 5869"/>
            </a:avLst>
          </a:prstGeom>
          <a:solidFill>
            <a:srgbClr val="D9EDF2"/>
          </a:solidFill>
          <a:ln w="7620">
            <a:solidFill>
              <a:srgbClr val="BFD3D8"/>
            </a:solidFill>
            <a:prstDash val="solid"/>
          </a:ln>
        </p:spPr>
      </p:sp>
      <p:sp>
        <p:nvSpPr>
          <p:cNvPr id="13" name="Text 11"/>
          <p:cNvSpPr/>
          <p:nvPr/>
        </p:nvSpPr>
        <p:spPr>
          <a:xfrm>
            <a:off x="960120" y="5231130"/>
            <a:ext cx="1984653" cy="248007"/>
          </a:xfrm>
          <a:prstGeom prst="rect">
            <a:avLst/>
          </a:prstGeom>
          <a:noFill/>
          <a:ln/>
        </p:spPr>
        <p:txBody>
          <a:bodyPr wrap="none" lIns="0" tIns="0" rIns="0" bIns="0" rtlCol="0" anchor="t"/>
          <a:lstStyle/>
          <a:p>
            <a:pPr marL="0" indent="0" algn="l">
              <a:lnSpc>
                <a:spcPts val="1950"/>
              </a:lnSpc>
              <a:buNone/>
            </a:pPr>
            <a:r>
              <a:rPr lang="en-US" sz="1550" dirty="0">
                <a:solidFill>
                  <a:srgbClr val="384653"/>
                </a:solidFill>
                <a:latin typeface="Host Grotesk Medium" pitchFamily="34" charset="0"/>
                <a:ea typeface="Host Grotesk Medium" pitchFamily="34" charset="-122"/>
                <a:cs typeface="Host Grotesk Medium" pitchFamily="34" charset="-120"/>
              </a:rPr>
              <a:t>Dr. Hazel</a:t>
            </a:r>
            <a:endParaRPr lang="en-US" sz="1550" dirty="0"/>
          </a:p>
        </p:txBody>
      </p:sp>
      <p:sp>
        <p:nvSpPr>
          <p:cNvPr id="14" name="Text 12"/>
          <p:cNvSpPr/>
          <p:nvPr/>
        </p:nvSpPr>
        <p:spPr>
          <a:xfrm>
            <a:off x="960120" y="5606058"/>
            <a:ext cx="5995154" cy="428625"/>
          </a:xfrm>
          <a:prstGeom prst="rect">
            <a:avLst/>
          </a:prstGeom>
          <a:noFill/>
          <a:ln/>
        </p:spPr>
        <p:txBody>
          <a:bodyPr wrap="square" lIns="0" tIns="0" rIns="0" bIns="0" rtlCol="0" anchor="t"/>
          <a:lstStyle/>
          <a:p>
            <a:pPr marL="0" indent="0" algn="l">
              <a:lnSpc>
                <a:spcPts val="1650"/>
              </a:lnSpc>
              <a:buNone/>
            </a:pPr>
            <a:r>
              <a:rPr lang="en-US" sz="1250" b="1" dirty="0">
                <a:solidFill>
                  <a:srgbClr val="384653"/>
                </a:solidFill>
                <a:latin typeface="Roboto" pitchFamily="34" charset="0"/>
                <a:ea typeface="Roboto" pitchFamily="34" charset="-122"/>
                <a:cs typeface="Roboto" pitchFamily="34" charset="-120"/>
              </a:rPr>
              <a:t>Third-highest volume</a:t>
            </a:r>
            <a:r>
              <a:rPr lang="en-US" sz="1250" dirty="0">
                <a:solidFill>
                  <a:srgbClr val="384653"/>
                </a:solidFill>
                <a:latin typeface="Roboto" pitchFamily="34" charset="0"/>
                <a:ea typeface="Roboto" pitchFamily="34" charset="-122"/>
                <a:cs typeface="Roboto" pitchFamily="34" charset="-120"/>
              </a:rPr>
              <a:t> – Above-average patient responsibility indicating key role in care delivery operations.</a:t>
            </a:r>
            <a:endParaRPr lang="en-US" sz="1250" dirty="0"/>
          </a:p>
        </p:txBody>
      </p:sp>
      <p:sp>
        <p:nvSpPr>
          <p:cNvPr id="15" name="Text 13"/>
          <p:cNvSpPr/>
          <p:nvPr/>
        </p:nvSpPr>
        <p:spPr>
          <a:xfrm>
            <a:off x="7516416" y="2718197"/>
            <a:ext cx="2403158" cy="297656"/>
          </a:xfrm>
          <a:prstGeom prst="rect">
            <a:avLst/>
          </a:prstGeom>
          <a:noFill/>
          <a:ln/>
        </p:spPr>
        <p:txBody>
          <a:bodyPr wrap="none" lIns="0" tIns="0" rIns="0" bIns="0" rtlCol="0" anchor="t"/>
          <a:lstStyle/>
          <a:p>
            <a:pPr marL="0" indent="0" algn="l">
              <a:lnSpc>
                <a:spcPts val="2300"/>
              </a:lnSpc>
              <a:buNone/>
            </a:pPr>
            <a:r>
              <a:rPr lang="en-US" sz="1850" dirty="0">
                <a:solidFill>
                  <a:srgbClr val="2E3C4E"/>
                </a:solidFill>
                <a:latin typeface="Host Grotesk Medium" pitchFamily="34" charset="0"/>
                <a:ea typeface="Host Grotesk Medium" pitchFamily="34" charset="-122"/>
                <a:cs typeface="Host Grotesk Medium" pitchFamily="34" charset="-120"/>
              </a:rPr>
              <a:t>Workload Implications</a:t>
            </a:r>
            <a:endParaRPr lang="en-US" sz="1850" dirty="0"/>
          </a:p>
        </p:txBody>
      </p:sp>
      <p:sp>
        <p:nvSpPr>
          <p:cNvPr id="16" name="Text 14"/>
          <p:cNvSpPr/>
          <p:nvPr/>
        </p:nvSpPr>
        <p:spPr>
          <a:xfrm>
            <a:off x="7516416" y="3142774"/>
            <a:ext cx="6327815" cy="1285875"/>
          </a:xfrm>
          <a:prstGeom prst="rect">
            <a:avLst/>
          </a:prstGeom>
          <a:noFill/>
          <a:ln/>
        </p:spPr>
        <p:txBody>
          <a:bodyPr wrap="square" lIns="0" tIns="0" rIns="0" bIns="0" rtlCol="0" anchor="t"/>
          <a:lstStyle/>
          <a:p>
            <a:pPr marL="0" indent="0" algn="l">
              <a:lnSpc>
                <a:spcPts val="1650"/>
              </a:lnSpc>
              <a:buNone/>
            </a:pPr>
            <a:r>
              <a:rPr lang="en-US" sz="1250" b="1" dirty="0">
                <a:solidFill>
                  <a:srgbClr val="384653"/>
                </a:solidFill>
                <a:latin typeface="Roboto" pitchFamily="34" charset="0"/>
                <a:ea typeface="Roboto" pitchFamily="34" charset="-122"/>
                <a:cs typeface="Roboto" pitchFamily="34" charset="-120"/>
              </a:rPr>
              <a:t>Efficiency vs. Overload:</a:t>
            </a:r>
            <a:r>
              <a:rPr lang="en-US" sz="1250" dirty="0">
                <a:solidFill>
                  <a:srgbClr val="384653"/>
                </a:solidFill>
                <a:latin typeface="Roboto" pitchFamily="34" charset="0"/>
                <a:ea typeface="Roboto" pitchFamily="34" charset="-122"/>
                <a:cs typeface="Roboto" pitchFamily="34" charset="-120"/>
              </a:rPr>
              <a:t> While high patient volumes from top providers may reflect clinical efficiency, specialty expertise, or patient preference, they also raise concerns about sustainable workload levels and burnout potential. Providers managing disproportionately large patient panels may experience reduced time per patient interaction, increased documentation burden, and diminished work-life balance—all factors associated with medical errors and provider attrition.</a:t>
            </a:r>
            <a:endParaRPr lang="en-US" sz="1250" dirty="0"/>
          </a:p>
        </p:txBody>
      </p:sp>
      <p:sp>
        <p:nvSpPr>
          <p:cNvPr id="17" name="Text 15"/>
          <p:cNvSpPr/>
          <p:nvPr/>
        </p:nvSpPr>
        <p:spPr>
          <a:xfrm>
            <a:off x="7516416" y="4542949"/>
            <a:ext cx="6327815" cy="1285875"/>
          </a:xfrm>
          <a:prstGeom prst="rect">
            <a:avLst/>
          </a:prstGeom>
          <a:noFill/>
          <a:ln/>
        </p:spPr>
        <p:txBody>
          <a:bodyPr wrap="square" lIns="0" tIns="0" rIns="0" bIns="0" rtlCol="0" anchor="t"/>
          <a:lstStyle/>
          <a:p>
            <a:pPr marL="0" indent="0" algn="l">
              <a:lnSpc>
                <a:spcPts val="1650"/>
              </a:lnSpc>
              <a:buNone/>
            </a:pPr>
            <a:r>
              <a:rPr lang="en-US" sz="1250" b="1" dirty="0">
                <a:solidFill>
                  <a:srgbClr val="384653"/>
                </a:solidFill>
                <a:latin typeface="Roboto" pitchFamily="34" charset="0"/>
                <a:ea typeface="Roboto" pitchFamily="34" charset="-122"/>
                <a:cs typeface="Roboto" pitchFamily="34" charset="-120"/>
              </a:rPr>
              <a:t>Capacity Underutilization:</a:t>
            </a:r>
            <a:r>
              <a:rPr lang="en-US" sz="1250" dirty="0">
                <a:solidFill>
                  <a:srgbClr val="384653"/>
                </a:solidFill>
                <a:latin typeface="Roboto" pitchFamily="34" charset="0"/>
                <a:ea typeface="Roboto" pitchFamily="34" charset="-122"/>
                <a:cs typeface="Roboto" pitchFamily="34" charset="-120"/>
              </a:rPr>
              <a:t> The existence of significant workload imbalances suggests that some physicians may have capacity to accept additional patients, representing untapped resources within the existing workforce. Identifying low-volume providers and understanding barriers to optimal utilization—whether related to specialty constraints, scheduling availability, patient preferences, or operational inefficiencies—could unlock hidden capacity without additional hiring.</a:t>
            </a:r>
            <a:endParaRPr lang="en-US" sz="1250" dirty="0"/>
          </a:p>
        </p:txBody>
      </p:sp>
      <p:sp>
        <p:nvSpPr>
          <p:cNvPr id="18" name="Text 16"/>
          <p:cNvSpPr/>
          <p:nvPr/>
        </p:nvSpPr>
        <p:spPr>
          <a:xfrm>
            <a:off x="793790" y="6486763"/>
            <a:ext cx="13042821" cy="857250"/>
          </a:xfrm>
          <a:prstGeom prst="rect">
            <a:avLst/>
          </a:prstGeom>
          <a:noFill/>
          <a:ln/>
        </p:spPr>
        <p:txBody>
          <a:bodyPr wrap="square" lIns="0" tIns="0" rIns="0" bIns="0" rtlCol="0" anchor="t"/>
          <a:lstStyle/>
          <a:p>
            <a:pPr marL="0" indent="0" algn="l">
              <a:lnSpc>
                <a:spcPts val="1650"/>
              </a:lnSpc>
              <a:buNone/>
            </a:pPr>
            <a:r>
              <a:rPr lang="en-US" sz="1250" b="1" dirty="0">
                <a:solidFill>
                  <a:srgbClr val="384653"/>
                </a:solidFill>
                <a:latin typeface="Roboto" pitchFamily="34" charset="0"/>
                <a:ea typeface="Roboto" pitchFamily="34" charset="-122"/>
                <a:cs typeface="Roboto" pitchFamily="34" charset="-120"/>
              </a:rPr>
              <a:t>Strategic Workforce Planning:</a:t>
            </a:r>
            <a:r>
              <a:rPr lang="en-US" sz="1250" dirty="0">
                <a:solidFill>
                  <a:srgbClr val="384653"/>
                </a:solidFill>
                <a:latin typeface="Roboto" pitchFamily="34" charset="0"/>
                <a:ea typeface="Roboto" pitchFamily="34" charset="-122"/>
                <a:cs typeface="Roboto" pitchFamily="34" charset="-120"/>
              </a:rPr>
              <a:t> Implementing sophisticated patient assignment algorithms that consider provider capacity, specialty match, patient complexity, and historical continuity could achieve more equitable workload distribution while maintaining care quality. Regular monitoring of individual provider metrics including patient volume, visit duration, documentation time, and satisfaction scores enables proactive identification of overload situations before they impact provider wellbeing or patient outcomes. Additionally, team-based care models incorporating nurse practitioners, physician assistants, and care coordinators could extend capacity of high-volume providers while developing junior staff.</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1090732"/>
            <a:ext cx="5034915" cy="403146"/>
          </a:xfrm>
          <a:prstGeom prst="rect">
            <a:avLst/>
          </a:prstGeom>
          <a:noFill/>
          <a:ln/>
        </p:spPr>
        <p:txBody>
          <a:bodyPr wrap="none" lIns="0" tIns="0" rIns="0" bIns="0" rtlCol="0" anchor="t"/>
          <a:lstStyle/>
          <a:p>
            <a:pPr marL="0" indent="0" algn="l">
              <a:lnSpc>
                <a:spcPts val="3150"/>
              </a:lnSpc>
              <a:buNone/>
            </a:pPr>
            <a:r>
              <a:rPr lang="en-US" sz="2500" dirty="0">
                <a:solidFill>
                  <a:srgbClr val="2E3C4E"/>
                </a:solidFill>
                <a:latin typeface="Host Grotesk Medium" pitchFamily="34" charset="0"/>
                <a:ea typeface="Host Grotesk Medium" pitchFamily="34" charset="-122"/>
                <a:cs typeface="Host Grotesk Medium" pitchFamily="34" charset="-120"/>
              </a:rPr>
              <a:t>Monthly Admission Trend Analysis</a:t>
            </a:r>
            <a:endParaRPr lang="en-US" sz="2500" dirty="0"/>
          </a:p>
        </p:txBody>
      </p:sp>
      <p:pic>
        <p:nvPicPr>
          <p:cNvPr id="3" name="Image 0" descr="preencoded.png"/>
          <p:cNvPicPr>
            <a:picLocks noChangeAspect="1"/>
          </p:cNvPicPr>
          <p:nvPr/>
        </p:nvPicPr>
        <p:blipFill>
          <a:blip r:embed="rId3"/>
          <a:stretch>
            <a:fillRect/>
          </a:stretch>
        </p:blipFill>
        <p:spPr>
          <a:xfrm>
            <a:off x="793790" y="2569607"/>
            <a:ext cx="5439013" cy="3045738"/>
          </a:xfrm>
          <a:prstGeom prst="rect">
            <a:avLst/>
          </a:prstGeom>
        </p:spPr>
      </p:pic>
      <p:sp>
        <p:nvSpPr>
          <p:cNvPr id="4" name="Text 1"/>
          <p:cNvSpPr/>
          <p:nvPr/>
        </p:nvSpPr>
        <p:spPr>
          <a:xfrm>
            <a:off x="9483685" y="1703427"/>
            <a:ext cx="4360426" cy="644843"/>
          </a:xfrm>
          <a:prstGeom prst="rect">
            <a:avLst/>
          </a:prstGeom>
          <a:noFill/>
          <a:ln/>
        </p:spPr>
        <p:txBody>
          <a:bodyPr wrap="square" lIns="0" tIns="0" rIns="0" bIns="0" rtlCol="0" anchor="t"/>
          <a:lstStyle/>
          <a:p>
            <a:pPr marL="0" indent="0" algn="l">
              <a:lnSpc>
                <a:spcPts val="2500"/>
              </a:lnSpc>
              <a:buNone/>
            </a:pPr>
            <a:r>
              <a:rPr lang="en-US" sz="2000" dirty="0">
                <a:solidFill>
                  <a:srgbClr val="2E3C4E"/>
                </a:solidFill>
                <a:latin typeface="Host Grotesk Medium" pitchFamily="34" charset="0"/>
                <a:ea typeface="Host Grotesk Medium" pitchFamily="34" charset="-122"/>
                <a:cs typeface="Host Grotesk Medium" pitchFamily="34" charset="-120"/>
              </a:rPr>
              <a:t>Seasonal Patterns and Capacity Planning</a:t>
            </a:r>
            <a:endParaRPr lang="en-US" sz="2000" dirty="0"/>
          </a:p>
        </p:txBody>
      </p:sp>
      <p:sp>
        <p:nvSpPr>
          <p:cNvPr id="5" name="Text 2"/>
          <p:cNvSpPr/>
          <p:nvPr/>
        </p:nvSpPr>
        <p:spPr>
          <a:xfrm>
            <a:off x="9483685" y="2432090"/>
            <a:ext cx="4360426" cy="798314"/>
          </a:xfrm>
          <a:prstGeom prst="rect">
            <a:avLst/>
          </a:prstGeom>
          <a:noFill/>
          <a:ln/>
        </p:spPr>
        <p:txBody>
          <a:bodyPr wrap="square" lIns="0" tIns="0" rIns="0" bIns="0" rtlCol="0" anchor="t"/>
          <a:lstStyle/>
          <a:p>
            <a:pPr marL="0" indent="0" algn="l">
              <a:lnSpc>
                <a:spcPts val="1250"/>
              </a:lnSpc>
              <a:buNone/>
            </a:pPr>
            <a:r>
              <a:rPr lang="en-US" sz="1000" dirty="0">
                <a:solidFill>
                  <a:srgbClr val="384653"/>
                </a:solidFill>
                <a:latin typeface="Roboto" pitchFamily="34" charset="0"/>
                <a:ea typeface="Roboto" pitchFamily="34" charset="-122"/>
                <a:cs typeface="Roboto" pitchFamily="34" charset="-120"/>
              </a:rPr>
              <a:t>Temporal analysis of admission patterns reveals relatively stable monthly volumes with modest seasonal variation, providing valuable insights for workforce scheduling, capacity management, and budgeting processes. Understanding these cyclical patterns enables proactive resource allocation aligned with anticipated demand fluctuations.</a:t>
            </a:r>
            <a:endParaRPr lang="en-US" sz="1000" dirty="0"/>
          </a:p>
        </p:txBody>
      </p:sp>
      <p:sp>
        <p:nvSpPr>
          <p:cNvPr id="6" name="Text 3"/>
          <p:cNvSpPr/>
          <p:nvPr/>
        </p:nvSpPr>
        <p:spPr>
          <a:xfrm>
            <a:off x="9483685" y="3305770"/>
            <a:ext cx="4360426" cy="957977"/>
          </a:xfrm>
          <a:prstGeom prst="rect">
            <a:avLst/>
          </a:prstGeom>
          <a:noFill/>
          <a:ln/>
        </p:spPr>
        <p:txBody>
          <a:bodyPr wrap="square" lIns="0" tIns="0" rIns="0" bIns="0" rtlCol="0" anchor="t"/>
          <a:lstStyle/>
          <a:p>
            <a:pPr marL="0" indent="0" algn="l">
              <a:lnSpc>
                <a:spcPts val="1250"/>
              </a:lnSpc>
              <a:buNone/>
            </a:pPr>
            <a:r>
              <a:rPr lang="en-US" sz="1000" b="1" dirty="0">
                <a:solidFill>
                  <a:srgbClr val="384653"/>
                </a:solidFill>
                <a:latin typeface="Roboto" pitchFamily="34" charset="0"/>
                <a:ea typeface="Roboto" pitchFamily="34" charset="-122"/>
                <a:cs typeface="Roboto" pitchFamily="34" charset="-120"/>
              </a:rPr>
              <a:t>Baseline Stability:</a:t>
            </a:r>
            <a:r>
              <a:rPr lang="en-US" sz="1000" dirty="0">
                <a:solidFill>
                  <a:srgbClr val="384653"/>
                </a:solidFill>
                <a:latin typeface="Roboto" pitchFamily="34" charset="0"/>
                <a:ea typeface="Roboto" pitchFamily="34" charset="-122"/>
                <a:cs typeface="Roboto" pitchFamily="34" charset="-120"/>
              </a:rPr>
              <a:t> The remarkably consistent admission rates throughout most of the year, averaging approximately 420-435 admissions monthly, indicate predictable healthcare demand that simplifies operational planning. This stability allows for consistent staffing levels, avoiding the costly challenges of dramatic workforce adjustments or frequent use of expensive temporary staff to manage volatile patient volumes.</a:t>
            </a:r>
            <a:endParaRPr lang="en-US" sz="1000" dirty="0"/>
          </a:p>
        </p:txBody>
      </p:sp>
      <p:sp>
        <p:nvSpPr>
          <p:cNvPr id="7" name="Text 4"/>
          <p:cNvSpPr/>
          <p:nvPr/>
        </p:nvSpPr>
        <p:spPr>
          <a:xfrm>
            <a:off x="9483685" y="4339114"/>
            <a:ext cx="4360426" cy="1117640"/>
          </a:xfrm>
          <a:prstGeom prst="rect">
            <a:avLst/>
          </a:prstGeom>
          <a:noFill/>
          <a:ln/>
        </p:spPr>
        <p:txBody>
          <a:bodyPr wrap="square" lIns="0" tIns="0" rIns="0" bIns="0" rtlCol="0" anchor="t"/>
          <a:lstStyle/>
          <a:p>
            <a:pPr marL="0" indent="0" algn="l">
              <a:lnSpc>
                <a:spcPts val="1250"/>
              </a:lnSpc>
              <a:buNone/>
            </a:pPr>
            <a:r>
              <a:rPr lang="en-US" sz="1000" b="1" dirty="0">
                <a:solidFill>
                  <a:srgbClr val="384653"/>
                </a:solidFill>
                <a:latin typeface="Roboto" pitchFamily="34" charset="0"/>
                <a:ea typeface="Roboto" pitchFamily="34" charset="-122"/>
                <a:cs typeface="Roboto" pitchFamily="34" charset="-120"/>
              </a:rPr>
              <a:t>Peak Period Analysis:</a:t>
            </a:r>
            <a:r>
              <a:rPr lang="en-US" sz="1000" dirty="0">
                <a:solidFill>
                  <a:srgbClr val="384653"/>
                </a:solidFill>
                <a:latin typeface="Roboto" pitchFamily="34" charset="0"/>
                <a:ea typeface="Roboto" pitchFamily="34" charset="-122"/>
                <a:cs typeface="Roboto" pitchFamily="34" charset="-120"/>
              </a:rPr>
              <a:t> July and October emerge as distinct peak months with admission volumes 7-9% above baseline, reaching 458 and 452 admissions respectively. The July peak may correlate with summer activities leading to trauma admissions, heat-related illnesses, or delayed elective procedures from spring finally being scheduled. October's elevation could reflect seasonal illness onset, particularly respiratory conditions as weather cools, or strategic timing of elective procedures before year-end.</a:t>
            </a:r>
            <a:endParaRPr lang="en-US" sz="1000" dirty="0"/>
          </a:p>
        </p:txBody>
      </p:sp>
      <p:sp>
        <p:nvSpPr>
          <p:cNvPr id="8" name="Text 5"/>
          <p:cNvSpPr/>
          <p:nvPr/>
        </p:nvSpPr>
        <p:spPr>
          <a:xfrm>
            <a:off x="9483685" y="5532120"/>
            <a:ext cx="4360426" cy="957977"/>
          </a:xfrm>
          <a:prstGeom prst="rect">
            <a:avLst/>
          </a:prstGeom>
          <a:noFill/>
          <a:ln/>
        </p:spPr>
        <p:txBody>
          <a:bodyPr wrap="square" lIns="0" tIns="0" rIns="0" bIns="0" rtlCol="0" anchor="t"/>
          <a:lstStyle/>
          <a:p>
            <a:pPr marL="0" indent="0" algn="l">
              <a:lnSpc>
                <a:spcPts val="1250"/>
              </a:lnSpc>
              <a:buNone/>
            </a:pPr>
            <a:r>
              <a:rPr lang="en-US" sz="1000" b="1" dirty="0">
                <a:solidFill>
                  <a:srgbClr val="384653"/>
                </a:solidFill>
                <a:latin typeface="Roboto" pitchFamily="34" charset="0"/>
                <a:ea typeface="Roboto" pitchFamily="34" charset="-122"/>
                <a:cs typeface="Roboto" pitchFamily="34" charset="-120"/>
              </a:rPr>
              <a:t>February Dip:</a:t>
            </a:r>
            <a:r>
              <a:rPr lang="en-US" sz="1000" dirty="0">
                <a:solidFill>
                  <a:srgbClr val="384653"/>
                </a:solidFill>
                <a:latin typeface="Roboto" pitchFamily="34" charset="0"/>
                <a:ea typeface="Roboto" pitchFamily="34" charset="-122"/>
                <a:cs typeface="Roboto" pitchFamily="34" charset="-120"/>
              </a:rPr>
              <a:t> The February decline to 398 admissions represents the year's lowest point, approximately 6% below average. This pattern likely reflects multiple factors including the shortest month by calendar days (reducing denominator effect), post-holiday healthcare avoidance, winter weather deterring elective procedures, and budget exhaustion for patients with high-deductible insurance plans who reset January 1st.</a:t>
            </a:r>
            <a:endParaRPr lang="en-US" sz="1000" dirty="0"/>
          </a:p>
        </p:txBody>
      </p:sp>
      <p:sp>
        <p:nvSpPr>
          <p:cNvPr id="9" name="Text 6"/>
          <p:cNvSpPr/>
          <p:nvPr/>
        </p:nvSpPr>
        <p:spPr>
          <a:xfrm>
            <a:off x="793790" y="6659761"/>
            <a:ext cx="13042821" cy="478988"/>
          </a:xfrm>
          <a:prstGeom prst="rect">
            <a:avLst/>
          </a:prstGeom>
          <a:noFill/>
          <a:ln/>
        </p:spPr>
        <p:txBody>
          <a:bodyPr wrap="square" lIns="0" tIns="0" rIns="0" bIns="0" rtlCol="0" anchor="t"/>
          <a:lstStyle/>
          <a:p>
            <a:pPr marL="0" indent="0" algn="l">
              <a:lnSpc>
                <a:spcPts val="1250"/>
              </a:lnSpc>
              <a:buNone/>
            </a:pPr>
            <a:r>
              <a:rPr lang="en-US" sz="1000" b="1" dirty="0">
                <a:solidFill>
                  <a:srgbClr val="384653"/>
                </a:solidFill>
                <a:latin typeface="Roboto" pitchFamily="34" charset="0"/>
                <a:ea typeface="Roboto" pitchFamily="34" charset="-122"/>
                <a:cs typeface="Roboto" pitchFamily="34" charset="-120"/>
              </a:rPr>
              <a:t>Operational Recommendations:</a:t>
            </a:r>
            <a:r>
              <a:rPr lang="en-US" sz="1000" dirty="0">
                <a:solidFill>
                  <a:srgbClr val="384653"/>
                </a:solidFill>
                <a:latin typeface="Roboto" pitchFamily="34" charset="0"/>
                <a:ea typeface="Roboto" pitchFamily="34" charset="-122"/>
                <a:cs typeface="Roboto" pitchFamily="34" charset="-120"/>
              </a:rPr>
              <a:t> Anticipate peak-period staffing needs by proactively scheduling additional clinical and support staff for July and October, potentially through rotating vacation policies that encourage time off during lower-volume months like February. Consider strategic scheduling of elective procedures during traditionally slower periods to smooth demand curves and optimize facility utilization. The overall stability of admission patterns provides confidence for capital planning decisions and long-term workforce commitments, as dramatic demand volatility does not appear to be a significant operational risk factor.</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588526"/>
            <a:ext cx="6066830" cy="496133"/>
          </a:xfrm>
          <a:prstGeom prst="rect">
            <a:avLst/>
          </a:prstGeom>
          <a:noFill/>
          <a:ln/>
        </p:spPr>
        <p:txBody>
          <a:bodyPr wrap="none" lIns="0" tIns="0" rIns="0" bIns="0" rtlCol="0" anchor="t"/>
          <a:lstStyle/>
          <a:p>
            <a:pPr marL="0" indent="0" algn="l">
              <a:lnSpc>
                <a:spcPts val="3900"/>
              </a:lnSpc>
              <a:buNone/>
            </a:pPr>
            <a:r>
              <a:rPr lang="en-US" sz="3100" dirty="0">
                <a:solidFill>
                  <a:srgbClr val="2E3C4E"/>
                </a:solidFill>
                <a:latin typeface="Host Grotesk Medium" pitchFamily="34" charset="0"/>
                <a:ea typeface="Host Grotesk Medium" pitchFamily="34" charset="-122"/>
                <a:cs typeface="Host Grotesk Medium" pitchFamily="34" charset="-120"/>
              </a:rPr>
              <a:t>Technical Implementation &amp; Tools</a:t>
            </a:r>
            <a:endParaRPr lang="en-US" sz="3100" dirty="0"/>
          </a:p>
        </p:txBody>
      </p:sp>
      <p:pic>
        <p:nvPicPr>
          <p:cNvPr id="3" name="Image 0" descr="preencoded.png"/>
          <p:cNvPicPr>
            <a:picLocks noChangeAspect="1"/>
          </p:cNvPicPr>
          <p:nvPr/>
        </p:nvPicPr>
        <p:blipFill>
          <a:blip r:embed="rId3"/>
          <a:stretch>
            <a:fillRect/>
          </a:stretch>
        </p:blipFill>
        <p:spPr>
          <a:xfrm>
            <a:off x="1171337" y="1418034"/>
            <a:ext cx="3020854" cy="1812488"/>
          </a:xfrm>
          <a:prstGeom prst="rect">
            <a:avLst/>
          </a:prstGeom>
        </p:spPr>
      </p:pic>
      <p:sp>
        <p:nvSpPr>
          <p:cNvPr id="4" name="Text 1"/>
          <p:cNvSpPr/>
          <p:nvPr/>
        </p:nvSpPr>
        <p:spPr>
          <a:xfrm>
            <a:off x="4964668" y="1747242"/>
            <a:ext cx="5318165" cy="396835"/>
          </a:xfrm>
          <a:prstGeom prst="rect">
            <a:avLst/>
          </a:prstGeom>
          <a:noFill/>
          <a:ln/>
        </p:spPr>
        <p:txBody>
          <a:bodyPr wrap="none" lIns="0" tIns="0" rIns="0" bIns="0" rtlCol="0" anchor="t"/>
          <a:lstStyle/>
          <a:p>
            <a:pPr marL="0" indent="0" algn="l">
              <a:lnSpc>
                <a:spcPts val="3100"/>
              </a:lnSpc>
              <a:buNone/>
            </a:pPr>
            <a:r>
              <a:rPr lang="en-US" sz="2500" dirty="0">
                <a:solidFill>
                  <a:srgbClr val="2E3C4E"/>
                </a:solidFill>
                <a:latin typeface="Host Grotesk Medium" pitchFamily="34" charset="0"/>
                <a:ea typeface="Host Grotesk Medium" pitchFamily="34" charset="-122"/>
                <a:cs typeface="Host Grotesk Medium" pitchFamily="34" charset="-120"/>
              </a:rPr>
              <a:t>Analytical Toolkit and Methodologies</a:t>
            </a:r>
            <a:endParaRPr lang="en-US" sz="2500" dirty="0"/>
          </a:p>
        </p:txBody>
      </p:sp>
      <p:sp>
        <p:nvSpPr>
          <p:cNvPr id="5" name="Text 2"/>
          <p:cNvSpPr/>
          <p:nvPr/>
        </p:nvSpPr>
        <p:spPr>
          <a:xfrm>
            <a:off x="4964668" y="2270998"/>
            <a:ext cx="8879443" cy="642938"/>
          </a:xfrm>
          <a:prstGeom prst="rect">
            <a:avLst/>
          </a:prstGeom>
          <a:noFill/>
          <a:ln/>
        </p:spPr>
        <p:txBody>
          <a:bodyPr wrap="square" lIns="0" tIns="0" rIns="0" bIns="0" rtlCol="0" anchor="t"/>
          <a:lstStyle/>
          <a:p>
            <a:pPr marL="0" indent="0" algn="l">
              <a:lnSpc>
                <a:spcPts val="1650"/>
              </a:lnSpc>
              <a:buNone/>
            </a:pPr>
            <a:r>
              <a:rPr lang="en-US" sz="1250" dirty="0">
                <a:solidFill>
                  <a:srgbClr val="384653"/>
                </a:solidFill>
                <a:latin typeface="Roboto" pitchFamily="34" charset="0"/>
                <a:ea typeface="Roboto" pitchFamily="34" charset="-122"/>
                <a:cs typeface="Roboto" pitchFamily="34" charset="-120"/>
              </a:rPr>
              <a:t>This comprehensive healthcare analytics project leverages industry-standard tools and advanced analytical techniques to transform raw medical data into actionable intelligence. The combination of SQL for data manipulation and Power BI for visualization creates a powerful framework for ongoing performance monitoring and strategic decision support.</a:t>
            </a:r>
            <a:endParaRPr lang="en-US" sz="1250" dirty="0"/>
          </a:p>
        </p:txBody>
      </p:sp>
      <p:pic>
        <p:nvPicPr>
          <p:cNvPr id="6" name="Image 1" descr="preencoded.png"/>
          <p:cNvPicPr>
            <a:picLocks noChangeAspect="1"/>
          </p:cNvPicPr>
          <p:nvPr/>
        </p:nvPicPr>
        <p:blipFill>
          <a:blip r:embed="rId4"/>
          <a:stretch>
            <a:fillRect/>
          </a:stretch>
        </p:blipFill>
        <p:spPr>
          <a:xfrm>
            <a:off x="793790" y="3516273"/>
            <a:ext cx="2400062" cy="2400062"/>
          </a:xfrm>
          <a:prstGeom prst="rect">
            <a:avLst/>
          </a:prstGeom>
        </p:spPr>
      </p:pic>
      <p:sp>
        <p:nvSpPr>
          <p:cNvPr id="7" name="Text 3"/>
          <p:cNvSpPr/>
          <p:nvPr/>
        </p:nvSpPr>
        <p:spPr>
          <a:xfrm>
            <a:off x="3352562" y="3516273"/>
            <a:ext cx="2188964" cy="248007"/>
          </a:xfrm>
          <a:prstGeom prst="rect">
            <a:avLst/>
          </a:prstGeom>
          <a:noFill/>
          <a:ln/>
        </p:spPr>
        <p:txBody>
          <a:bodyPr wrap="none" lIns="0" tIns="0" rIns="0" bIns="0" rtlCol="0" anchor="t"/>
          <a:lstStyle/>
          <a:p>
            <a:pPr marL="0" indent="0" algn="l">
              <a:lnSpc>
                <a:spcPts val="1950"/>
              </a:lnSpc>
              <a:buNone/>
            </a:pPr>
            <a:r>
              <a:rPr lang="en-US" sz="1550" dirty="0">
                <a:solidFill>
                  <a:srgbClr val="384653"/>
                </a:solidFill>
                <a:latin typeface="Host Grotesk Medium" pitchFamily="34" charset="0"/>
                <a:ea typeface="Host Grotesk Medium" pitchFamily="34" charset="-122"/>
                <a:cs typeface="Host Grotesk Medium" pitchFamily="34" charset="-120"/>
              </a:rPr>
              <a:t>SQL Database Querying</a:t>
            </a:r>
            <a:endParaRPr lang="en-US" sz="1550" dirty="0"/>
          </a:p>
        </p:txBody>
      </p:sp>
      <p:sp>
        <p:nvSpPr>
          <p:cNvPr id="8" name="Text 4"/>
          <p:cNvSpPr/>
          <p:nvPr/>
        </p:nvSpPr>
        <p:spPr>
          <a:xfrm>
            <a:off x="3352562" y="3840480"/>
            <a:ext cx="3883223" cy="642938"/>
          </a:xfrm>
          <a:prstGeom prst="rect">
            <a:avLst/>
          </a:prstGeom>
          <a:noFill/>
          <a:ln/>
        </p:spPr>
        <p:txBody>
          <a:bodyPr wrap="square" lIns="0" tIns="0" rIns="0" bIns="0" rtlCol="0" anchor="t"/>
          <a:lstStyle/>
          <a:p>
            <a:pPr marL="0" indent="0" algn="l">
              <a:lnSpc>
                <a:spcPts val="1650"/>
              </a:lnSpc>
              <a:buNone/>
            </a:pPr>
            <a:r>
              <a:rPr lang="en-US" sz="1250" b="1" dirty="0">
                <a:solidFill>
                  <a:srgbClr val="384653"/>
                </a:solidFill>
                <a:latin typeface="Roboto" pitchFamily="34" charset="0"/>
                <a:ea typeface="Roboto" pitchFamily="34" charset="-122"/>
                <a:cs typeface="Roboto" pitchFamily="34" charset="-120"/>
              </a:rPr>
              <a:t>Multi-table Joins:</a:t>
            </a:r>
            <a:r>
              <a:rPr lang="en-US" sz="1250" dirty="0">
                <a:solidFill>
                  <a:srgbClr val="384653"/>
                </a:solidFill>
                <a:latin typeface="Roboto" pitchFamily="34" charset="0"/>
                <a:ea typeface="Roboto" pitchFamily="34" charset="-122"/>
                <a:cs typeface="Roboto" pitchFamily="34" charset="-120"/>
              </a:rPr>
              <a:t> Complex relationships between patient, admission, doctor, and diagnosis tables integrated through primary/foreign key relationships</a:t>
            </a:r>
            <a:endParaRPr lang="en-US" sz="1250" dirty="0"/>
          </a:p>
        </p:txBody>
      </p:sp>
      <p:sp>
        <p:nvSpPr>
          <p:cNvPr id="9" name="Text 5"/>
          <p:cNvSpPr/>
          <p:nvPr/>
        </p:nvSpPr>
        <p:spPr>
          <a:xfrm>
            <a:off x="3352562" y="4559618"/>
            <a:ext cx="3883223" cy="642938"/>
          </a:xfrm>
          <a:prstGeom prst="rect">
            <a:avLst/>
          </a:prstGeom>
          <a:noFill/>
          <a:ln/>
        </p:spPr>
        <p:txBody>
          <a:bodyPr wrap="square" lIns="0" tIns="0" rIns="0" bIns="0" rtlCol="0" anchor="t"/>
          <a:lstStyle/>
          <a:p>
            <a:pPr marL="0" indent="0" algn="l">
              <a:lnSpc>
                <a:spcPts val="1650"/>
              </a:lnSpc>
              <a:buNone/>
            </a:pPr>
            <a:r>
              <a:rPr lang="en-US" sz="1250" b="1" dirty="0">
                <a:solidFill>
                  <a:srgbClr val="384653"/>
                </a:solidFill>
                <a:latin typeface="Roboto" pitchFamily="34" charset="0"/>
                <a:ea typeface="Roboto" pitchFamily="34" charset="-122"/>
                <a:cs typeface="Roboto" pitchFamily="34" charset="-120"/>
              </a:rPr>
              <a:t>Advanced Aggregations:</a:t>
            </a:r>
            <a:r>
              <a:rPr lang="en-US" sz="1250" dirty="0">
                <a:solidFill>
                  <a:srgbClr val="384653"/>
                </a:solidFill>
                <a:latin typeface="Roboto" pitchFamily="34" charset="0"/>
                <a:ea typeface="Roboto" pitchFamily="34" charset="-122"/>
                <a:cs typeface="Roboto" pitchFamily="34" charset="-120"/>
              </a:rPr>
              <a:t> COUNT, AVG, SUM functions calculating critical metrics including patient volumes, average BMI, and admission frequencies</a:t>
            </a:r>
            <a:endParaRPr lang="en-US" sz="1250" dirty="0"/>
          </a:p>
        </p:txBody>
      </p:sp>
      <p:sp>
        <p:nvSpPr>
          <p:cNvPr id="10" name="Text 6"/>
          <p:cNvSpPr/>
          <p:nvPr/>
        </p:nvSpPr>
        <p:spPr>
          <a:xfrm>
            <a:off x="3352562" y="5278755"/>
            <a:ext cx="3883223" cy="642938"/>
          </a:xfrm>
          <a:prstGeom prst="rect">
            <a:avLst/>
          </a:prstGeom>
          <a:noFill/>
          <a:ln/>
        </p:spPr>
        <p:txBody>
          <a:bodyPr wrap="square" lIns="0" tIns="0" rIns="0" bIns="0" rtlCol="0" anchor="t"/>
          <a:lstStyle/>
          <a:p>
            <a:pPr marL="0" indent="0" algn="l">
              <a:lnSpc>
                <a:spcPts val="1650"/>
              </a:lnSpc>
              <a:buNone/>
            </a:pPr>
            <a:r>
              <a:rPr lang="en-US" sz="1250" b="1" dirty="0">
                <a:solidFill>
                  <a:srgbClr val="384653"/>
                </a:solidFill>
                <a:latin typeface="Roboto" pitchFamily="34" charset="0"/>
                <a:ea typeface="Roboto" pitchFamily="34" charset="-122"/>
                <a:cs typeface="Roboto" pitchFamily="34" charset="-120"/>
              </a:rPr>
              <a:t>Conditional Logic:</a:t>
            </a:r>
            <a:r>
              <a:rPr lang="en-US" sz="1250" dirty="0">
                <a:solidFill>
                  <a:srgbClr val="384653"/>
                </a:solidFill>
                <a:latin typeface="Roboto" pitchFamily="34" charset="0"/>
                <a:ea typeface="Roboto" pitchFamily="34" charset="-122"/>
                <a:cs typeface="Roboto" pitchFamily="34" charset="-120"/>
              </a:rPr>
              <a:t> CASE statements categorizing patients by BMI ranges, grouping diagnoses, and creating custom analytical dimensions</a:t>
            </a:r>
            <a:endParaRPr lang="en-US" sz="1250" dirty="0"/>
          </a:p>
        </p:txBody>
      </p:sp>
      <p:sp>
        <p:nvSpPr>
          <p:cNvPr id="11" name="Text 7"/>
          <p:cNvSpPr/>
          <p:nvPr/>
        </p:nvSpPr>
        <p:spPr>
          <a:xfrm>
            <a:off x="3352562" y="5997893"/>
            <a:ext cx="3883223" cy="642938"/>
          </a:xfrm>
          <a:prstGeom prst="rect">
            <a:avLst/>
          </a:prstGeom>
          <a:noFill/>
          <a:ln/>
        </p:spPr>
        <p:txBody>
          <a:bodyPr wrap="square" lIns="0" tIns="0" rIns="0" bIns="0" rtlCol="0" anchor="t"/>
          <a:lstStyle/>
          <a:p>
            <a:pPr marL="0" indent="0" algn="l">
              <a:lnSpc>
                <a:spcPts val="1650"/>
              </a:lnSpc>
              <a:buNone/>
            </a:pPr>
            <a:r>
              <a:rPr lang="en-US" sz="1250" b="1" dirty="0">
                <a:solidFill>
                  <a:srgbClr val="384653"/>
                </a:solidFill>
                <a:latin typeface="Roboto" pitchFamily="34" charset="0"/>
                <a:ea typeface="Roboto" pitchFamily="34" charset="-122"/>
                <a:cs typeface="Roboto" pitchFamily="34" charset="-120"/>
              </a:rPr>
              <a:t>Temporal Filtering:</a:t>
            </a:r>
            <a:r>
              <a:rPr lang="en-US" sz="1250" dirty="0">
                <a:solidFill>
                  <a:srgbClr val="384653"/>
                </a:solidFill>
                <a:latin typeface="Roboto" pitchFamily="34" charset="0"/>
                <a:ea typeface="Roboto" pitchFamily="34" charset="-122"/>
                <a:cs typeface="Roboto" pitchFamily="34" charset="-120"/>
              </a:rPr>
              <a:t> Date functions extracting month, year, and seasonal patterns from admission timestamps for trend analysis</a:t>
            </a:r>
            <a:endParaRPr lang="en-US" sz="1250" dirty="0"/>
          </a:p>
        </p:txBody>
      </p:sp>
      <p:pic>
        <p:nvPicPr>
          <p:cNvPr id="12" name="Image 2" descr="preencoded.png"/>
          <p:cNvPicPr>
            <a:picLocks noChangeAspect="1"/>
          </p:cNvPicPr>
          <p:nvPr/>
        </p:nvPicPr>
        <p:blipFill>
          <a:blip r:embed="rId5"/>
          <a:stretch>
            <a:fillRect/>
          </a:stretch>
        </p:blipFill>
        <p:spPr>
          <a:xfrm>
            <a:off x="7394496" y="3516273"/>
            <a:ext cx="2400062" cy="2400062"/>
          </a:xfrm>
          <a:prstGeom prst="rect">
            <a:avLst/>
          </a:prstGeom>
        </p:spPr>
      </p:pic>
      <p:sp>
        <p:nvSpPr>
          <p:cNvPr id="13" name="Text 8"/>
          <p:cNvSpPr/>
          <p:nvPr/>
        </p:nvSpPr>
        <p:spPr>
          <a:xfrm>
            <a:off x="9953268" y="3516273"/>
            <a:ext cx="1984653" cy="248007"/>
          </a:xfrm>
          <a:prstGeom prst="rect">
            <a:avLst/>
          </a:prstGeom>
          <a:noFill/>
          <a:ln/>
        </p:spPr>
        <p:txBody>
          <a:bodyPr wrap="none" lIns="0" tIns="0" rIns="0" bIns="0" rtlCol="0" anchor="t"/>
          <a:lstStyle/>
          <a:p>
            <a:pPr marL="0" indent="0" algn="l">
              <a:lnSpc>
                <a:spcPts val="1950"/>
              </a:lnSpc>
              <a:buNone/>
            </a:pPr>
            <a:r>
              <a:rPr lang="en-US" sz="1550" dirty="0">
                <a:solidFill>
                  <a:srgbClr val="384653"/>
                </a:solidFill>
                <a:latin typeface="Host Grotesk Medium" pitchFamily="34" charset="0"/>
                <a:ea typeface="Host Grotesk Medium" pitchFamily="34" charset="-122"/>
                <a:cs typeface="Host Grotesk Medium" pitchFamily="34" charset="-120"/>
              </a:rPr>
              <a:t>Power BI Visualization</a:t>
            </a:r>
            <a:endParaRPr lang="en-US" sz="1550" dirty="0"/>
          </a:p>
        </p:txBody>
      </p:sp>
      <p:sp>
        <p:nvSpPr>
          <p:cNvPr id="14" name="Text 9"/>
          <p:cNvSpPr/>
          <p:nvPr/>
        </p:nvSpPr>
        <p:spPr>
          <a:xfrm>
            <a:off x="9953268" y="3840480"/>
            <a:ext cx="3883343" cy="642938"/>
          </a:xfrm>
          <a:prstGeom prst="rect">
            <a:avLst/>
          </a:prstGeom>
          <a:noFill/>
          <a:ln/>
        </p:spPr>
        <p:txBody>
          <a:bodyPr wrap="square" lIns="0" tIns="0" rIns="0" bIns="0" rtlCol="0" anchor="t"/>
          <a:lstStyle/>
          <a:p>
            <a:pPr marL="0" indent="0" algn="l">
              <a:lnSpc>
                <a:spcPts val="1650"/>
              </a:lnSpc>
              <a:buNone/>
            </a:pPr>
            <a:r>
              <a:rPr lang="en-US" sz="1250" b="1" dirty="0">
                <a:solidFill>
                  <a:srgbClr val="384653"/>
                </a:solidFill>
                <a:latin typeface="Roboto" pitchFamily="34" charset="0"/>
                <a:ea typeface="Roboto" pitchFamily="34" charset="-122"/>
                <a:cs typeface="Roboto" pitchFamily="34" charset="-120"/>
              </a:rPr>
              <a:t>KPI Cards:</a:t>
            </a:r>
            <a:r>
              <a:rPr lang="en-US" sz="1250" dirty="0">
                <a:solidFill>
                  <a:srgbClr val="384653"/>
                </a:solidFill>
                <a:latin typeface="Roboto" pitchFamily="34" charset="0"/>
                <a:ea typeface="Roboto" pitchFamily="34" charset="-122"/>
                <a:cs typeface="Roboto" pitchFamily="34" charset="-120"/>
              </a:rPr>
              <a:t> High-impact metric displays highlighting total patients, admissions, average BMI, and other critical performance indicators</a:t>
            </a:r>
            <a:endParaRPr lang="en-US" sz="1250" dirty="0"/>
          </a:p>
        </p:txBody>
      </p:sp>
      <p:sp>
        <p:nvSpPr>
          <p:cNvPr id="15" name="Text 10"/>
          <p:cNvSpPr/>
          <p:nvPr/>
        </p:nvSpPr>
        <p:spPr>
          <a:xfrm>
            <a:off x="9953268" y="4559618"/>
            <a:ext cx="3883343" cy="642938"/>
          </a:xfrm>
          <a:prstGeom prst="rect">
            <a:avLst/>
          </a:prstGeom>
          <a:noFill/>
          <a:ln/>
        </p:spPr>
        <p:txBody>
          <a:bodyPr wrap="square" lIns="0" tIns="0" rIns="0" bIns="0" rtlCol="0" anchor="t"/>
          <a:lstStyle/>
          <a:p>
            <a:pPr marL="0" indent="0" algn="l">
              <a:lnSpc>
                <a:spcPts val="1650"/>
              </a:lnSpc>
              <a:buNone/>
            </a:pPr>
            <a:r>
              <a:rPr lang="en-US" sz="1250" b="1" dirty="0">
                <a:solidFill>
                  <a:srgbClr val="384653"/>
                </a:solidFill>
                <a:latin typeface="Roboto" pitchFamily="34" charset="0"/>
                <a:ea typeface="Roboto" pitchFamily="34" charset="-122"/>
                <a:cs typeface="Roboto" pitchFamily="34" charset="-120"/>
              </a:rPr>
              <a:t>Interactive Charts:</a:t>
            </a:r>
            <a:r>
              <a:rPr lang="en-US" sz="1250" dirty="0">
                <a:solidFill>
                  <a:srgbClr val="384653"/>
                </a:solidFill>
                <a:latin typeface="Roboto" pitchFamily="34" charset="0"/>
                <a:ea typeface="Roboto" pitchFamily="34" charset="-122"/>
                <a:cs typeface="Roboto" pitchFamily="34" charset="-120"/>
              </a:rPr>
              <a:t> Bar charts, line graphs, and pie charts revealing patterns in diagnoses, geography, doctors, and temporal trends</a:t>
            </a:r>
            <a:endParaRPr lang="en-US" sz="1250" dirty="0"/>
          </a:p>
        </p:txBody>
      </p:sp>
      <p:sp>
        <p:nvSpPr>
          <p:cNvPr id="16" name="Text 11"/>
          <p:cNvSpPr/>
          <p:nvPr/>
        </p:nvSpPr>
        <p:spPr>
          <a:xfrm>
            <a:off x="9953268" y="5278755"/>
            <a:ext cx="3883343" cy="642938"/>
          </a:xfrm>
          <a:prstGeom prst="rect">
            <a:avLst/>
          </a:prstGeom>
          <a:noFill/>
          <a:ln/>
        </p:spPr>
        <p:txBody>
          <a:bodyPr wrap="square" lIns="0" tIns="0" rIns="0" bIns="0" rtlCol="0" anchor="t"/>
          <a:lstStyle/>
          <a:p>
            <a:pPr marL="0" indent="0" algn="l">
              <a:lnSpc>
                <a:spcPts val="1650"/>
              </a:lnSpc>
              <a:buNone/>
            </a:pPr>
            <a:r>
              <a:rPr lang="en-US" sz="1250" b="1" dirty="0">
                <a:solidFill>
                  <a:srgbClr val="384653"/>
                </a:solidFill>
                <a:latin typeface="Roboto" pitchFamily="34" charset="0"/>
                <a:ea typeface="Roboto" pitchFamily="34" charset="-122"/>
                <a:cs typeface="Roboto" pitchFamily="34" charset="-120"/>
              </a:rPr>
              <a:t>Dynamic Slicers:</a:t>
            </a:r>
            <a:r>
              <a:rPr lang="en-US" sz="1250" dirty="0">
                <a:solidFill>
                  <a:srgbClr val="384653"/>
                </a:solidFill>
                <a:latin typeface="Roboto" pitchFamily="34" charset="0"/>
                <a:ea typeface="Roboto" pitchFamily="34" charset="-122"/>
                <a:cs typeface="Roboto" pitchFamily="34" charset="-120"/>
              </a:rPr>
              <a:t> User-controlled filters enabling ad-hoc analysis by time period, city, diagnosis category, and provider for flexible exploration</a:t>
            </a:r>
            <a:endParaRPr lang="en-US" sz="1250" dirty="0"/>
          </a:p>
        </p:txBody>
      </p:sp>
      <p:sp>
        <p:nvSpPr>
          <p:cNvPr id="17" name="Text 12"/>
          <p:cNvSpPr/>
          <p:nvPr/>
        </p:nvSpPr>
        <p:spPr>
          <a:xfrm>
            <a:off x="9953268" y="5997893"/>
            <a:ext cx="3883343" cy="642938"/>
          </a:xfrm>
          <a:prstGeom prst="rect">
            <a:avLst/>
          </a:prstGeom>
          <a:noFill/>
          <a:ln/>
        </p:spPr>
        <p:txBody>
          <a:bodyPr wrap="square" lIns="0" tIns="0" rIns="0" bIns="0" rtlCol="0" anchor="t"/>
          <a:lstStyle/>
          <a:p>
            <a:pPr marL="0" indent="0" algn="l">
              <a:lnSpc>
                <a:spcPts val="1650"/>
              </a:lnSpc>
              <a:buNone/>
            </a:pPr>
            <a:r>
              <a:rPr lang="en-US" sz="1250" b="1" dirty="0">
                <a:solidFill>
                  <a:srgbClr val="384653"/>
                </a:solidFill>
                <a:latin typeface="Roboto" pitchFamily="34" charset="0"/>
                <a:ea typeface="Roboto" pitchFamily="34" charset="-122"/>
                <a:cs typeface="Roboto" pitchFamily="34" charset="-120"/>
              </a:rPr>
              <a:t>Responsive Dashboards:</a:t>
            </a:r>
            <a:r>
              <a:rPr lang="en-US" sz="1250" dirty="0">
                <a:solidFill>
                  <a:srgbClr val="384653"/>
                </a:solidFill>
                <a:latin typeface="Roboto" pitchFamily="34" charset="0"/>
                <a:ea typeface="Roboto" pitchFamily="34" charset="-122"/>
                <a:cs typeface="Roboto" pitchFamily="34" charset="-120"/>
              </a:rPr>
              <a:t> Mobile-optimized layouts ensuring accessibility for executives and clinical leaders across devices</a:t>
            </a:r>
            <a:endParaRPr lang="en-US" sz="1250" dirty="0"/>
          </a:p>
        </p:txBody>
      </p:sp>
      <p:sp>
        <p:nvSpPr>
          <p:cNvPr id="18" name="Text 13"/>
          <p:cNvSpPr/>
          <p:nvPr/>
        </p:nvSpPr>
        <p:spPr>
          <a:xfrm>
            <a:off x="793790" y="6783705"/>
            <a:ext cx="13042821" cy="857250"/>
          </a:xfrm>
          <a:prstGeom prst="rect">
            <a:avLst/>
          </a:prstGeom>
          <a:noFill/>
          <a:ln/>
        </p:spPr>
        <p:txBody>
          <a:bodyPr wrap="square" lIns="0" tIns="0" rIns="0" bIns="0" rtlCol="0" anchor="t"/>
          <a:lstStyle/>
          <a:p>
            <a:pPr marL="0" indent="0" algn="l">
              <a:lnSpc>
                <a:spcPts val="1650"/>
              </a:lnSpc>
              <a:buNone/>
            </a:pPr>
            <a:r>
              <a:rPr lang="en-US" sz="1250" b="1" dirty="0">
                <a:solidFill>
                  <a:srgbClr val="384653"/>
                </a:solidFill>
                <a:latin typeface="Roboto" pitchFamily="34" charset="0"/>
                <a:ea typeface="Roboto" pitchFamily="34" charset="-122"/>
                <a:cs typeface="Roboto" pitchFamily="34" charset="-120"/>
              </a:rPr>
              <a:t>Technical Skills Demonstrated:</a:t>
            </a:r>
            <a:r>
              <a:rPr lang="en-US" sz="1250" dirty="0">
                <a:solidFill>
                  <a:srgbClr val="384653"/>
                </a:solidFill>
                <a:latin typeface="Roboto" pitchFamily="34" charset="0"/>
                <a:ea typeface="Roboto" pitchFamily="34" charset="-122"/>
                <a:cs typeface="Roboto" pitchFamily="34" charset="-120"/>
              </a:rPr>
              <a:t> This project showcases proficiency in the complete data analytics lifecycle—from database design understanding and complex SQL query construction, through data quality assessment and statistical analysis, to compelling visual storytelling through interactive dashboards. The work exemplifies capabilities essential for modern healthcare analytics roles, including technical database skills, statistical literacy, visualization design, and the ability to translate analytical findings into business recommendations that drive organizational decision-making.</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C7E9A70-AF95-8E07-F530-C543F60B3AD5}"/>
              </a:ext>
            </a:extLst>
          </p:cNvPr>
          <p:cNvPicPr>
            <a:picLocks noChangeAspect="1"/>
          </p:cNvPicPr>
          <p:nvPr/>
        </p:nvPicPr>
        <p:blipFill>
          <a:blip r:embed="rId2"/>
          <a:stretch>
            <a:fillRect/>
          </a:stretch>
        </p:blipFill>
        <p:spPr>
          <a:xfrm>
            <a:off x="2747325" y="494795"/>
            <a:ext cx="9135750" cy="7240010"/>
          </a:xfrm>
          <a:prstGeom prst="rect">
            <a:avLst/>
          </a:prstGeom>
        </p:spPr>
      </p:pic>
    </p:spTree>
    <p:extLst>
      <p:ext uri="{BB962C8B-B14F-4D97-AF65-F5344CB8AC3E}">
        <p14:creationId xmlns:p14="http://schemas.microsoft.com/office/powerpoint/2010/main" val="42839980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41B6A4E-89C8-6747-406A-FCE9291327E8}"/>
              </a:ext>
            </a:extLst>
          </p:cNvPr>
          <p:cNvPicPr>
            <a:picLocks noChangeAspect="1"/>
          </p:cNvPicPr>
          <p:nvPr/>
        </p:nvPicPr>
        <p:blipFill>
          <a:blip r:embed="rId2"/>
          <a:stretch>
            <a:fillRect/>
          </a:stretch>
        </p:blipFill>
        <p:spPr>
          <a:xfrm>
            <a:off x="2713983" y="413821"/>
            <a:ext cx="9202434" cy="7401958"/>
          </a:xfrm>
          <a:prstGeom prst="rect">
            <a:avLst/>
          </a:prstGeom>
        </p:spPr>
      </p:pic>
    </p:spTree>
    <p:extLst>
      <p:ext uri="{BB962C8B-B14F-4D97-AF65-F5344CB8AC3E}">
        <p14:creationId xmlns:p14="http://schemas.microsoft.com/office/powerpoint/2010/main" val="39482736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19F03A-8B87-130B-CC55-EA5452C99376}"/>
              </a:ext>
            </a:extLst>
          </p:cNvPr>
          <p:cNvPicPr>
            <a:picLocks noChangeAspect="1"/>
          </p:cNvPicPr>
          <p:nvPr/>
        </p:nvPicPr>
        <p:blipFill>
          <a:blip r:embed="rId2"/>
          <a:stretch>
            <a:fillRect/>
          </a:stretch>
        </p:blipFill>
        <p:spPr>
          <a:xfrm>
            <a:off x="2733035" y="351900"/>
            <a:ext cx="9164329" cy="7525800"/>
          </a:xfrm>
          <a:prstGeom prst="rect">
            <a:avLst/>
          </a:prstGeom>
        </p:spPr>
      </p:pic>
    </p:spTree>
    <p:extLst>
      <p:ext uri="{BB962C8B-B14F-4D97-AF65-F5344CB8AC3E}">
        <p14:creationId xmlns:p14="http://schemas.microsoft.com/office/powerpoint/2010/main" val="10404370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3E6556C-5BC6-B3D3-0665-A737AECE774A}"/>
              </a:ext>
            </a:extLst>
          </p:cNvPr>
          <p:cNvPicPr>
            <a:picLocks noChangeAspect="1"/>
          </p:cNvPicPr>
          <p:nvPr/>
        </p:nvPicPr>
        <p:blipFill>
          <a:blip r:embed="rId2"/>
          <a:stretch>
            <a:fillRect/>
          </a:stretch>
        </p:blipFill>
        <p:spPr>
          <a:xfrm>
            <a:off x="2366272" y="213768"/>
            <a:ext cx="9897856" cy="7802064"/>
          </a:xfrm>
          <a:prstGeom prst="rect">
            <a:avLst/>
          </a:prstGeom>
        </p:spPr>
      </p:pic>
    </p:spTree>
    <p:extLst>
      <p:ext uri="{BB962C8B-B14F-4D97-AF65-F5344CB8AC3E}">
        <p14:creationId xmlns:p14="http://schemas.microsoft.com/office/powerpoint/2010/main" val="2253556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A87E003-3D7D-9AF0-ABFD-62455892ADEE}"/>
              </a:ext>
            </a:extLst>
          </p:cNvPr>
          <p:cNvPicPr>
            <a:picLocks noChangeAspect="1"/>
          </p:cNvPicPr>
          <p:nvPr/>
        </p:nvPicPr>
        <p:blipFill>
          <a:blip r:embed="rId2"/>
          <a:stretch>
            <a:fillRect/>
          </a:stretch>
        </p:blipFill>
        <p:spPr>
          <a:xfrm>
            <a:off x="1637507" y="323321"/>
            <a:ext cx="11355385" cy="7582958"/>
          </a:xfrm>
          <a:prstGeom prst="rect">
            <a:avLst/>
          </a:prstGeom>
        </p:spPr>
      </p:pic>
    </p:spTree>
    <p:extLst>
      <p:ext uri="{BB962C8B-B14F-4D97-AF65-F5344CB8AC3E}">
        <p14:creationId xmlns:p14="http://schemas.microsoft.com/office/powerpoint/2010/main" val="30488499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DC5006F-40A7-C333-E9EF-E343BEF382E0}"/>
              </a:ext>
            </a:extLst>
          </p:cNvPr>
          <p:cNvPicPr>
            <a:picLocks noChangeAspect="1"/>
          </p:cNvPicPr>
          <p:nvPr/>
        </p:nvPicPr>
        <p:blipFill>
          <a:blip r:embed="rId2"/>
          <a:stretch>
            <a:fillRect/>
          </a:stretch>
        </p:blipFill>
        <p:spPr>
          <a:xfrm>
            <a:off x="2456772" y="275689"/>
            <a:ext cx="9716856" cy="7678222"/>
          </a:xfrm>
          <a:prstGeom prst="rect">
            <a:avLst/>
          </a:prstGeom>
        </p:spPr>
      </p:pic>
    </p:spTree>
    <p:extLst>
      <p:ext uri="{BB962C8B-B14F-4D97-AF65-F5344CB8AC3E}">
        <p14:creationId xmlns:p14="http://schemas.microsoft.com/office/powerpoint/2010/main" val="26363312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587A39C-550D-E0D2-E955-3499C21C76D6}"/>
              </a:ext>
            </a:extLst>
          </p:cNvPr>
          <p:cNvPicPr>
            <a:picLocks noChangeAspect="1"/>
          </p:cNvPicPr>
          <p:nvPr/>
        </p:nvPicPr>
        <p:blipFill>
          <a:blip r:embed="rId2"/>
          <a:stretch>
            <a:fillRect/>
          </a:stretch>
        </p:blipFill>
        <p:spPr>
          <a:xfrm>
            <a:off x="1065928" y="304268"/>
            <a:ext cx="12498544" cy="7621064"/>
          </a:xfrm>
          <a:prstGeom prst="rect">
            <a:avLst/>
          </a:prstGeom>
        </p:spPr>
      </p:pic>
    </p:spTree>
    <p:extLst>
      <p:ext uri="{BB962C8B-B14F-4D97-AF65-F5344CB8AC3E}">
        <p14:creationId xmlns:p14="http://schemas.microsoft.com/office/powerpoint/2010/main" val="39728212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2465637-8171-3E40-940B-D38BF6EEB66F}"/>
              </a:ext>
            </a:extLst>
          </p:cNvPr>
          <p:cNvPicPr>
            <a:picLocks noChangeAspect="1"/>
          </p:cNvPicPr>
          <p:nvPr/>
        </p:nvPicPr>
        <p:blipFill>
          <a:blip r:embed="rId2"/>
          <a:stretch>
            <a:fillRect/>
          </a:stretch>
        </p:blipFill>
        <p:spPr>
          <a:xfrm>
            <a:off x="2723509" y="199478"/>
            <a:ext cx="9183382" cy="7830643"/>
          </a:xfrm>
          <a:prstGeom prst="rect">
            <a:avLst/>
          </a:prstGeom>
        </p:spPr>
      </p:pic>
    </p:spTree>
    <p:extLst>
      <p:ext uri="{BB962C8B-B14F-4D97-AF65-F5344CB8AC3E}">
        <p14:creationId xmlns:p14="http://schemas.microsoft.com/office/powerpoint/2010/main" val="12206647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8E22155-8530-5D8D-56EC-4153203CC96E}"/>
              </a:ext>
            </a:extLst>
          </p:cNvPr>
          <p:cNvPicPr>
            <a:picLocks noChangeAspect="1"/>
          </p:cNvPicPr>
          <p:nvPr/>
        </p:nvPicPr>
        <p:blipFill>
          <a:blip r:embed="rId2"/>
          <a:stretch>
            <a:fillRect/>
          </a:stretch>
        </p:blipFill>
        <p:spPr>
          <a:xfrm>
            <a:off x="2447245" y="323321"/>
            <a:ext cx="9735909" cy="7582958"/>
          </a:xfrm>
          <a:prstGeom prst="rect">
            <a:avLst/>
          </a:prstGeom>
        </p:spPr>
      </p:pic>
    </p:spTree>
    <p:extLst>
      <p:ext uri="{BB962C8B-B14F-4D97-AF65-F5344CB8AC3E}">
        <p14:creationId xmlns:p14="http://schemas.microsoft.com/office/powerpoint/2010/main" val="29537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72D44E7-5E34-CE0F-A774-B3950AF63A26}"/>
              </a:ext>
            </a:extLst>
          </p:cNvPr>
          <p:cNvPicPr>
            <a:picLocks noChangeAspect="1"/>
          </p:cNvPicPr>
          <p:nvPr/>
        </p:nvPicPr>
        <p:blipFill>
          <a:blip r:embed="rId2"/>
          <a:stretch>
            <a:fillRect/>
          </a:stretch>
        </p:blipFill>
        <p:spPr>
          <a:xfrm>
            <a:off x="2794956" y="361426"/>
            <a:ext cx="9040487" cy="7506748"/>
          </a:xfrm>
          <a:prstGeom prst="rect">
            <a:avLst/>
          </a:prstGeom>
        </p:spPr>
      </p:pic>
    </p:spTree>
    <p:extLst>
      <p:ext uri="{BB962C8B-B14F-4D97-AF65-F5344CB8AC3E}">
        <p14:creationId xmlns:p14="http://schemas.microsoft.com/office/powerpoint/2010/main" val="37959035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67B5B31-1E4F-9729-04A2-0E7DC5E6D180}"/>
              </a:ext>
            </a:extLst>
          </p:cNvPr>
          <p:cNvPicPr>
            <a:picLocks noChangeAspect="1"/>
          </p:cNvPicPr>
          <p:nvPr/>
        </p:nvPicPr>
        <p:blipFill>
          <a:blip r:embed="rId2"/>
          <a:stretch>
            <a:fillRect/>
          </a:stretch>
        </p:blipFill>
        <p:spPr>
          <a:xfrm>
            <a:off x="2837825" y="342373"/>
            <a:ext cx="8954750" cy="7544853"/>
          </a:xfrm>
          <a:prstGeom prst="rect">
            <a:avLst/>
          </a:prstGeom>
        </p:spPr>
      </p:pic>
    </p:spTree>
    <p:extLst>
      <p:ext uri="{BB962C8B-B14F-4D97-AF65-F5344CB8AC3E}">
        <p14:creationId xmlns:p14="http://schemas.microsoft.com/office/powerpoint/2010/main" val="27659816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36C7455-5A28-A6FC-F108-448BA7A12851}"/>
              </a:ext>
            </a:extLst>
          </p:cNvPr>
          <p:cNvPicPr>
            <a:picLocks noChangeAspect="1"/>
          </p:cNvPicPr>
          <p:nvPr/>
        </p:nvPicPr>
        <p:blipFill>
          <a:blip r:embed="rId2"/>
          <a:stretch>
            <a:fillRect/>
          </a:stretch>
        </p:blipFill>
        <p:spPr>
          <a:xfrm>
            <a:off x="2375798" y="351900"/>
            <a:ext cx="9878804" cy="7525800"/>
          </a:xfrm>
          <a:prstGeom prst="rect">
            <a:avLst/>
          </a:prstGeom>
        </p:spPr>
      </p:pic>
    </p:spTree>
    <p:extLst>
      <p:ext uri="{BB962C8B-B14F-4D97-AF65-F5344CB8AC3E}">
        <p14:creationId xmlns:p14="http://schemas.microsoft.com/office/powerpoint/2010/main" val="34755504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CBEEDD7-052E-68EA-8B2B-FB0A4D234CA9}"/>
              </a:ext>
            </a:extLst>
          </p:cNvPr>
          <p:cNvPicPr>
            <a:picLocks noChangeAspect="1"/>
          </p:cNvPicPr>
          <p:nvPr/>
        </p:nvPicPr>
        <p:blipFill>
          <a:blip r:embed="rId2"/>
          <a:stretch>
            <a:fillRect/>
          </a:stretch>
        </p:blipFill>
        <p:spPr>
          <a:xfrm>
            <a:off x="2823535" y="351900"/>
            <a:ext cx="8983329" cy="7525800"/>
          </a:xfrm>
          <a:prstGeom prst="rect">
            <a:avLst/>
          </a:prstGeom>
        </p:spPr>
      </p:pic>
    </p:spTree>
    <p:extLst>
      <p:ext uri="{BB962C8B-B14F-4D97-AF65-F5344CB8AC3E}">
        <p14:creationId xmlns:p14="http://schemas.microsoft.com/office/powerpoint/2010/main" val="27132364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13D4A09-C2B6-4C4D-20A2-187D41316C8C}"/>
              </a:ext>
            </a:extLst>
          </p:cNvPr>
          <p:cNvPicPr>
            <a:picLocks noChangeAspect="1"/>
          </p:cNvPicPr>
          <p:nvPr/>
        </p:nvPicPr>
        <p:blipFill>
          <a:blip r:embed="rId2"/>
          <a:stretch>
            <a:fillRect/>
          </a:stretch>
        </p:blipFill>
        <p:spPr>
          <a:xfrm>
            <a:off x="1647034" y="194715"/>
            <a:ext cx="11336332" cy="7840169"/>
          </a:xfrm>
          <a:prstGeom prst="rect">
            <a:avLst/>
          </a:prstGeom>
        </p:spPr>
      </p:pic>
    </p:spTree>
    <p:extLst>
      <p:ext uri="{BB962C8B-B14F-4D97-AF65-F5344CB8AC3E}">
        <p14:creationId xmlns:p14="http://schemas.microsoft.com/office/powerpoint/2010/main" val="39231974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1701D47-CF8D-1F25-792C-E80D259B1138}"/>
              </a:ext>
            </a:extLst>
          </p:cNvPr>
          <p:cNvPicPr>
            <a:picLocks noChangeAspect="1"/>
          </p:cNvPicPr>
          <p:nvPr/>
        </p:nvPicPr>
        <p:blipFill>
          <a:blip r:embed="rId2"/>
          <a:stretch>
            <a:fillRect/>
          </a:stretch>
        </p:blipFill>
        <p:spPr>
          <a:xfrm>
            <a:off x="1151665" y="356663"/>
            <a:ext cx="12327070" cy="7516274"/>
          </a:xfrm>
          <a:prstGeom prst="rect">
            <a:avLst/>
          </a:prstGeom>
        </p:spPr>
      </p:pic>
    </p:spTree>
    <p:extLst>
      <p:ext uri="{BB962C8B-B14F-4D97-AF65-F5344CB8AC3E}">
        <p14:creationId xmlns:p14="http://schemas.microsoft.com/office/powerpoint/2010/main" val="27058854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54226C5-EE70-961D-F58B-52BB65ACDFAD}"/>
              </a:ext>
            </a:extLst>
          </p:cNvPr>
          <p:cNvPicPr>
            <a:picLocks noChangeAspect="1"/>
          </p:cNvPicPr>
          <p:nvPr/>
        </p:nvPicPr>
        <p:blipFill>
          <a:blip r:embed="rId2"/>
          <a:stretch>
            <a:fillRect/>
          </a:stretch>
        </p:blipFill>
        <p:spPr>
          <a:xfrm>
            <a:off x="2371035" y="394768"/>
            <a:ext cx="9888330" cy="7440063"/>
          </a:xfrm>
          <a:prstGeom prst="rect">
            <a:avLst/>
          </a:prstGeom>
        </p:spPr>
      </p:pic>
    </p:spTree>
    <p:extLst>
      <p:ext uri="{BB962C8B-B14F-4D97-AF65-F5344CB8AC3E}">
        <p14:creationId xmlns:p14="http://schemas.microsoft.com/office/powerpoint/2010/main" val="32150264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5544866-A0C2-8C4A-6950-34E0B7488E9F}"/>
              </a:ext>
            </a:extLst>
          </p:cNvPr>
          <p:cNvPicPr>
            <a:picLocks noChangeAspect="1"/>
          </p:cNvPicPr>
          <p:nvPr/>
        </p:nvPicPr>
        <p:blipFill>
          <a:blip r:embed="rId2"/>
          <a:stretch>
            <a:fillRect/>
          </a:stretch>
        </p:blipFill>
        <p:spPr>
          <a:xfrm>
            <a:off x="1670850" y="242347"/>
            <a:ext cx="11288700" cy="7744906"/>
          </a:xfrm>
          <a:prstGeom prst="rect">
            <a:avLst/>
          </a:prstGeom>
        </p:spPr>
      </p:pic>
    </p:spTree>
    <p:extLst>
      <p:ext uri="{BB962C8B-B14F-4D97-AF65-F5344CB8AC3E}">
        <p14:creationId xmlns:p14="http://schemas.microsoft.com/office/powerpoint/2010/main" val="1621172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E56B770-48A2-AF28-38FF-397A1BC3F436}"/>
              </a:ext>
            </a:extLst>
          </p:cNvPr>
          <p:cNvPicPr>
            <a:picLocks noChangeAspect="1"/>
          </p:cNvPicPr>
          <p:nvPr/>
        </p:nvPicPr>
        <p:blipFill>
          <a:blip r:embed="rId2"/>
          <a:stretch>
            <a:fillRect/>
          </a:stretch>
        </p:blipFill>
        <p:spPr>
          <a:xfrm>
            <a:off x="1185007" y="232821"/>
            <a:ext cx="12260386" cy="7763958"/>
          </a:xfrm>
          <a:prstGeom prst="rect">
            <a:avLst/>
          </a:prstGeom>
        </p:spPr>
      </p:pic>
    </p:spTree>
    <p:extLst>
      <p:ext uri="{BB962C8B-B14F-4D97-AF65-F5344CB8AC3E}">
        <p14:creationId xmlns:p14="http://schemas.microsoft.com/office/powerpoint/2010/main" val="29757982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B3FEF4F-D282-AEBB-3CB2-66DAAA98714F}"/>
              </a:ext>
            </a:extLst>
          </p:cNvPr>
          <p:cNvPicPr>
            <a:picLocks noChangeAspect="1"/>
          </p:cNvPicPr>
          <p:nvPr/>
        </p:nvPicPr>
        <p:blipFill>
          <a:blip r:embed="rId2"/>
          <a:stretch>
            <a:fillRect/>
          </a:stretch>
        </p:blipFill>
        <p:spPr>
          <a:xfrm>
            <a:off x="13268" y="223294"/>
            <a:ext cx="14603863" cy="7783011"/>
          </a:xfrm>
          <a:prstGeom prst="rect">
            <a:avLst/>
          </a:prstGeom>
        </p:spPr>
      </p:pic>
    </p:spTree>
    <p:extLst>
      <p:ext uri="{BB962C8B-B14F-4D97-AF65-F5344CB8AC3E}">
        <p14:creationId xmlns:p14="http://schemas.microsoft.com/office/powerpoint/2010/main" val="16834277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B4D5357-43DE-B1B6-18B9-4D5B717AC487}"/>
              </a:ext>
            </a:extLst>
          </p:cNvPr>
          <p:cNvPicPr>
            <a:picLocks noChangeAspect="1"/>
          </p:cNvPicPr>
          <p:nvPr/>
        </p:nvPicPr>
        <p:blipFill>
          <a:blip r:embed="rId2"/>
          <a:stretch>
            <a:fillRect/>
          </a:stretch>
        </p:blipFill>
        <p:spPr>
          <a:xfrm>
            <a:off x="1208823" y="409058"/>
            <a:ext cx="12212754" cy="7411484"/>
          </a:xfrm>
          <a:prstGeom prst="rect">
            <a:avLst/>
          </a:prstGeom>
        </p:spPr>
      </p:pic>
    </p:spTree>
    <p:extLst>
      <p:ext uri="{BB962C8B-B14F-4D97-AF65-F5344CB8AC3E}">
        <p14:creationId xmlns:p14="http://schemas.microsoft.com/office/powerpoint/2010/main" val="28318076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FF7F67E-52F7-6690-2159-94EF514519FE}"/>
              </a:ext>
            </a:extLst>
          </p:cNvPr>
          <p:cNvPicPr>
            <a:picLocks noChangeAspect="1"/>
          </p:cNvPicPr>
          <p:nvPr/>
        </p:nvPicPr>
        <p:blipFill>
          <a:blip r:embed="rId2"/>
          <a:stretch>
            <a:fillRect/>
          </a:stretch>
        </p:blipFill>
        <p:spPr>
          <a:xfrm>
            <a:off x="656295" y="266163"/>
            <a:ext cx="13317809" cy="7697274"/>
          </a:xfrm>
          <a:prstGeom prst="rect">
            <a:avLst/>
          </a:prstGeom>
        </p:spPr>
      </p:pic>
    </p:spTree>
    <p:extLst>
      <p:ext uri="{BB962C8B-B14F-4D97-AF65-F5344CB8AC3E}">
        <p14:creationId xmlns:p14="http://schemas.microsoft.com/office/powerpoint/2010/main" val="15344432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A8542BF-8B19-6DA6-E5D7-9E47C298BDE4}"/>
              </a:ext>
            </a:extLst>
          </p:cNvPr>
          <p:cNvPicPr>
            <a:picLocks noChangeAspect="1"/>
          </p:cNvPicPr>
          <p:nvPr/>
        </p:nvPicPr>
        <p:blipFill>
          <a:blip r:embed="rId2"/>
          <a:stretch>
            <a:fillRect/>
          </a:stretch>
        </p:blipFill>
        <p:spPr>
          <a:xfrm>
            <a:off x="665822" y="361426"/>
            <a:ext cx="13298756" cy="7506748"/>
          </a:xfrm>
          <a:prstGeom prst="rect">
            <a:avLst/>
          </a:prstGeom>
        </p:spPr>
      </p:pic>
    </p:spTree>
    <p:extLst>
      <p:ext uri="{BB962C8B-B14F-4D97-AF65-F5344CB8AC3E}">
        <p14:creationId xmlns:p14="http://schemas.microsoft.com/office/powerpoint/2010/main" val="23934522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FEB73EE-27D6-2EA5-43DE-850746DA5415}"/>
              </a:ext>
            </a:extLst>
          </p:cNvPr>
          <p:cNvPicPr>
            <a:picLocks noChangeAspect="1"/>
          </p:cNvPicPr>
          <p:nvPr/>
        </p:nvPicPr>
        <p:blipFill>
          <a:blip r:embed="rId2"/>
          <a:stretch>
            <a:fillRect/>
          </a:stretch>
        </p:blipFill>
        <p:spPr>
          <a:xfrm>
            <a:off x="1451744" y="347136"/>
            <a:ext cx="11726912" cy="7535327"/>
          </a:xfrm>
          <a:prstGeom prst="rect">
            <a:avLst/>
          </a:prstGeom>
        </p:spPr>
      </p:pic>
    </p:spTree>
    <p:extLst>
      <p:ext uri="{BB962C8B-B14F-4D97-AF65-F5344CB8AC3E}">
        <p14:creationId xmlns:p14="http://schemas.microsoft.com/office/powerpoint/2010/main" val="39018668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3C7802E-0C79-0780-F6CB-803F822CFD57}"/>
              </a:ext>
            </a:extLst>
          </p:cNvPr>
          <p:cNvPicPr>
            <a:picLocks noChangeAspect="1"/>
          </p:cNvPicPr>
          <p:nvPr/>
        </p:nvPicPr>
        <p:blipFill>
          <a:blip r:embed="rId2"/>
          <a:stretch>
            <a:fillRect/>
          </a:stretch>
        </p:blipFill>
        <p:spPr>
          <a:xfrm>
            <a:off x="0" y="-1"/>
            <a:ext cx="7315200" cy="8346831"/>
          </a:xfrm>
          <a:prstGeom prst="rect">
            <a:avLst/>
          </a:prstGeom>
        </p:spPr>
      </p:pic>
      <p:pic>
        <p:nvPicPr>
          <p:cNvPr id="5" name="Picture 4">
            <a:extLst>
              <a:ext uri="{FF2B5EF4-FFF2-40B4-BE49-F238E27FC236}">
                <a16:creationId xmlns:a16="http://schemas.microsoft.com/office/drawing/2014/main" id="{5E53152E-0AD2-C829-D514-41E094861D8E}"/>
              </a:ext>
            </a:extLst>
          </p:cNvPr>
          <p:cNvPicPr>
            <a:picLocks noChangeAspect="1"/>
          </p:cNvPicPr>
          <p:nvPr/>
        </p:nvPicPr>
        <p:blipFill>
          <a:blip r:embed="rId3"/>
          <a:stretch>
            <a:fillRect/>
          </a:stretch>
        </p:blipFill>
        <p:spPr>
          <a:xfrm>
            <a:off x="7315200" y="1"/>
            <a:ext cx="7315200" cy="8534400"/>
          </a:xfrm>
          <a:prstGeom prst="rect">
            <a:avLst/>
          </a:prstGeom>
        </p:spPr>
      </p:pic>
    </p:spTree>
    <p:extLst>
      <p:ext uri="{BB962C8B-B14F-4D97-AF65-F5344CB8AC3E}">
        <p14:creationId xmlns:p14="http://schemas.microsoft.com/office/powerpoint/2010/main" val="4967491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AEE17AA-FF08-32DE-31C1-93FFCC9ABE1D}"/>
              </a:ext>
            </a:extLst>
          </p:cNvPr>
          <p:cNvPicPr>
            <a:picLocks noChangeAspect="1"/>
          </p:cNvPicPr>
          <p:nvPr/>
        </p:nvPicPr>
        <p:blipFill>
          <a:blip r:embed="rId2"/>
          <a:stretch>
            <a:fillRect/>
          </a:stretch>
        </p:blipFill>
        <p:spPr>
          <a:xfrm>
            <a:off x="1099270" y="228057"/>
            <a:ext cx="12431860" cy="7773485"/>
          </a:xfrm>
          <a:prstGeom prst="rect">
            <a:avLst/>
          </a:prstGeom>
        </p:spPr>
      </p:pic>
    </p:spTree>
    <p:extLst>
      <p:ext uri="{BB962C8B-B14F-4D97-AF65-F5344CB8AC3E}">
        <p14:creationId xmlns:p14="http://schemas.microsoft.com/office/powerpoint/2010/main" val="373477626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231062A-7808-25E8-927B-4F244224F5E6}"/>
              </a:ext>
            </a:extLst>
          </p:cNvPr>
          <p:cNvPicPr>
            <a:picLocks noChangeAspect="1"/>
          </p:cNvPicPr>
          <p:nvPr/>
        </p:nvPicPr>
        <p:blipFill>
          <a:blip r:embed="rId2"/>
          <a:stretch>
            <a:fillRect/>
          </a:stretch>
        </p:blipFill>
        <p:spPr>
          <a:xfrm>
            <a:off x="1437454" y="209005"/>
            <a:ext cx="11755491" cy="7811590"/>
          </a:xfrm>
          <a:prstGeom prst="rect">
            <a:avLst/>
          </a:prstGeom>
        </p:spPr>
      </p:pic>
    </p:spTree>
    <p:extLst>
      <p:ext uri="{BB962C8B-B14F-4D97-AF65-F5344CB8AC3E}">
        <p14:creationId xmlns:p14="http://schemas.microsoft.com/office/powerpoint/2010/main" val="256179187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73D2EF6-17D8-6997-3D70-B364D6C07E82}"/>
              </a:ext>
            </a:extLst>
          </p:cNvPr>
          <p:cNvPicPr>
            <a:picLocks noChangeAspect="1"/>
          </p:cNvPicPr>
          <p:nvPr/>
        </p:nvPicPr>
        <p:blipFill>
          <a:blip r:embed="rId2"/>
          <a:stretch>
            <a:fillRect/>
          </a:stretch>
        </p:blipFill>
        <p:spPr>
          <a:xfrm>
            <a:off x="570559" y="490031"/>
            <a:ext cx="13489282" cy="7249537"/>
          </a:xfrm>
          <a:prstGeom prst="rect">
            <a:avLst/>
          </a:prstGeom>
        </p:spPr>
      </p:pic>
    </p:spTree>
    <p:extLst>
      <p:ext uri="{BB962C8B-B14F-4D97-AF65-F5344CB8AC3E}">
        <p14:creationId xmlns:p14="http://schemas.microsoft.com/office/powerpoint/2010/main" val="145972021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280B56B-4620-7FD8-7E64-684C74374432}"/>
              </a:ext>
            </a:extLst>
          </p:cNvPr>
          <p:cNvPicPr>
            <a:picLocks noChangeAspect="1"/>
          </p:cNvPicPr>
          <p:nvPr/>
        </p:nvPicPr>
        <p:blipFill>
          <a:blip r:embed="rId2"/>
          <a:stretch>
            <a:fillRect/>
          </a:stretch>
        </p:blipFill>
        <p:spPr>
          <a:xfrm>
            <a:off x="0" y="342757"/>
            <a:ext cx="14630400" cy="7544086"/>
          </a:xfrm>
          <a:prstGeom prst="rect">
            <a:avLst/>
          </a:prstGeom>
        </p:spPr>
      </p:pic>
    </p:spTree>
    <p:extLst>
      <p:ext uri="{BB962C8B-B14F-4D97-AF65-F5344CB8AC3E}">
        <p14:creationId xmlns:p14="http://schemas.microsoft.com/office/powerpoint/2010/main" val="66456653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CE3BACE-3B8A-DE68-728E-5DF77A129333}"/>
              </a:ext>
            </a:extLst>
          </p:cNvPr>
          <p:cNvPicPr>
            <a:picLocks noChangeAspect="1"/>
          </p:cNvPicPr>
          <p:nvPr/>
        </p:nvPicPr>
        <p:blipFill>
          <a:blip r:embed="rId2"/>
          <a:stretch>
            <a:fillRect/>
          </a:stretch>
        </p:blipFill>
        <p:spPr>
          <a:xfrm>
            <a:off x="1356481" y="228057"/>
            <a:ext cx="11917438" cy="7773485"/>
          </a:xfrm>
          <a:prstGeom prst="rect">
            <a:avLst/>
          </a:prstGeom>
        </p:spPr>
      </p:pic>
    </p:spTree>
    <p:extLst>
      <p:ext uri="{BB962C8B-B14F-4D97-AF65-F5344CB8AC3E}">
        <p14:creationId xmlns:p14="http://schemas.microsoft.com/office/powerpoint/2010/main" val="3605562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FF9084E-6140-7084-20A1-94EA9F20AA7C}"/>
              </a:ext>
            </a:extLst>
          </p:cNvPr>
          <p:cNvPicPr>
            <a:picLocks noChangeAspect="1"/>
          </p:cNvPicPr>
          <p:nvPr/>
        </p:nvPicPr>
        <p:blipFill>
          <a:blip r:embed="rId2"/>
          <a:stretch>
            <a:fillRect/>
          </a:stretch>
        </p:blipFill>
        <p:spPr>
          <a:xfrm>
            <a:off x="2013797" y="247110"/>
            <a:ext cx="10602805" cy="7735380"/>
          </a:xfrm>
          <a:prstGeom prst="rect">
            <a:avLst/>
          </a:prstGeom>
        </p:spPr>
      </p:pic>
    </p:spTree>
    <p:extLst>
      <p:ext uri="{BB962C8B-B14F-4D97-AF65-F5344CB8AC3E}">
        <p14:creationId xmlns:p14="http://schemas.microsoft.com/office/powerpoint/2010/main" val="155407200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C509964-D303-3C91-9E4B-30DC82A23D09}"/>
              </a:ext>
            </a:extLst>
          </p:cNvPr>
          <p:cNvPicPr>
            <a:picLocks noChangeAspect="1"/>
          </p:cNvPicPr>
          <p:nvPr/>
        </p:nvPicPr>
        <p:blipFill>
          <a:blip r:embed="rId2"/>
          <a:stretch>
            <a:fillRect/>
          </a:stretch>
        </p:blipFill>
        <p:spPr>
          <a:xfrm>
            <a:off x="251426" y="337610"/>
            <a:ext cx="14127547" cy="7554379"/>
          </a:xfrm>
          <a:prstGeom prst="rect">
            <a:avLst/>
          </a:prstGeom>
        </p:spPr>
      </p:pic>
    </p:spTree>
    <p:extLst>
      <p:ext uri="{BB962C8B-B14F-4D97-AF65-F5344CB8AC3E}">
        <p14:creationId xmlns:p14="http://schemas.microsoft.com/office/powerpoint/2010/main" val="54878873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1470F49-1B96-0B64-6448-E684FB6FFFC0}"/>
              </a:ext>
            </a:extLst>
          </p:cNvPr>
          <p:cNvPicPr>
            <a:picLocks noChangeAspect="1"/>
          </p:cNvPicPr>
          <p:nvPr/>
        </p:nvPicPr>
        <p:blipFill>
          <a:blip r:embed="rId2"/>
          <a:stretch>
            <a:fillRect/>
          </a:stretch>
        </p:blipFill>
        <p:spPr>
          <a:xfrm>
            <a:off x="0" y="445317"/>
            <a:ext cx="14630400" cy="7338966"/>
          </a:xfrm>
          <a:prstGeom prst="rect">
            <a:avLst/>
          </a:prstGeom>
        </p:spPr>
      </p:pic>
    </p:spTree>
    <p:extLst>
      <p:ext uri="{BB962C8B-B14F-4D97-AF65-F5344CB8AC3E}">
        <p14:creationId xmlns:p14="http://schemas.microsoft.com/office/powerpoint/2010/main" val="57336446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99FD484-AA64-DF33-616E-BDF7895238AF}"/>
              </a:ext>
            </a:extLst>
          </p:cNvPr>
          <p:cNvPicPr>
            <a:picLocks noChangeAspect="1"/>
          </p:cNvPicPr>
          <p:nvPr/>
        </p:nvPicPr>
        <p:blipFill>
          <a:blip r:embed="rId2"/>
          <a:stretch>
            <a:fillRect/>
          </a:stretch>
        </p:blipFill>
        <p:spPr>
          <a:xfrm>
            <a:off x="1375533" y="475372"/>
            <a:ext cx="11879333" cy="7325747"/>
          </a:xfrm>
          <a:prstGeom prst="rect">
            <a:avLst/>
          </a:prstGeom>
        </p:spPr>
      </p:pic>
    </p:spTree>
    <p:extLst>
      <p:ext uri="{BB962C8B-B14F-4D97-AF65-F5344CB8AC3E}">
        <p14:creationId xmlns:p14="http://schemas.microsoft.com/office/powerpoint/2010/main" val="323730416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A7EED7D-FA24-74EB-14E6-C2F46ED4B0EB}"/>
              </a:ext>
            </a:extLst>
          </p:cNvPr>
          <p:cNvPicPr>
            <a:picLocks noChangeAspect="1"/>
          </p:cNvPicPr>
          <p:nvPr/>
        </p:nvPicPr>
        <p:blipFill>
          <a:blip r:embed="rId2"/>
          <a:stretch>
            <a:fillRect/>
          </a:stretch>
        </p:blipFill>
        <p:spPr>
          <a:xfrm>
            <a:off x="0" y="540893"/>
            <a:ext cx="14630400" cy="7147814"/>
          </a:xfrm>
          <a:prstGeom prst="rect">
            <a:avLst/>
          </a:prstGeom>
        </p:spPr>
      </p:pic>
    </p:spTree>
    <p:extLst>
      <p:ext uri="{BB962C8B-B14F-4D97-AF65-F5344CB8AC3E}">
        <p14:creationId xmlns:p14="http://schemas.microsoft.com/office/powerpoint/2010/main" val="25218718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131</TotalTime>
  <Words>2530</Words>
  <Application>Microsoft Office PowerPoint</Application>
  <PresentationFormat>Custom</PresentationFormat>
  <Paragraphs>144</Paragraphs>
  <Slides>45</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45</vt:i4>
      </vt:variant>
    </vt:vector>
  </HeadingPairs>
  <TitlesOfParts>
    <vt:vector size="51" baseType="lpstr">
      <vt:lpstr>Calibri Light</vt:lpstr>
      <vt:lpstr>Arial</vt:lpstr>
      <vt:lpstr>Host Grotesk Medium</vt:lpstr>
      <vt:lpstr>Calibri</vt:lpstr>
      <vt:lpstr>Roboto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Rushi Bhatt</cp:lastModifiedBy>
  <cp:revision>5</cp:revision>
  <dcterms:created xsi:type="dcterms:W3CDTF">2026-01-30T08:19:24Z</dcterms:created>
  <dcterms:modified xsi:type="dcterms:W3CDTF">2026-02-01T13:23:25Z</dcterms:modified>
</cp:coreProperties>
</file>